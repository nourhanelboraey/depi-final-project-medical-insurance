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tmp" ContentType="image/png"/>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50" r:id="rId2"/>
  </p:sldMasterIdLst>
  <p:notesMasterIdLst>
    <p:notesMasterId r:id="rId35"/>
  </p:notesMasterIdLst>
  <p:sldIdLst>
    <p:sldId id="272" r:id="rId3"/>
    <p:sldId id="290" r:id="rId4"/>
    <p:sldId id="294" r:id="rId5"/>
    <p:sldId id="257" r:id="rId6"/>
    <p:sldId id="258" r:id="rId7"/>
    <p:sldId id="268" r:id="rId8"/>
    <p:sldId id="259" r:id="rId9"/>
    <p:sldId id="273" r:id="rId10"/>
    <p:sldId id="274" r:id="rId11"/>
    <p:sldId id="260" r:id="rId12"/>
    <p:sldId id="291" r:id="rId13"/>
    <p:sldId id="263" r:id="rId14"/>
    <p:sldId id="293" r:id="rId15"/>
    <p:sldId id="261" r:id="rId16"/>
    <p:sldId id="262" r:id="rId17"/>
    <p:sldId id="288" r:id="rId18"/>
    <p:sldId id="285" r:id="rId19"/>
    <p:sldId id="284" r:id="rId20"/>
    <p:sldId id="265" r:id="rId21"/>
    <p:sldId id="295" r:id="rId22"/>
    <p:sldId id="282" r:id="rId23"/>
    <p:sldId id="276" r:id="rId24"/>
    <p:sldId id="277" r:id="rId25"/>
    <p:sldId id="264" r:id="rId26"/>
    <p:sldId id="296" r:id="rId27"/>
    <p:sldId id="279" r:id="rId28"/>
    <p:sldId id="280" r:id="rId29"/>
    <p:sldId id="281" r:id="rId30"/>
    <p:sldId id="278" r:id="rId31"/>
    <p:sldId id="266" r:id="rId32"/>
    <p:sldId id="267" r:id="rId33"/>
    <p:sldId id="269" r:id="rId3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71DE1"/>
    <a:srgbClr val="8A6FED"/>
    <a:srgbClr val="AB98F2"/>
    <a:srgbClr val="F4F2FC"/>
    <a:srgbClr val="191A4E"/>
    <a:srgbClr val="0F784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82" d="100"/>
          <a:sy n="82" d="100"/>
        </p:scale>
        <p:origin x="1258" y="4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tableStyles" Target="tableStyles.xml"/><Relationship Id="rId21" Type="http://schemas.openxmlformats.org/officeDocument/2006/relationships/slide" Target="slides/slide19.xml"/><Relationship Id="rId34" Type="http://schemas.openxmlformats.org/officeDocument/2006/relationships/slide" Target="slides/slide32.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theme" Target="theme/theme1.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slide" Target="slides/slide27.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viewProps" Target="viewProp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presProps" Target="presProps.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notesMaster" Target="notesMasters/notesMaster1.xml"/><Relationship Id="rId8" Type="http://schemas.openxmlformats.org/officeDocument/2006/relationships/slide" Target="slides/slide6.xml"/><Relationship Id="rId3" Type="http://schemas.openxmlformats.org/officeDocument/2006/relationships/slide" Target="slides/slid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935426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4BD642-3948-6BF8-CB45-1CB4D471E8D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AA4C73E-FB7D-D120-F8A2-221CFF7A1BED}"/>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86090524-4118-CF76-04A5-9B21510178A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8452CD2-5B92-F985-D6F9-EEFFE764B3B8}"/>
              </a:ext>
            </a:extLst>
          </p:cNvPr>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64765602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FEBDBA-3A59-5DDD-02A7-4DA71A7BAD0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D528FE-92E6-0935-175A-40ADE315B2C1}"/>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846B0EC6-AEFF-3991-F3CF-96D6C85EFC9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22AB74C-B4C6-251D-7AE6-D922A567DD86}"/>
              </a:ext>
            </a:extLst>
          </p:cNvPr>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64089523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F79975-300E-CAA1-44C5-57AF0D30F3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B5E22FD-DE41-F60D-A803-0868D865C700}"/>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C51E8C3-3E59-FA3B-25AB-DC5AEDBEE92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7987B41-E6A2-C59D-BC63-D8CBC26A5A94}"/>
              </a:ext>
            </a:extLst>
          </p:cNvPr>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12180192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2B8E4A-B713-3C13-9969-939988DF75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B02934-30C1-B319-7CA0-69B190F7CF95}"/>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210B45E6-68D9-2CFB-FF59-3639FBCB8D6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3733FCD-D7A3-B7E7-0DE6-1EB127363DEB}"/>
              </a:ext>
            </a:extLst>
          </p:cNvPr>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363615471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CAB1FD-23B7-AD29-2226-0F1A9A0C6CC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6F0966D-7CC9-ED64-44C9-428388059568}"/>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7AEF5610-A99D-C86B-9B1F-CEBDC81854D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50EC272-F8D5-2AB7-40F2-4EE78EC76C7B}"/>
              </a:ext>
            </a:extLst>
          </p:cNvPr>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212323334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CBBD21-CBE8-AD2A-97A7-5A636A76AF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EE5608-505E-E6F1-C537-E94F7BCDCA6D}"/>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E2EC61DE-1CCD-6947-BC4D-04B4FBEDCA3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032F799-2C84-512B-26F8-1DAB074EE6D5}"/>
              </a:ext>
            </a:extLst>
          </p:cNvPr>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288235714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913E7B-153A-246B-13C5-31EF7E4EA44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A3ADAEB-6255-3794-A9A8-B7BF8D9E4023}"/>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B890FB2-8B75-81BC-5FD0-FDF5FB59DFB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67B014B-A4BB-BB84-6644-AB63B0CC1E15}"/>
              </a:ext>
            </a:extLst>
          </p:cNvPr>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6805099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7A287F-6496-52CE-3A16-DC27F13DB92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E96BA55-3330-E081-0F86-24ED935FD1E3}"/>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E42435CA-CE0B-A586-AEBE-C64EAFD8283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5ABB967-9E5A-A2D9-252E-8A0E9E4D63EA}"/>
              </a:ext>
            </a:extLst>
          </p:cNvPr>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290755116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51CDCD-B0E4-C1BC-E0D9-000383E5C5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6613B61-9E23-B773-EC7C-93B226DFBB91}"/>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15C3E584-616F-32E5-DA1A-A6D8361DEC5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42617AA-C8BD-E7FF-04A0-52882D07DF20}"/>
              </a:ext>
            </a:extLst>
          </p:cNvPr>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31189701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25D964-D471-FFED-1E53-81A44865F5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1C395DE-46E5-85BB-B5BE-E20C14B88F3F}"/>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80861125-547F-DC3B-19B4-497A16DF64E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D805C0A-D15B-F2B4-9875-49C9A95AEEDB}"/>
              </a:ext>
            </a:extLst>
          </p:cNvPr>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299956616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1A5CF0-4D3F-409C-BA7C-83BB9CB938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2312BD0-C066-52D6-282B-0F0A06360FAA}"/>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60873025-4F33-75CC-628B-8B02C9EEDFB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5344B42-B5E9-78B2-66C7-6E926615892F}"/>
              </a:ext>
            </a:extLst>
          </p:cNvPr>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57532731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B0A733-C7CA-6D76-F6A5-3002FB5DFD4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109E817-B720-EF39-99B0-71DA0F304BC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B9618C2F-EB27-D129-60F1-89C8D3F7C37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33BB6D4-9434-E201-0C76-C7A52986DEDE}"/>
              </a:ext>
            </a:extLst>
          </p:cNvPr>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283755703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9AA7AF-7224-45B6-1D72-F27FE62D465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F20652D-91BF-C0DC-38CB-7F0EBAD70DF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A99132C8-AFCD-A429-9210-11CABBCF072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8CCD26A-D260-9A3A-B814-58C02C6F3048}"/>
              </a:ext>
            </a:extLst>
          </p:cNvPr>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335671347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0CD565-43F1-5A73-D4DE-6917D05F42C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864DBD8-98CC-090F-5D15-48617FE47EFF}"/>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08FDC1F3-833D-6D18-B98A-1380D8168B4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C6B879F-2F41-3B4E-70E3-AB326257CE8A}"/>
              </a:ext>
            </a:extLst>
          </p:cNvPr>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327489353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DE831F-A5DB-CDA9-4EFB-B950A67189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CA31CC8-EEE7-142E-72A0-A10F72E1E7F3}"/>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55BC496-644B-692E-7A95-3288972CC66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2851061-BDBD-83AC-258C-C059CAEF6BAE}"/>
              </a:ext>
            </a:extLst>
          </p:cNvPr>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1744003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A834C5-A002-C7CC-15F3-309C5F6F41C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1C50223-5D40-4E50-D4FD-3CD08F88BEB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3C4A4A42-E881-ABA0-72CA-801618BC822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288122A-2738-927A-5CA7-268B299F1A50}"/>
              </a:ext>
            </a:extLst>
          </p:cNvPr>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27589800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457200" y="1420283"/>
            <a:ext cx="5181600" cy="980017"/>
          </a:xfrm>
        </p:spPr>
        <p:txBody>
          <a:bodyPr/>
          <a:lstStyle/>
          <a:p>
            <a:r>
              <a:rPr lang="en-US"/>
              <a:t>Click to edit Master title style</a:t>
            </a:r>
          </a:p>
        </p:txBody>
      </p:sp>
      <p:sp>
        <p:nvSpPr>
          <p:cNvPr id="3" name="Subtitle 2"/>
          <p:cNvSpPr>
            <a:spLocks noGrp="1"/>
          </p:cNvSpPr>
          <p:nvPr>
            <p:ph type="subTitle" idx="1"/>
          </p:nvPr>
        </p:nvSpPr>
        <p:spPr>
          <a:xfrm>
            <a:off x="914400" y="2590800"/>
            <a:ext cx="4267200" cy="1168400"/>
          </a:xfrm>
        </p:spPr>
        <p:txBody>
          <a:bodyPr/>
          <a:lstStyle>
            <a:lvl1pPr marL="0" indent="0" algn="ctr">
              <a:buNone/>
              <a:defRPr>
                <a:solidFill>
                  <a:schemeClr val="tx1">
                    <a:tint val="75000"/>
                  </a:schemeClr>
                </a:solidFill>
              </a:defRPr>
            </a:lvl1pPr>
            <a:lvl2pPr marL="304815" indent="0" algn="ctr">
              <a:buNone/>
              <a:defRPr>
                <a:solidFill>
                  <a:schemeClr val="tx1">
                    <a:tint val="75000"/>
                  </a:schemeClr>
                </a:solidFill>
              </a:defRPr>
            </a:lvl2pPr>
            <a:lvl3pPr marL="609630" indent="0" algn="ctr">
              <a:buNone/>
              <a:defRPr>
                <a:solidFill>
                  <a:schemeClr val="tx1">
                    <a:tint val="75000"/>
                  </a:schemeClr>
                </a:solidFill>
              </a:defRPr>
            </a:lvl3pPr>
            <a:lvl4pPr marL="914446" indent="0" algn="ctr">
              <a:buNone/>
              <a:defRPr>
                <a:solidFill>
                  <a:schemeClr val="tx1">
                    <a:tint val="75000"/>
                  </a:schemeClr>
                </a:solidFill>
              </a:defRPr>
            </a:lvl4pPr>
            <a:lvl5pPr marL="1219261" indent="0" algn="ctr">
              <a:buNone/>
              <a:defRPr>
                <a:solidFill>
                  <a:schemeClr val="tx1">
                    <a:tint val="75000"/>
                  </a:schemeClr>
                </a:solidFill>
              </a:defRPr>
            </a:lvl5pPr>
            <a:lvl6pPr marL="1524076" indent="0" algn="ctr">
              <a:buNone/>
              <a:defRPr>
                <a:solidFill>
                  <a:schemeClr val="tx1">
                    <a:tint val="75000"/>
                  </a:schemeClr>
                </a:solidFill>
              </a:defRPr>
            </a:lvl6pPr>
            <a:lvl7pPr marL="1828891" indent="0" algn="ctr">
              <a:buNone/>
              <a:defRPr>
                <a:solidFill>
                  <a:schemeClr val="tx1">
                    <a:tint val="75000"/>
                  </a:schemeClr>
                </a:solidFill>
              </a:defRPr>
            </a:lvl7pPr>
            <a:lvl8pPr marL="2133707" indent="0" algn="ctr">
              <a:buNone/>
              <a:defRPr>
                <a:solidFill>
                  <a:schemeClr val="tx1">
                    <a:tint val="75000"/>
                  </a:schemeClr>
                </a:solidFill>
              </a:defRPr>
            </a:lvl8pPr>
            <a:lvl9pPr marL="2438522"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7/10/2026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149387125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7/10/2026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346532770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481542" y="2937934"/>
            <a:ext cx="5181600" cy="908050"/>
          </a:xfrm>
        </p:spPr>
        <p:txBody>
          <a:bodyPr anchor="t"/>
          <a:lstStyle>
            <a:lvl1pPr algn="l">
              <a:defRPr sz="2667" b="1" cap="all"/>
            </a:lvl1pPr>
          </a:lstStyle>
          <a:p>
            <a:r>
              <a:rPr lang="en-US"/>
              <a:t>Click to edit Master title style</a:t>
            </a:r>
          </a:p>
        </p:txBody>
      </p:sp>
      <p:sp>
        <p:nvSpPr>
          <p:cNvPr id="3" name="Text Placeholder 2"/>
          <p:cNvSpPr>
            <a:spLocks noGrp="1"/>
          </p:cNvSpPr>
          <p:nvPr>
            <p:ph type="body" idx="1"/>
          </p:nvPr>
        </p:nvSpPr>
        <p:spPr>
          <a:xfrm>
            <a:off x="481542" y="1937809"/>
            <a:ext cx="5181600" cy="1000125"/>
          </a:xfrm>
        </p:spPr>
        <p:txBody>
          <a:bodyPr anchor="b"/>
          <a:lstStyle>
            <a:lvl1pPr marL="0" indent="0">
              <a:buNone/>
              <a:defRPr sz="1333">
                <a:solidFill>
                  <a:schemeClr val="tx1">
                    <a:tint val="75000"/>
                  </a:schemeClr>
                </a:solidFill>
              </a:defRPr>
            </a:lvl1pPr>
            <a:lvl2pPr marL="304815" indent="0">
              <a:buNone/>
              <a:defRPr sz="1200">
                <a:solidFill>
                  <a:schemeClr val="tx1">
                    <a:tint val="75000"/>
                  </a:schemeClr>
                </a:solidFill>
              </a:defRPr>
            </a:lvl2pPr>
            <a:lvl3pPr marL="609630" indent="0">
              <a:buNone/>
              <a:defRPr sz="1067">
                <a:solidFill>
                  <a:schemeClr val="tx1">
                    <a:tint val="75000"/>
                  </a:schemeClr>
                </a:solidFill>
              </a:defRPr>
            </a:lvl3pPr>
            <a:lvl4pPr marL="914446" indent="0">
              <a:buNone/>
              <a:defRPr sz="933">
                <a:solidFill>
                  <a:schemeClr val="tx1">
                    <a:tint val="75000"/>
                  </a:schemeClr>
                </a:solidFill>
              </a:defRPr>
            </a:lvl4pPr>
            <a:lvl5pPr marL="1219261" indent="0">
              <a:buNone/>
              <a:defRPr sz="933">
                <a:solidFill>
                  <a:schemeClr val="tx1">
                    <a:tint val="75000"/>
                  </a:schemeClr>
                </a:solidFill>
              </a:defRPr>
            </a:lvl5pPr>
            <a:lvl6pPr marL="1524076" indent="0">
              <a:buNone/>
              <a:defRPr sz="933">
                <a:solidFill>
                  <a:schemeClr val="tx1">
                    <a:tint val="75000"/>
                  </a:schemeClr>
                </a:solidFill>
              </a:defRPr>
            </a:lvl6pPr>
            <a:lvl7pPr marL="1828891" indent="0">
              <a:buNone/>
              <a:defRPr sz="933">
                <a:solidFill>
                  <a:schemeClr val="tx1">
                    <a:tint val="75000"/>
                  </a:schemeClr>
                </a:solidFill>
              </a:defRPr>
            </a:lvl7pPr>
            <a:lvl8pPr marL="2133707" indent="0">
              <a:buNone/>
              <a:defRPr sz="933">
                <a:solidFill>
                  <a:schemeClr val="tx1">
                    <a:tint val="75000"/>
                  </a:schemeClr>
                </a:solidFill>
              </a:defRPr>
            </a:lvl8pPr>
            <a:lvl9pPr marL="2438522" indent="0">
              <a:buNone/>
              <a:defRPr sz="933">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7/10/2026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416639773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304800" y="1066800"/>
            <a:ext cx="2692400" cy="3017309"/>
          </a:xfrm>
        </p:spPr>
        <p:txBody>
          <a:bodyPr/>
          <a:lstStyle>
            <a:lvl1pPr>
              <a:defRPr sz="1867"/>
            </a:lvl1pPr>
            <a:lvl2pPr>
              <a:defRPr sz="1600"/>
            </a:lvl2pPr>
            <a:lvl3pPr>
              <a:defRPr sz="1333"/>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3098800" y="1066800"/>
            <a:ext cx="2692400" cy="3017309"/>
          </a:xfrm>
        </p:spPr>
        <p:txBody>
          <a:bodyPr/>
          <a:lstStyle>
            <a:lvl1pPr>
              <a:defRPr sz="1867"/>
            </a:lvl1pPr>
            <a:lvl2pPr>
              <a:defRPr sz="1600"/>
            </a:lvl2pPr>
            <a:lvl3pPr>
              <a:defRPr sz="1333"/>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7/10/2026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179610670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304800" y="1023409"/>
            <a:ext cx="2693459" cy="426508"/>
          </a:xfrm>
        </p:spPr>
        <p:txBody>
          <a:bodyPr anchor="b"/>
          <a:lstStyle>
            <a:lvl1pPr marL="0" indent="0">
              <a:buNone/>
              <a:defRPr sz="1600" b="1"/>
            </a:lvl1pPr>
            <a:lvl2pPr marL="304815" indent="0">
              <a:buNone/>
              <a:defRPr sz="1333" b="1"/>
            </a:lvl2pPr>
            <a:lvl3pPr marL="609630" indent="0">
              <a:buNone/>
              <a:defRPr sz="1200" b="1"/>
            </a:lvl3pPr>
            <a:lvl4pPr marL="914446" indent="0">
              <a:buNone/>
              <a:defRPr sz="1067" b="1"/>
            </a:lvl4pPr>
            <a:lvl5pPr marL="1219261" indent="0">
              <a:buNone/>
              <a:defRPr sz="1067" b="1"/>
            </a:lvl5pPr>
            <a:lvl6pPr marL="1524076" indent="0">
              <a:buNone/>
              <a:defRPr sz="1067" b="1"/>
            </a:lvl6pPr>
            <a:lvl7pPr marL="1828891" indent="0">
              <a:buNone/>
              <a:defRPr sz="1067" b="1"/>
            </a:lvl7pPr>
            <a:lvl8pPr marL="2133707" indent="0">
              <a:buNone/>
              <a:defRPr sz="1067" b="1"/>
            </a:lvl8pPr>
            <a:lvl9pPr marL="2438522" indent="0">
              <a:buNone/>
              <a:defRPr sz="1067" b="1"/>
            </a:lvl9pPr>
          </a:lstStyle>
          <a:p>
            <a:pPr lvl="0"/>
            <a:r>
              <a:rPr lang="en-US"/>
              <a:t>Click to edit Master text styles</a:t>
            </a:r>
          </a:p>
        </p:txBody>
      </p:sp>
      <p:sp>
        <p:nvSpPr>
          <p:cNvPr id="4" name="Content Placeholder 3"/>
          <p:cNvSpPr>
            <a:spLocks noGrp="1"/>
          </p:cNvSpPr>
          <p:nvPr>
            <p:ph sz="half" idx="2"/>
          </p:nvPr>
        </p:nvSpPr>
        <p:spPr>
          <a:xfrm>
            <a:off x="304800" y="1449917"/>
            <a:ext cx="2693459" cy="2634192"/>
          </a:xfrm>
        </p:spPr>
        <p:txBody>
          <a:bodyPr/>
          <a:lstStyle>
            <a:lvl1pPr>
              <a:defRPr sz="1600"/>
            </a:lvl1pPr>
            <a:lvl2pPr>
              <a:defRPr sz="1333"/>
            </a:lvl2pPr>
            <a:lvl3pPr>
              <a:defRPr sz="1200"/>
            </a:lvl3pPr>
            <a:lvl4pPr>
              <a:defRPr sz="1067"/>
            </a:lvl4pPr>
            <a:lvl5pPr>
              <a:defRPr sz="1067"/>
            </a:lvl5pPr>
            <a:lvl6pPr>
              <a:defRPr sz="1067"/>
            </a:lvl6pPr>
            <a:lvl7pPr>
              <a:defRPr sz="1067"/>
            </a:lvl7pPr>
            <a:lvl8pPr>
              <a:defRPr sz="1067"/>
            </a:lvl8pPr>
            <a:lvl9pPr>
              <a:defRPr sz="1067"/>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3096684" y="1023409"/>
            <a:ext cx="2694517" cy="426508"/>
          </a:xfrm>
        </p:spPr>
        <p:txBody>
          <a:bodyPr anchor="b"/>
          <a:lstStyle>
            <a:lvl1pPr marL="0" indent="0">
              <a:buNone/>
              <a:defRPr sz="1600" b="1"/>
            </a:lvl1pPr>
            <a:lvl2pPr marL="304815" indent="0">
              <a:buNone/>
              <a:defRPr sz="1333" b="1"/>
            </a:lvl2pPr>
            <a:lvl3pPr marL="609630" indent="0">
              <a:buNone/>
              <a:defRPr sz="1200" b="1"/>
            </a:lvl3pPr>
            <a:lvl4pPr marL="914446" indent="0">
              <a:buNone/>
              <a:defRPr sz="1067" b="1"/>
            </a:lvl4pPr>
            <a:lvl5pPr marL="1219261" indent="0">
              <a:buNone/>
              <a:defRPr sz="1067" b="1"/>
            </a:lvl5pPr>
            <a:lvl6pPr marL="1524076" indent="0">
              <a:buNone/>
              <a:defRPr sz="1067" b="1"/>
            </a:lvl6pPr>
            <a:lvl7pPr marL="1828891" indent="0">
              <a:buNone/>
              <a:defRPr sz="1067" b="1"/>
            </a:lvl7pPr>
            <a:lvl8pPr marL="2133707" indent="0">
              <a:buNone/>
              <a:defRPr sz="1067" b="1"/>
            </a:lvl8pPr>
            <a:lvl9pPr marL="2438522" indent="0">
              <a:buNone/>
              <a:defRPr sz="1067" b="1"/>
            </a:lvl9pPr>
          </a:lstStyle>
          <a:p>
            <a:pPr lvl="0"/>
            <a:r>
              <a:rPr lang="en-US"/>
              <a:t>Click to edit Master text styles</a:t>
            </a:r>
          </a:p>
        </p:txBody>
      </p:sp>
      <p:sp>
        <p:nvSpPr>
          <p:cNvPr id="6" name="Content Placeholder 5"/>
          <p:cNvSpPr>
            <a:spLocks noGrp="1"/>
          </p:cNvSpPr>
          <p:nvPr>
            <p:ph sz="quarter" idx="4"/>
          </p:nvPr>
        </p:nvSpPr>
        <p:spPr>
          <a:xfrm>
            <a:off x="3096684" y="1449917"/>
            <a:ext cx="2694517" cy="2634192"/>
          </a:xfrm>
        </p:spPr>
        <p:txBody>
          <a:bodyPr/>
          <a:lstStyle>
            <a:lvl1pPr>
              <a:defRPr sz="1600"/>
            </a:lvl1pPr>
            <a:lvl2pPr>
              <a:defRPr sz="1333"/>
            </a:lvl2pPr>
            <a:lvl3pPr>
              <a:defRPr sz="1200"/>
            </a:lvl3pPr>
            <a:lvl4pPr>
              <a:defRPr sz="1067"/>
            </a:lvl4pPr>
            <a:lvl5pPr>
              <a:defRPr sz="1067"/>
            </a:lvl5pPr>
            <a:lvl6pPr>
              <a:defRPr sz="1067"/>
            </a:lvl6pPr>
            <a:lvl7pPr>
              <a:defRPr sz="1067"/>
            </a:lvl7pPr>
            <a:lvl8pPr>
              <a:defRPr sz="1067"/>
            </a:lvl8pPr>
            <a:lvl9pPr>
              <a:defRPr sz="1067"/>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7/10/2026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428660390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7/10/2026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19742046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7/10/2026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78596651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04800" y="182033"/>
            <a:ext cx="2005542" cy="774700"/>
          </a:xfrm>
        </p:spPr>
        <p:txBody>
          <a:bodyPr anchor="b"/>
          <a:lstStyle>
            <a:lvl1pPr algn="l">
              <a:defRPr sz="1333" b="1"/>
            </a:lvl1pPr>
          </a:lstStyle>
          <a:p>
            <a:r>
              <a:rPr lang="en-US"/>
              <a:t>Click to edit Master title style</a:t>
            </a:r>
          </a:p>
        </p:txBody>
      </p:sp>
      <p:sp>
        <p:nvSpPr>
          <p:cNvPr id="3" name="Content Placeholder 2"/>
          <p:cNvSpPr>
            <a:spLocks noGrp="1"/>
          </p:cNvSpPr>
          <p:nvPr>
            <p:ph idx="1"/>
          </p:nvPr>
        </p:nvSpPr>
        <p:spPr>
          <a:xfrm>
            <a:off x="2383367" y="182034"/>
            <a:ext cx="3407833" cy="3902075"/>
          </a:xfrm>
        </p:spPr>
        <p:txBody>
          <a:bodyPr/>
          <a:lstStyle>
            <a:lvl1pPr>
              <a:defRPr sz="2133"/>
            </a:lvl1pPr>
            <a:lvl2pPr>
              <a:defRPr sz="1867"/>
            </a:lvl2pPr>
            <a:lvl3pPr>
              <a:defRPr sz="1600"/>
            </a:lvl3pPr>
            <a:lvl4pPr>
              <a:defRPr sz="1333"/>
            </a:lvl4pPr>
            <a:lvl5pPr>
              <a:defRPr sz="1333"/>
            </a:lvl5pPr>
            <a:lvl6pPr>
              <a:defRPr sz="1333"/>
            </a:lvl6pPr>
            <a:lvl7pPr>
              <a:defRPr sz="1333"/>
            </a:lvl7pPr>
            <a:lvl8pPr>
              <a:defRPr sz="1333"/>
            </a:lvl8pPr>
            <a:lvl9pPr>
              <a:defRPr sz="1333"/>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304800" y="956734"/>
            <a:ext cx="2005542" cy="3127375"/>
          </a:xfrm>
        </p:spPr>
        <p:txBody>
          <a:bodyPr/>
          <a:lstStyle>
            <a:lvl1pPr marL="0" indent="0">
              <a:buNone/>
              <a:defRPr sz="933"/>
            </a:lvl1pPr>
            <a:lvl2pPr marL="304815" indent="0">
              <a:buNone/>
              <a:defRPr sz="800"/>
            </a:lvl2pPr>
            <a:lvl3pPr marL="609630" indent="0">
              <a:buNone/>
              <a:defRPr sz="667"/>
            </a:lvl3pPr>
            <a:lvl4pPr marL="914446" indent="0">
              <a:buNone/>
              <a:defRPr sz="600"/>
            </a:lvl4pPr>
            <a:lvl5pPr marL="1219261" indent="0">
              <a:buNone/>
              <a:defRPr sz="600"/>
            </a:lvl5pPr>
            <a:lvl6pPr marL="1524076" indent="0">
              <a:buNone/>
              <a:defRPr sz="600"/>
            </a:lvl6pPr>
            <a:lvl7pPr marL="1828891" indent="0">
              <a:buNone/>
              <a:defRPr sz="600"/>
            </a:lvl7pPr>
            <a:lvl8pPr marL="2133707" indent="0">
              <a:buNone/>
              <a:defRPr sz="600"/>
            </a:lvl8pPr>
            <a:lvl9pPr marL="2438522" indent="0">
              <a:buNone/>
              <a:defRPr sz="6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7/10/2026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277786204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94859" y="3200400"/>
            <a:ext cx="3657600" cy="377825"/>
          </a:xfrm>
        </p:spPr>
        <p:txBody>
          <a:bodyPr anchor="b"/>
          <a:lstStyle>
            <a:lvl1pPr algn="l">
              <a:defRPr sz="1333" b="1"/>
            </a:lvl1pPr>
          </a:lstStyle>
          <a:p>
            <a:r>
              <a:rPr lang="en-US"/>
              <a:t>Click to edit Master title style</a:t>
            </a:r>
          </a:p>
        </p:txBody>
      </p:sp>
      <p:sp>
        <p:nvSpPr>
          <p:cNvPr id="3" name="Picture Placeholder 2"/>
          <p:cNvSpPr>
            <a:spLocks noGrp="1"/>
          </p:cNvSpPr>
          <p:nvPr>
            <p:ph type="pic" idx="1"/>
          </p:nvPr>
        </p:nvSpPr>
        <p:spPr>
          <a:xfrm>
            <a:off x="1194859" y="408517"/>
            <a:ext cx="3657600" cy="2743200"/>
          </a:xfrm>
        </p:spPr>
        <p:txBody>
          <a:bodyPr/>
          <a:lstStyle>
            <a:lvl1pPr marL="0" indent="0">
              <a:buNone/>
              <a:defRPr sz="2133"/>
            </a:lvl1pPr>
            <a:lvl2pPr marL="304815" indent="0">
              <a:buNone/>
              <a:defRPr sz="1867"/>
            </a:lvl2pPr>
            <a:lvl3pPr marL="609630" indent="0">
              <a:buNone/>
              <a:defRPr sz="1600"/>
            </a:lvl3pPr>
            <a:lvl4pPr marL="914446" indent="0">
              <a:buNone/>
              <a:defRPr sz="1333"/>
            </a:lvl4pPr>
            <a:lvl5pPr marL="1219261" indent="0">
              <a:buNone/>
              <a:defRPr sz="1333"/>
            </a:lvl5pPr>
            <a:lvl6pPr marL="1524076" indent="0">
              <a:buNone/>
              <a:defRPr sz="1333"/>
            </a:lvl6pPr>
            <a:lvl7pPr marL="1828891" indent="0">
              <a:buNone/>
              <a:defRPr sz="1333"/>
            </a:lvl7pPr>
            <a:lvl8pPr marL="2133707" indent="0">
              <a:buNone/>
              <a:defRPr sz="1333"/>
            </a:lvl8pPr>
            <a:lvl9pPr marL="2438522" indent="0">
              <a:buNone/>
              <a:defRPr sz="1333"/>
            </a:lvl9pPr>
          </a:lstStyle>
          <a:p>
            <a:endParaRPr lang="en-US"/>
          </a:p>
        </p:txBody>
      </p:sp>
      <p:sp>
        <p:nvSpPr>
          <p:cNvPr id="4" name="Text Placeholder 3"/>
          <p:cNvSpPr>
            <a:spLocks noGrp="1"/>
          </p:cNvSpPr>
          <p:nvPr>
            <p:ph type="body" sz="half" idx="2"/>
          </p:nvPr>
        </p:nvSpPr>
        <p:spPr>
          <a:xfrm>
            <a:off x="1194859" y="3578225"/>
            <a:ext cx="3657600" cy="536575"/>
          </a:xfrm>
        </p:spPr>
        <p:txBody>
          <a:bodyPr/>
          <a:lstStyle>
            <a:lvl1pPr marL="0" indent="0">
              <a:buNone/>
              <a:defRPr sz="933"/>
            </a:lvl1pPr>
            <a:lvl2pPr marL="304815" indent="0">
              <a:buNone/>
              <a:defRPr sz="800"/>
            </a:lvl2pPr>
            <a:lvl3pPr marL="609630" indent="0">
              <a:buNone/>
              <a:defRPr sz="667"/>
            </a:lvl3pPr>
            <a:lvl4pPr marL="914446" indent="0">
              <a:buNone/>
              <a:defRPr sz="600"/>
            </a:lvl4pPr>
            <a:lvl5pPr marL="1219261" indent="0">
              <a:buNone/>
              <a:defRPr sz="600"/>
            </a:lvl5pPr>
            <a:lvl6pPr marL="1524076" indent="0">
              <a:buNone/>
              <a:defRPr sz="600"/>
            </a:lvl6pPr>
            <a:lvl7pPr marL="1828891" indent="0">
              <a:buNone/>
              <a:defRPr sz="600"/>
            </a:lvl7pPr>
            <a:lvl8pPr marL="2133707" indent="0">
              <a:buNone/>
              <a:defRPr sz="600"/>
            </a:lvl8pPr>
            <a:lvl9pPr marL="2438522" indent="0">
              <a:buNone/>
              <a:defRPr sz="6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7/10/2026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48037445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7/10/2026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100762984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4419600" y="183092"/>
            <a:ext cx="1371600" cy="3901017"/>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304800" y="183092"/>
            <a:ext cx="4013200" cy="390101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7/10/2026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475682910"/>
      </p:ext>
    </p:extLst>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9.xml"/><Relationship Id="rId3" Type="http://schemas.openxmlformats.org/officeDocument/2006/relationships/slideLayout" Target="../slideLayouts/slideLayout4.xml"/><Relationship Id="rId7" Type="http://schemas.openxmlformats.org/officeDocument/2006/relationships/slideLayout" Target="../slideLayouts/slideLayout8.xml"/><Relationship Id="rId12" Type="http://schemas.openxmlformats.org/officeDocument/2006/relationships/theme" Target="../theme/theme2.xml"/><Relationship Id="rId2" Type="http://schemas.openxmlformats.org/officeDocument/2006/relationships/slideLayout" Target="../slideLayouts/slideLayout3.xml"/><Relationship Id="rId1" Type="http://schemas.openxmlformats.org/officeDocument/2006/relationships/slideLayout" Target="../slideLayouts/slideLayout2.xml"/><Relationship Id="rId6" Type="http://schemas.openxmlformats.org/officeDocument/2006/relationships/slideLayout" Target="../slideLayouts/slideLayout7.xml"/><Relationship Id="rId11" Type="http://schemas.openxmlformats.org/officeDocument/2006/relationships/slideLayout" Target="../slideLayouts/slideLayout12.xml"/><Relationship Id="rId5" Type="http://schemas.openxmlformats.org/officeDocument/2006/relationships/slideLayout" Target="../slideLayouts/slideLayout6.xml"/><Relationship Id="rId10" Type="http://schemas.openxmlformats.org/officeDocument/2006/relationships/slideLayout" Target="../slideLayouts/slideLayout11.xml"/><Relationship Id="rId4" Type="http://schemas.openxmlformats.org/officeDocument/2006/relationships/slideLayout" Target="../slideLayouts/slideLayout5.xml"/><Relationship Id="rId9" Type="http://schemas.openxmlformats.org/officeDocument/2006/relationships/slideLayout" Target="../slideLayouts/slideLayout1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04800" y="183092"/>
            <a:ext cx="5486400" cy="762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304800" y="1066800"/>
            <a:ext cx="5486400" cy="3017309"/>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304800" y="4237567"/>
            <a:ext cx="1422400" cy="243417"/>
          </a:xfrm>
          <a:prstGeom prst="rect">
            <a:avLst/>
          </a:prstGeom>
        </p:spPr>
        <p:txBody>
          <a:bodyPr vert="horz" lIns="91440" tIns="45720" rIns="91440" bIns="45720" rtlCol="0" anchor="ctr"/>
          <a:lstStyle>
            <a:lvl1pPr algn="l">
              <a:defRPr sz="800">
                <a:solidFill>
                  <a:schemeClr val="tx1">
                    <a:tint val="75000"/>
                  </a:schemeClr>
                </a:solidFill>
              </a:defRPr>
            </a:lvl1pPr>
          </a:lstStyle>
          <a:p>
            <a:fld id="{1D8BD707-D9CF-40AE-B4C6-C98DA3205C09}" type="datetimeFigureOut">
              <a:rPr lang="en-US" smtClean="0"/>
              <a:pPr/>
              <a:t>7/10/2026</a:t>
            </a:fld>
            <a:endParaRPr lang="en-US"/>
          </a:p>
        </p:txBody>
      </p:sp>
      <p:sp>
        <p:nvSpPr>
          <p:cNvPr id="5" name="Footer Placeholder 4"/>
          <p:cNvSpPr>
            <a:spLocks noGrp="1"/>
          </p:cNvSpPr>
          <p:nvPr>
            <p:ph type="ftr" sz="quarter" idx="3"/>
          </p:nvPr>
        </p:nvSpPr>
        <p:spPr>
          <a:xfrm>
            <a:off x="2082800" y="4237567"/>
            <a:ext cx="1930400" cy="243417"/>
          </a:xfrm>
          <a:prstGeom prst="rect">
            <a:avLst/>
          </a:prstGeom>
        </p:spPr>
        <p:txBody>
          <a:bodyPr vert="horz" lIns="91440" tIns="45720" rIns="91440" bIns="45720" rtlCol="0" anchor="ctr"/>
          <a:lstStyle>
            <a:lvl1pPr algn="ctr">
              <a:defRPr sz="8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4368800" y="4237567"/>
            <a:ext cx="1422400" cy="243417"/>
          </a:xfrm>
          <a:prstGeom prst="rect">
            <a:avLst/>
          </a:prstGeom>
        </p:spPr>
        <p:txBody>
          <a:bodyPr vert="horz" lIns="91440" tIns="45720" rIns="91440" bIns="45720" rtlCol="0" anchor="ctr"/>
          <a:lstStyle>
            <a:lvl1pPr algn="r">
              <a:defRPr sz="800">
                <a:solidFill>
                  <a:schemeClr val="tx1">
                    <a:tint val="75000"/>
                  </a:schemeClr>
                </a:solidFill>
              </a:defRPr>
            </a:lvl1pPr>
          </a:lstStyle>
          <a:p>
            <a:fld id="{B6F15528-21DE-4FAA-801E-634DDDAF4B2B}" type="slidenum">
              <a:rPr lang="en-US" smtClean="0"/>
              <a:pPr/>
              <a:t>‹#›</a:t>
            </a:fld>
            <a:endParaRPr lang="en-US"/>
          </a:p>
        </p:txBody>
      </p:sp>
    </p:spTree>
    <p:extLst>
      <p:ext uri="{BB962C8B-B14F-4D97-AF65-F5344CB8AC3E}">
        <p14:creationId xmlns:p14="http://schemas.microsoft.com/office/powerpoint/2010/main" val="2119505797"/>
      </p:ext>
    </p:extLst>
  </p:cSld>
  <p:clrMap bg1="lt1" tx1="dk1" bg2="lt2" tx2="dk2" accent1="accent1" accent2="accent2" accent3="accent3" accent4="accent4" accent5="accent5" accent6="accent6" hlink="hlink" folHlink="folHlink"/>
  <p:sldLayoutIdLst>
    <p:sldLayoutId id="2147483651" r:id="rId1"/>
    <p:sldLayoutId id="2147483652" r:id="rId2"/>
    <p:sldLayoutId id="2147483653" r:id="rId3"/>
    <p:sldLayoutId id="2147483654" r:id="rId4"/>
    <p:sldLayoutId id="2147483655" r:id="rId5"/>
    <p:sldLayoutId id="2147483656" r:id="rId6"/>
    <p:sldLayoutId id="2147483657" r:id="rId7"/>
    <p:sldLayoutId id="2147483658" r:id="rId8"/>
    <p:sldLayoutId id="2147483659" r:id="rId9"/>
    <p:sldLayoutId id="2147483660" r:id="rId10"/>
    <p:sldLayoutId id="2147483661" r:id="rId11"/>
  </p:sldLayoutIdLst>
  <p:txStyles>
    <p:titleStyle>
      <a:lvl1pPr algn="ctr" defTabSz="609630" rtl="0" eaLnBrk="1" latinLnBrk="0" hangingPunct="1">
        <a:spcBef>
          <a:spcPct val="0"/>
        </a:spcBef>
        <a:buNone/>
        <a:defRPr sz="2933" kern="1200">
          <a:solidFill>
            <a:schemeClr val="tx1"/>
          </a:solidFill>
          <a:latin typeface="+mj-lt"/>
          <a:ea typeface="+mj-ea"/>
          <a:cs typeface="+mj-cs"/>
        </a:defRPr>
      </a:lvl1pPr>
    </p:titleStyle>
    <p:bodyStyle>
      <a:lvl1pPr marL="228611" indent="-228611" algn="l" defTabSz="609630" rtl="0" eaLnBrk="1" latinLnBrk="0" hangingPunct="1">
        <a:spcBef>
          <a:spcPct val="20000"/>
        </a:spcBef>
        <a:buFont typeface="Arial" pitchFamily="34" charset="0"/>
        <a:buChar char="•"/>
        <a:defRPr sz="2133" kern="1200">
          <a:solidFill>
            <a:schemeClr val="tx1"/>
          </a:solidFill>
          <a:latin typeface="+mn-lt"/>
          <a:ea typeface="+mn-ea"/>
          <a:cs typeface="+mn-cs"/>
        </a:defRPr>
      </a:lvl1pPr>
      <a:lvl2pPr marL="495325" indent="-190510" algn="l" defTabSz="609630" rtl="0" eaLnBrk="1" latinLnBrk="0" hangingPunct="1">
        <a:spcBef>
          <a:spcPct val="20000"/>
        </a:spcBef>
        <a:buFont typeface="Arial" pitchFamily="34" charset="0"/>
        <a:buChar char="–"/>
        <a:defRPr sz="1867" kern="1200">
          <a:solidFill>
            <a:schemeClr val="tx1"/>
          </a:solidFill>
          <a:latin typeface="+mn-lt"/>
          <a:ea typeface="+mn-ea"/>
          <a:cs typeface="+mn-cs"/>
        </a:defRPr>
      </a:lvl2pPr>
      <a:lvl3pPr marL="762038" indent="-152408" algn="l" defTabSz="609630" rtl="0" eaLnBrk="1" latinLnBrk="0" hangingPunct="1">
        <a:spcBef>
          <a:spcPct val="20000"/>
        </a:spcBef>
        <a:buFont typeface="Arial" pitchFamily="34" charset="0"/>
        <a:buChar char="•"/>
        <a:defRPr sz="1600" kern="1200">
          <a:solidFill>
            <a:schemeClr val="tx1"/>
          </a:solidFill>
          <a:latin typeface="+mn-lt"/>
          <a:ea typeface="+mn-ea"/>
          <a:cs typeface="+mn-cs"/>
        </a:defRPr>
      </a:lvl3pPr>
      <a:lvl4pPr marL="1066853" indent="-152408" algn="l" defTabSz="609630" rtl="0" eaLnBrk="1" latinLnBrk="0" hangingPunct="1">
        <a:spcBef>
          <a:spcPct val="20000"/>
        </a:spcBef>
        <a:buFont typeface="Arial" pitchFamily="34" charset="0"/>
        <a:buChar char="–"/>
        <a:defRPr sz="1333" kern="1200">
          <a:solidFill>
            <a:schemeClr val="tx1"/>
          </a:solidFill>
          <a:latin typeface="+mn-lt"/>
          <a:ea typeface="+mn-ea"/>
          <a:cs typeface="+mn-cs"/>
        </a:defRPr>
      </a:lvl4pPr>
      <a:lvl5pPr marL="1371669" indent="-152408" algn="l" defTabSz="609630" rtl="0" eaLnBrk="1" latinLnBrk="0" hangingPunct="1">
        <a:spcBef>
          <a:spcPct val="20000"/>
        </a:spcBef>
        <a:buFont typeface="Arial" pitchFamily="34" charset="0"/>
        <a:buChar char="»"/>
        <a:defRPr sz="1333" kern="1200">
          <a:solidFill>
            <a:schemeClr val="tx1"/>
          </a:solidFill>
          <a:latin typeface="+mn-lt"/>
          <a:ea typeface="+mn-ea"/>
          <a:cs typeface="+mn-cs"/>
        </a:defRPr>
      </a:lvl5pPr>
      <a:lvl6pPr marL="1676484" indent="-152408" algn="l" defTabSz="609630" rtl="0" eaLnBrk="1" latinLnBrk="0" hangingPunct="1">
        <a:spcBef>
          <a:spcPct val="20000"/>
        </a:spcBef>
        <a:buFont typeface="Arial" pitchFamily="34" charset="0"/>
        <a:buChar char="•"/>
        <a:defRPr sz="1333" kern="1200">
          <a:solidFill>
            <a:schemeClr val="tx1"/>
          </a:solidFill>
          <a:latin typeface="+mn-lt"/>
          <a:ea typeface="+mn-ea"/>
          <a:cs typeface="+mn-cs"/>
        </a:defRPr>
      </a:lvl6pPr>
      <a:lvl7pPr marL="1981299" indent="-152408" algn="l" defTabSz="609630" rtl="0" eaLnBrk="1" latinLnBrk="0" hangingPunct="1">
        <a:spcBef>
          <a:spcPct val="20000"/>
        </a:spcBef>
        <a:buFont typeface="Arial" pitchFamily="34" charset="0"/>
        <a:buChar char="•"/>
        <a:defRPr sz="1333" kern="1200">
          <a:solidFill>
            <a:schemeClr val="tx1"/>
          </a:solidFill>
          <a:latin typeface="+mn-lt"/>
          <a:ea typeface="+mn-ea"/>
          <a:cs typeface="+mn-cs"/>
        </a:defRPr>
      </a:lvl7pPr>
      <a:lvl8pPr marL="2286114" indent="-152408" algn="l" defTabSz="609630" rtl="0" eaLnBrk="1" latinLnBrk="0" hangingPunct="1">
        <a:spcBef>
          <a:spcPct val="20000"/>
        </a:spcBef>
        <a:buFont typeface="Arial" pitchFamily="34" charset="0"/>
        <a:buChar char="•"/>
        <a:defRPr sz="1333" kern="1200">
          <a:solidFill>
            <a:schemeClr val="tx1"/>
          </a:solidFill>
          <a:latin typeface="+mn-lt"/>
          <a:ea typeface="+mn-ea"/>
          <a:cs typeface="+mn-cs"/>
        </a:defRPr>
      </a:lvl8pPr>
      <a:lvl9pPr marL="2590930" indent="-152408" algn="l" defTabSz="609630" rtl="0" eaLnBrk="1" latinLnBrk="0" hangingPunct="1">
        <a:spcBef>
          <a:spcPct val="20000"/>
        </a:spcBef>
        <a:buFont typeface="Arial" pitchFamily="34" charset="0"/>
        <a:buChar char="•"/>
        <a:defRPr sz="1333" kern="1200">
          <a:solidFill>
            <a:schemeClr val="tx1"/>
          </a:solidFill>
          <a:latin typeface="+mn-lt"/>
          <a:ea typeface="+mn-ea"/>
          <a:cs typeface="+mn-cs"/>
        </a:defRPr>
      </a:lvl9pPr>
    </p:bodyStyle>
    <p:otherStyle>
      <a:defPPr>
        <a:defRPr lang="en-US"/>
      </a:defPPr>
      <a:lvl1pPr marL="0" algn="l" defTabSz="609630" rtl="0" eaLnBrk="1" latinLnBrk="0" hangingPunct="1">
        <a:defRPr sz="1200" kern="1200">
          <a:solidFill>
            <a:schemeClr val="tx1"/>
          </a:solidFill>
          <a:latin typeface="+mn-lt"/>
          <a:ea typeface="+mn-ea"/>
          <a:cs typeface="+mn-cs"/>
        </a:defRPr>
      </a:lvl1pPr>
      <a:lvl2pPr marL="304815" algn="l" defTabSz="609630" rtl="0" eaLnBrk="1" latinLnBrk="0" hangingPunct="1">
        <a:defRPr sz="1200" kern="1200">
          <a:solidFill>
            <a:schemeClr val="tx1"/>
          </a:solidFill>
          <a:latin typeface="+mn-lt"/>
          <a:ea typeface="+mn-ea"/>
          <a:cs typeface="+mn-cs"/>
        </a:defRPr>
      </a:lvl2pPr>
      <a:lvl3pPr marL="609630" algn="l" defTabSz="609630" rtl="0" eaLnBrk="1" latinLnBrk="0" hangingPunct="1">
        <a:defRPr sz="1200" kern="1200">
          <a:solidFill>
            <a:schemeClr val="tx1"/>
          </a:solidFill>
          <a:latin typeface="+mn-lt"/>
          <a:ea typeface="+mn-ea"/>
          <a:cs typeface="+mn-cs"/>
        </a:defRPr>
      </a:lvl3pPr>
      <a:lvl4pPr marL="914446" algn="l" defTabSz="609630" rtl="0" eaLnBrk="1" latinLnBrk="0" hangingPunct="1">
        <a:defRPr sz="1200" kern="1200">
          <a:solidFill>
            <a:schemeClr val="tx1"/>
          </a:solidFill>
          <a:latin typeface="+mn-lt"/>
          <a:ea typeface="+mn-ea"/>
          <a:cs typeface="+mn-cs"/>
        </a:defRPr>
      </a:lvl4pPr>
      <a:lvl5pPr marL="1219261" algn="l" defTabSz="609630" rtl="0" eaLnBrk="1" latinLnBrk="0" hangingPunct="1">
        <a:defRPr sz="1200" kern="1200">
          <a:solidFill>
            <a:schemeClr val="tx1"/>
          </a:solidFill>
          <a:latin typeface="+mn-lt"/>
          <a:ea typeface="+mn-ea"/>
          <a:cs typeface="+mn-cs"/>
        </a:defRPr>
      </a:lvl5pPr>
      <a:lvl6pPr marL="1524076" algn="l" defTabSz="609630" rtl="0" eaLnBrk="1" latinLnBrk="0" hangingPunct="1">
        <a:defRPr sz="1200" kern="1200">
          <a:solidFill>
            <a:schemeClr val="tx1"/>
          </a:solidFill>
          <a:latin typeface="+mn-lt"/>
          <a:ea typeface="+mn-ea"/>
          <a:cs typeface="+mn-cs"/>
        </a:defRPr>
      </a:lvl6pPr>
      <a:lvl7pPr marL="1828891" algn="l" defTabSz="609630" rtl="0" eaLnBrk="1" latinLnBrk="0" hangingPunct="1">
        <a:defRPr sz="1200" kern="1200">
          <a:solidFill>
            <a:schemeClr val="tx1"/>
          </a:solidFill>
          <a:latin typeface="+mn-lt"/>
          <a:ea typeface="+mn-ea"/>
          <a:cs typeface="+mn-cs"/>
        </a:defRPr>
      </a:lvl7pPr>
      <a:lvl8pPr marL="2133707" algn="l" defTabSz="609630" rtl="0" eaLnBrk="1" latinLnBrk="0" hangingPunct="1">
        <a:defRPr sz="1200" kern="1200">
          <a:solidFill>
            <a:schemeClr val="tx1"/>
          </a:solidFill>
          <a:latin typeface="+mn-lt"/>
          <a:ea typeface="+mn-ea"/>
          <a:cs typeface="+mn-cs"/>
        </a:defRPr>
      </a:lvl8pPr>
      <a:lvl9pPr marL="2438522" algn="l" defTabSz="609630" rtl="0" eaLnBrk="1" latinLnBrk="0" hangingPunct="1">
        <a:defRPr sz="12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sv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8.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 Id="rId9" Type="http://schemas.openxmlformats.org/officeDocument/2006/relationships/image" Target="../media/image8.jpeg"/></Relationships>
</file>

<file path=ppt/slides/_rels/slide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2.svg"/><Relationship Id="rId1" Type="http://schemas.openxmlformats.org/officeDocument/2006/relationships/slideLayout" Target="../slideLayouts/slideLayout8.xml"/><Relationship Id="rId5" Type="http://schemas.openxmlformats.org/officeDocument/2006/relationships/image" Target="../media/image11.png"/><Relationship Id="rId4" Type="http://schemas.openxmlformats.org/officeDocument/2006/relationships/image" Target="../media/image10.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8.jpe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15.tmp"/><Relationship Id="rId5" Type="http://schemas.openxmlformats.org/officeDocument/2006/relationships/image" Target="../media/image14.png"/><Relationship Id="rId4" Type="http://schemas.openxmlformats.org/officeDocument/2006/relationships/image" Target="../media/image13.png"/></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xml"/><Relationship Id="rId1" Type="http://schemas.openxmlformats.org/officeDocument/2006/relationships/slideLayout" Target="../slideLayouts/slideLayout1.xml"/><Relationship Id="rId5" Type="http://schemas.openxmlformats.org/officeDocument/2006/relationships/image" Target="../media/image17.png"/><Relationship Id="rId4" Type="http://schemas.openxmlformats.org/officeDocument/2006/relationships/image" Target="../media/image16.png"/></Relationships>
</file>

<file path=ppt/slides/_rels/slide1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18.png"/><Relationship Id="rId5" Type="http://schemas.openxmlformats.org/officeDocument/2006/relationships/image" Target="../media/image16.png"/><Relationship Id="rId4" Type="http://schemas.openxmlformats.org/officeDocument/2006/relationships/image" Target="../media/image13.png"/></Relationships>
</file>

<file path=ppt/slides/_rels/slide1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20.png"/></Relationships>
</file>

<file path=ppt/slides/_rels/slide1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6.xml"/><Relationship Id="rId1" Type="http://schemas.openxmlformats.org/officeDocument/2006/relationships/slideLayout" Target="../slideLayouts/slideLayout1.xml"/><Relationship Id="rId5" Type="http://schemas.openxmlformats.org/officeDocument/2006/relationships/image" Target="../media/image28.png"/><Relationship Id="rId4" Type="http://schemas.openxmlformats.org/officeDocument/2006/relationships/image" Target="../media/image27.png"/></Relationships>
</file>

<file path=ppt/slides/_rels/slide20.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7.xml"/><Relationship Id="rId1" Type="http://schemas.openxmlformats.org/officeDocument/2006/relationships/slideLayout" Target="../slideLayouts/slideLayout1.xml"/><Relationship Id="rId5" Type="http://schemas.openxmlformats.org/officeDocument/2006/relationships/image" Target="../media/image27.png"/><Relationship Id="rId4" Type="http://schemas.openxmlformats.org/officeDocument/2006/relationships/image" Target="../media/image29.png"/></Relationships>
</file>

<file path=ppt/slides/_rels/slide21.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8.xml"/><Relationship Id="rId1" Type="http://schemas.openxmlformats.org/officeDocument/2006/relationships/slideLayout" Target="../slideLayouts/slideLayout1.xml"/><Relationship Id="rId5" Type="http://schemas.openxmlformats.org/officeDocument/2006/relationships/image" Target="../media/image31.png"/><Relationship Id="rId4" Type="http://schemas.openxmlformats.org/officeDocument/2006/relationships/image" Target="../media/image30.png"/></Relationships>
</file>

<file path=ppt/slides/_rels/slide22.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9.xml"/><Relationship Id="rId1" Type="http://schemas.openxmlformats.org/officeDocument/2006/relationships/slideLayout" Target="../slideLayouts/slideLayout1.xml"/><Relationship Id="rId5" Type="http://schemas.openxmlformats.org/officeDocument/2006/relationships/image" Target="../media/image33.png"/><Relationship Id="rId4" Type="http://schemas.openxmlformats.org/officeDocument/2006/relationships/image" Target="../media/image32.png"/></Relationships>
</file>

<file path=ppt/slides/_rels/slide23.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image" Target="../media/image34.png"/></Relationships>
</file>

<file path=ppt/slides/_rels/slide24.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7" name="Picture 26" descr="microsoft excel mobile apps logo 17396828 PNG">
            <a:extLst>
              <a:ext uri="{FF2B5EF4-FFF2-40B4-BE49-F238E27FC236}">
                <a16:creationId xmlns:a16="http://schemas.microsoft.com/office/drawing/2014/main" id="{D0019EA7-C5E3-2FCD-4DF3-2AC07195FF24}"/>
              </a:ext>
            </a:extLst>
          </p:cNvPr>
          <p:cNvPicPr>
            <a:picLocks noChangeAspect="1"/>
          </p:cNvPicPr>
          <p:nvPr/>
        </p:nvPicPr>
        <p:blipFill>
          <a:blip r:embed="rId2"/>
          <a:srcRect l="11565" t="18739" r="19622" b="19730"/>
          <a:stretch>
            <a:fillRect/>
          </a:stretch>
        </p:blipFill>
        <p:spPr>
          <a:xfrm>
            <a:off x="3685350" y="3269134"/>
            <a:ext cx="911343" cy="764091"/>
          </a:xfrm>
          <a:prstGeom prst="rect">
            <a:avLst/>
          </a:prstGeom>
        </p:spPr>
      </p:pic>
      <p:grpSp>
        <p:nvGrpSpPr>
          <p:cNvPr id="6" name="Group 6"/>
          <p:cNvGrpSpPr/>
          <p:nvPr/>
        </p:nvGrpSpPr>
        <p:grpSpPr>
          <a:xfrm>
            <a:off x="0" y="0"/>
            <a:ext cx="12192000" cy="6858000"/>
            <a:chOff x="0" y="0"/>
            <a:chExt cx="24384000" cy="13716000"/>
          </a:xfrm>
        </p:grpSpPr>
        <p:sp>
          <p:nvSpPr>
            <p:cNvPr id="7" name="Freeform 7"/>
            <p:cNvSpPr/>
            <p:nvPr/>
          </p:nvSpPr>
          <p:spPr>
            <a:xfrm flipV="1">
              <a:off x="0" y="0"/>
              <a:ext cx="7718547" cy="7718547"/>
            </a:xfrm>
            <a:custGeom>
              <a:avLst/>
              <a:gdLst/>
              <a:ahLst/>
              <a:cxnLst/>
              <a:rect l="l" t="t" r="r" b="b"/>
              <a:pathLst>
                <a:path w="7718547" h="7718547">
                  <a:moveTo>
                    <a:pt x="0" y="7718547"/>
                  </a:moveTo>
                  <a:lnTo>
                    <a:pt x="7718547" y="7718547"/>
                  </a:lnTo>
                  <a:lnTo>
                    <a:pt x="7718547" y="0"/>
                  </a:lnTo>
                  <a:lnTo>
                    <a:pt x="0" y="0"/>
                  </a:lnTo>
                  <a:lnTo>
                    <a:pt x="0" y="7718547"/>
                  </a:lnTo>
                  <a:close/>
                </a:path>
              </a:pathLst>
            </a:custGeom>
            <a:blipFill>
              <a:blip>
                <a:alphaModFix amt="14000"/>
                <a:extLst>
                  <a:ext uri="{96DAC541-7B7A-43D3-8B79-37D633B846F1}">
                    <asvg:svgBlip xmlns:asvg="http://schemas.microsoft.com/office/drawing/2016/SVG/main" r:embed="rId3"/>
                  </a:ext>
                </a:extLst>
              </a:blip>
              <a:stretch>
                <a:fillRect/>
              </a:stretch>
            </a:blipFill>
          </p:spPr>
          <p:txBody>
            <a:bodyPr/>
            <a:lstStyle/>
            <a:p>
              <a:endParaRPr lang="en-US"/>
            </a:p>
          </p:txBody>
        </p:sp>
        <p:sp>
          <p:nvSpPr>
            <p:cNvPr id="8" name="Freeform 8"/>
            <p:cNvSpPr/>
            <p:nvPr/>
          </p:nvSpPr>
          <p:spPr>
            <a:xfrm>
              <a:off x="0" y="5997453"/>
              <a:ext cx="7718547" cy="7718547"/>
            </a:xfrm>
            <a:custGeom>
              <a:avLst/>
              <a:gdLst/>
              <a:ahLst/>
              <a:cxnLst/>
              <a:rect l="l" t="t" r="r" b="b"/>
              <a:pathLst>
                <a:path w="7718547" h="7718547">
                  <a:moveTo>
                    <a:pt x="0" y="0"/>
                  </a:moveTo>
                  <a:lnTo>
                    <a:pt x="7718547" y="0"/>
                  </a:lnTo>
                  <a:lnTo>
                    <a:pt x="7718547" y="7718547"/>
                  </a:lnTo>
                  <a:lnTo>
                    <a:pt x="0" y="7718547"/>
                  </a:lnTo>
                  <a:lnTo>
                    <a:pt x="0" y="0"/>
                  </a:lnTo>
                  <a:close/>
                </a:path>
              </a:pathLst>
            </a:custGeom>
            <a:blipFill>
              <a:blip>
                <a:alphaModFix amt="14000"/>
                <a:extLst>
                  <a:ext uri="{96DAC541-7B7A-43D3-8B79-37D633B846F1}">
                    <asvg:svgBlip xmlns:asvg="http://schemas.microsoft.com/office/drawing/2016/SVG/main" r:embed="rId3"/>
                  </a:ext>
                </a:extLst>
              </a:blip>
              <a:stretch>
                <a:fillRect/>
              </a:stretch>
            </a:blipFill>
          </p:spPr>
          <p:txBody>
            <a:bodyPr/>
            <a:lstStyle/>
            <a:p>
              <a:endParaRPr lang="en-US"/>
            </a:p>
          </p:txBody>
        </p:sp>
        <p:sp>
          <p:nvSpPr>
            <p:cNvPr id="9" name="Freeform 9"/>
            <p:cNvSpPr/>
            <p:nvPr/>
          </p:nvSpPr>
          <p:spPr>
            <a:xfrm flipH="1">
              <a:off x="16665453" y="5997453"/>
              <a:ext cx="7718547" cy="7718547"/>
            </a:xfrm>
            <a:custGeom>
              <a:avLst/>
              <a:gdLst/>
              <a:ahLst/>
              <a:cxnLst/>
              <a:rect l="l" t="t" r="r" b="b"/>
              <a:pathLst>
                <a:path w="7718547" h="7718547">
                  <a:moveTo>
                    <a:pt x="7718547" y="0"/>
                  </a:moveTo>
                  <a:lnTo>
                    <a:pt x="0" y="0"/>
                  </a:lnTo>
                  <a:lnTo>
                    <a:pt x="0" y="7718547"/>
                  </a:lnTo>
                  <a:lnTo>
                    <a:pt x="7718547" y="7718547"/>
                  </a:lnTo>
                  <a:lnTo>
                    <a:pt x="7718547" y="0"/>
                  </a:lnTo>
                  <a:close/>
                </a:path>
              </a:pathLst>
            </a:custGeom>
            <a:blipFill>
              <a:blip>
                <a:alphaModFix amt="14000"/>
                <a:extLst>
                  <a:ext uri="{96DAC541-7B7A-43D3-8B79-37D633B846F1}">
                    <asvg:svgBlip xmlns:asvg="http://schemas.microsoft.com/office/drawing/2016/SVG/main" r:embed="rId3"/>
                  </a:ext>
                </a:extLst>
              </a:blip>
              <a:stretch>
                <a:fillRect/>
              </a:stretch>
            </a:blipFill>
          </p:spPr>
          <p:txBody>
            <a:bodyPr/>
            <a:lstStyle/>
            <a:p>
              <a:endParaRPr lang="en-US"/>
            </a:p>
          </p:txBody>
        </p:sp>
        <p:sp>
          <p:nvSpPr>
            <p:cNvPr id="10" name="Freeform 10"/>
            <p:cNvSpPr/>
            <p:nvPr/>
          </p:nvSpPr>
          <p:spPr>
            <a:xfrm flipH="1" flipV="1">
              <a:off x="16665453" y="0"/>
              <a:ext cx="7718547" cy="7718547"/>
            </a:xfrm>
            <a:custGeom>
              <a:avLst/>
              <a:gdLst/>
              <a:ahLst/>
              <a:cxnLst/>
              <a:rect l="l" t="t" r="r" b="b"/>
              <a:pathLst>
                <a:path w="7718547" h="7718547">
                  <a:moveTo>
                    <a:pt x="7718547" y="7718547"/>
                  </a:moveTo>
                  <a:lnTo>
                    <a:pt x="0" y="7718547"/>
                  </a:lnTo>
                  <a:lnTo>
                    <a:pt x="0" y="0"/>
                  </a:lnTo>
                  <a:lnTo>
                    <a:pt x="7718547" y="0"/>
                  </a:lnTo>
                  <a:lnTo>
                    <a:pt x="7718547" y="7718547"/>
                  </a:lnTo>
                  <a:close/>
                </a:path>
              </a:pathLst>
            </a:custGeom>
            <a:blipFill>
              <a:blip>
                <a:alphaModFix amt="14000"/>
                <a:extLst>
                  <a:ext uri="{96DAC541-7B7A-43D3-8B79-37D633B846F1}">
                    <asvg:svgBlip xmlns:asvg="http://schemas.microsoft.com/office/drawing/2016/SVG/main" r:embed="rId3"/>
                  </a:ext>
                </a:extLst>
              </a:blip>
              <a:stretch>
                <a:fillRect/>
              </a:stretch>
            </a:blipFill>
          </p:spPr>
          <p:txBody>
            <a:bodyPr/>
            <a:lstStyle/>
            <a:p>
              <a:endParaRPr lang="en-US"/>
            </a:p>
          </p:txBody>
        </p:sp>
      </p:grpSp>
      <p:sp>
        <p:nvSpPr>
          <p:cNvPr id="2" name="Freeform 2"/>
          <p:cNvSpPr/>
          <p:nvPr/>
        </p:nvSpPr>
        <p:spPr>
          <a:xfrm>
            <a:off x="10998181" y="110139"/>
            <a:ext cx="1296411" cy="729231"/>
          </a:xfrm>
          <a:custGeom>
            <a:avLst/>
            <a:gdLst/>
            <a:ahLst/>
            <a:cxnLst/>
            <a:rect l="l" t="t" r="r" b="b"/>
            <a:pathLst>
              <a:path w="1944616" h="1093846">
                <a:moveTo>
                  <a:pt x="0" y="0"/>
                </a:moveTo>
                <a:lnTo>
                  <a:pt x="1944616" y="0"/>
                </a:lnTo>
                <a:lnTo>
                  <a:pt x="1944616" y="1093847"/>
                </a:lnTo>
                <a:lnTo>
                  <a:pt x="0" y="1093847"/>
                </a:lnTo>
                <a:lnTo>
                  <a:pt x="0" y="0"/>
                </a:lnTo>
                <a:close/>
              </a:path>
            </a:pathLst>
          </a:custGeom>
          <a:blipFill>
            <a:blip r:embed="rId4"/>
            <a:stretch>
              <a:fillRect/>
            </a:stretch>
          </a:blipFill>
        </p:spPr>
        <p:txBody>
          <a:bodyPr/>
          <a:lstStyle/>
          <a:p>
            <a:endParaRPr lang="en-US"/>
          </a:p>
        </p:txBody>
      </p:sp>
      <p:sp>
        <p:nvSpPr>
          <p:cNvPr id="3" name="Freeform 3"/>
          <p:cNvSpPr/>
          <p:nvPr/>
        </p:nvSpPr>
        <p:spPr>
          <a:xfrm>
            <a:off x="41059" y="58741"/>
            <a:ext cx="1289482" cy="729231"/>
          </a:xfrm>
          <a:custGeom>
            <a:avLst/>
            <a:gdLst/>
            <a:ahLst/>
            <a:cxnLst/>
            <a:rect l="l" t="t" r="r" b="b"/>
            <a:pathLst>
              <a:path w="1934223" h="1093846">
                <a:moveTo>
                  <a:pt x="0" y="0"/>
                </a:moveTo>
                <a:lnTo>
                  <a:pt x="1934224" y="0"/>
                </a:lnTo>
                <a:lnTo>
                  <a:pt x="1934224" y="1093846"/>
                </a:lnTo>
                <a:lnTo>
                  <a:pt x="0" y="1093846"/>
                </a:lnTo>
                <a:lnTo>
                  <a:pt x="0" y="0"/>
                </a:lnTo>
                <a:close/>
              </a:path>
            </a:pathLst>
          </a:custGeom>
          <a:blipFill>
            <a:blip r:embed="rId5"/>
            <a:stretch>
              <a:fillRect l="-661" r="-661"/>
            </a:stretch>
          </a:blipFill>
        </p:spPr>
        <p:txBody>
          <a:bodyPr/>
          <a:lstStyle/>
          <a:p>
            <a:endParaRPr lang="en-US"/>
          </a:p>
        </p:txBody>
      </p:sp>
      <p:sp>
        <p:nvSpPr>
          <p:cNvPr id="4" name="TextBox 4"/>
          <p:cNvSpPr txBox="1"/>
          <p:nvPr/>
        </p:nvSpPr>
        <p:spPr>
          <a:xfrm>
            <a:off x="1205344" y="898111"/>
            <a:ext cx="9981211" cy="1716880"/>
          </a:xfrm>
          <a:prstGeom prst="rect">
            <a:avLst/>
          </a:prstGeom>
        </p:spPr>
        <p:txBody>
          <a:bodyPr wrap="square" lIns="0" tIns="0" rIns="0" bIns="0" rtlCol="0" anchor="t">
            <a:spAutoFit/>
          </a:bodyPr>
          <a:lstStyle/>
          <a:p>
            <a:pPr algn="ctr" defTabSz="609630">
              <a:lnSpc>
                <a:spcPts val="7000"/>
              </a:lnSpc>
            </a:pPr>
            <a:r>
              <a:rPr lang="en-US" sz="5000" b="1" dirty="0">
                <a:gradFill>
                  <a:gsLst>
                    <a:gs pos="0">
                      <a:srgbClr val="471DE1">
                        <a:alpha val="100000"/>
                      </a:srgbClr>
                    </a:gs>
                    <a:gs pos="50000">
                      <a:srgbClr val="4E3AAA">
                        <a:alpha val="100000"/>
                      </a:srgbClr>
                    </a:gs>
                    <a:gs pos="100000">
                      <a:srgbClr val="471DE1">
                        <a:alpha val="100000"/>
                      </a:srgbClr>
                    </a:gs>
                  </a:gsLst>
                  <a:lin ang="18900000"/>
                </a:gradFill>
                <a:latin typeface="Canva Sans Bold"/>
                <a:ea typeface="Canva Sans Bold"/>
                <a:cs typeface="Canva Sans Bold"/>
                <a:sym typeface="Canva Sans Bold"/>
              </a:rPr>
              <a:t>Insurance Performance Analysis Project</a:t>
            </a:r>
          </a:p>
        </p:txBody>
      </p:sp>
      <p:sp>
        <p:nvSpPr>
          <p:cNvPr id="5" name="TextBox 5"/>
          <p:cNvSpPr txBox="1"/>
          <p:nvPr/>
        </p:nvSpPr>
        <p:spPr>
          <a:xfrm>
            <a:off x="4496458" y="5956206"/>
            <a:ext cx="3184474" cy="615553"/>
          </a:xfrm>
          <a:prstGeom prst="rect">
            <a:avLst/>
          </a:prstGeom>
        </p:spPr>
        <p:txBody>
          <a:bodyPr wrap="square" lIns="0" tIns="0" rIns="0" bIns="0" rtlCol="0" anchor="t">
            <a:spAutoFit/>
          </a:bodyPr>
          <a:lstStyle/>
          <a:p>
            <a:pPr algn="ctr" defTabSz="609630"/>
            <a:r>
              <a:rPr lang="en-US" sz="2000" dirty="0">
                <a:gradFill>
                  <a:gsLst>
                    <a:gs pos="0">
                      <a:srgbClr val="471DE1">
                        <a:alpha val="100000"/>
                      </a:srgbClr>
                    </a:gs>
                    <a:gs pos="50000">
                      <a:srgbClr val="4E3AAA">
                        <a:alpha val="100000"/>
                      </a:srgbClr>
                    </a:gs>
                    <a:gs pos="100000">
                      <a:srgbClr val="471DE1">
                        <a:alpha val="100000"/>
                      </a:srgbClr>
                    </a:gs>
                  </a:gsLst>
                  <a:lin ang="18900000"/>
                </a:gradFill>
                <a:latin typeface="Canva Sans"/>
                <a:ea typeface="Canva Sans"/>
                <a:cs typeface="Canva Sans"/>
                <a:sym typeface="Canva Sans"/>
              </a:rPr>
              <a:t>Supervised by </a:t>
            </a:r>
          </a:p>
          <a:p>
            <a:pPr algn="ctr" defTabSz="609630"/>
            <a:r>
              <a:rPr lang="en-US" sz="2000" dirty="0">
                <a:gradFill>
                  <a:gsLst>
                    <a:gs pos="0">
                      <a:srgbClr val="471DE1">
                        <a:alpha val="100000"/>
                      </a:srgbClr>
                    </a:gs>
                    <a:gs pos="50000">
                      <a:srgbClr val="4E3AAA">
                        <a:alpha val="100000"/>
                      </a:srgbClr>
                    </a:gs>
                    <a:gs pos="100000">
                      <a:srgbClr val="471DE1">
                        <a:alpha val="100000"/>
                      </a:srgbClr>
                    </a:gs>
                  </a:gsLst>
                  <a:lin ang="18900000"/>
                </a:gradFill>
                <a:latin typeface="Canva Sans"/>
                <a:ea typeface="Canva Sans"/>
                <a:cs typeface="Canva Sans"/>
                <a:sym typeface="Canva Sans"/>
              </a:rPr>
              <a:t>DR. Amal Mahmoud</a:t>
            </a:r>
          </a:p>
        </p:txBody>
      </p:sp>
      <p:sp>
        <p:nvSpPr>
          <p:cNvPr id="12" name="Text 6"/>
          <p:cNvSpPr/>
          <p:nvPr/>
        </p:nvSpPr>
        <p:spPr>
          <a:xfrm>
            <a:off x="3489960" y="3205322"/>
            <a:ext cx="685800" cy="685800"/>
          </a:xfrm>
          <a:prstGeom prst="rect">
            <a:avLst/>
          </a:prstGeom>
          <a:noFill/>
          <a:ln/>
        </p:spPr>
        <p:txBody>
          <a:bodyPr wrap="square" lIns="0" tIns="0" rIns="0" bIns="0" rtlCol="0" anchor="ctr"/>
          <a:lstStyle/>
          <a:p>
            <a:pPr marL="0" indent="0" algn="ctr">
              <a:buNone/>
            </a:pPr>
            <a:endParaRPr lang="en-US" sz="1100" dirty="0"/>
          </a:p>
        </p:txBody>
      </p:sp>
      <p:sp>
        <p:nvSpPr>
          <p:cNvPr id="13" name="Text 7"/>
          <p:cNvSpPr/>
          <p:nvPr/>
        </p:nvSpPr>
        <p:spPr>
          <a:xfrm>
            <a:off x="3640226" y="3997793"/>
            <a:ext cx="1234440" cy="274320"/>
          </a:xfrm>
          <a:prstGeom prst="rect">
            <a:avLst/>
          </a:prstGeom>
          <a:noFill/>
          <a:ln/>
        </p:spPr>
        <p:txBody>
          <a:bodyPr wrap="square" lIns="0" tIns="0" rIns="0" bIns="0" rtlCol="0" anchor="ctr"/>
          <a:lstStyle/>
          <a:p>
            <a:pPr marL="0" indent="0" algn="ctr">
              <a:buNone/>
            </a:pPr>
            <a:r>
              <a:rPr lang="en-US" sz="1600" dirty="0">
                <a:solidFill>
                  <a:srgbClr val="191A4E"/>
                </a:solidFill>
                <a:latin typeface="Calibri" pitchFamily="34" charset="0"/>
                <a:ea typeface="Calibri" pitchFamily="34" charset="-122"/>
                <a:cs typeface="Calibri" pitchFamily="34" charset="-120"/>
              </a:rPr>
              <a:t>Excel</a:t>
            </a:r>
            <a:endParaRPr lang="en-US" sz="1600" dirty="0">
              <a:solidFill>
                <a:srgbClr val="191A4E"/>
              </a:solidFill>
            </a:endParaRPr>
          </a:p>
        </p:txBody>
      </p:sp>
      <p:sp>
        <p:nvSpPr>
          <p:cNvPr id="15" name="Text 9"/>
          <p:cNvSpPr/>
          <p:nvPr/>
        </p:nvSpPr>
        <p:spPr>
          <a:xfrm>
            <a:off x="4450080" y="3205322"/>
            <a:ext cx="685800" cy="685800"/>
          </a:xfrm>
          <a:prstGeom prst="rect">
            <a:avLst/>
          </a:prstGeom>
          <a:noFill/>
          <a:ln/>
        </p:spPr>
        <p:txBody>
          <a:bodyPr wrap="square" lIns="0" tIns="0" rIns="0" bIns="0" rtlCol="0" anchor="ctr"/>
          <a:lstStyle/>
          <a:p>
            <a:pPr marL="0" indent="0" algn="ctr">
              <a:buNone/>
            </a:pPr>
            <a:endParaRPr lang="en-US" sz="1100" dirty="0"/>
          </a:p>
        </p:txBody>
      </p:sp>
      <p:sp>
        <p:nvSpPr>
          <p:cNvPr id="16" name="Text 10"/>
          <p:cNvSpPr/>
          <p:nvPr/>
        </p:nvSpPr>
        <p:spPr>
          <a:xfrm>
            <a:off x="4600346" y="3997793"/>
            <a:ext cx="1234440" cy="274320"/>
          </a:xfrm>
          <a:prstGeom prst="rect">
            <a:avLst/>
          </a:prstGeom>
          <a:noFill/>
          <a:ln/>
        </p:spPr>
        <p:txBody>
          <a:bodyPr wrap="square" lIns="0" tIns="0" rIns="0" bIns="0" rtlCol="0" anchor="ctr"/>
          <a:lstStyle/>
          <a:p>
            <a:pPr marL="0" indent="0" algn="ctr">
              <a:buNone/>
            </a:pPr>
            <a:r>
              <a:rPr lang="en-US" sz="1600" dirty="0">
                <a:solidFill>
                  <a:srgbClr val="191A4E"/>
                </a:solidFill>
                <a:latin typeface="Calibri" pitchFamily="34" charset="0"/>
                <a:ea typeface="Calibri" pitchFamily="34" charset="-122"/>
                <a:cs typeface="Calibri" pitchFamily="34" charset="-120"/>
              </a:rPr>
              <a:t>Python</a:t>
            </a:r>
            <a:endParaRPr lang="en-US" sz="1600" dirty="0">
              <a:solidFill>
                <a:srgbClr val="191A4E"/>
              </a:solidFill>
            </a:endParaRPr>
          </a:p>
        </p:txBody>
      </p:sp>
      <p:sp>
        <p:nvSpPr>
          <p:cNvPr id="18" name="Text 12"/>
          <p:cNvSpPr/>
          <p:nvPr/>
        </p:nvSpPr>
        <p:spPr>
          <a:xfrm>
            <a:off x="5410200" y="3205322"/>
            <a:ext cx="685800" cy="685800"/>
          </a:xfrm>
          <a:prstGeom prst="rect">
            <a:avLst/>
          </a:prstGeom>
          <a:noFill/>
          <a:ln/>
        </p:spPr>
        <p:txBody>
          <a:bodyPr wrap="square" lIns="0" tIns="0" rIns="0" bIns="0" rtlCol="0" anchor="ctr"/>
          <a:lstStyle/>
          <a:p>
            <a:pPr marL="0" indent="0" algn="ctr">
              <a:buNone/>
            </a:pPr>
            <a:endParaRPr lang="en-US" sz="1100" dirty="0"/>
          </a:p>
        </p:txBody>
      </p:sp>
      <p:sp>
        <p:nvSpPr>
          <p:cNvPr id="19" name="Text 13"/>
          <p:cNvSpPr/>
          <p:nvPr/>
        </p:nvSpPr>
        <p:spPr>
          <a:xfrm>
            <a:off x="5560466" y="3997793"/>
            <a:ext cx="1234440" cy="274320"/>
          </a:xfrm>
          <a:prstGeom prst="rect">
            <a:avLst/>
          </a:prstGeom>
          <a:noFill/>
          <a:ln/>
        </p:spPr>
        <p:txBody>
          <a:bodyPr wrap="square" lIns="0" tIns="0" rIns="0" bIns="0" rtlCol="0" anchor="ctr"/>
          <a:lstStyle/>
          <a:p>
            <a:pPr marL="0" indent="0" algn="ctr">
              <a:buNone/>
            </a:pPr>
            <a:r>
              <a:rPr lang="en-US" sz="1600" dirty="0">
                <a:solidFill>
                  <a:srgbClr val="191A4E"/>
                </a:solidFill>
                <a:latin typeface="Calibri" pitchFamily="34" charset="0"/>
                <a:ea typeface="Calibri" pitchFamily="34" charset="-122"/>
                <a:cs typeface="Calibri" pitchFamily="34" charset="-120"/>
              </a:rPr>
              <a:t>SQL</a:t>
            </a:r>
            <a:endParaRPr lang="en-US" sz="1600" dirty="0">
              <a:solidFill>
                <a:srgbClr val="191A4E"/>
              </a:solidFill>
            </a:endParaRPr>
          </a:p>
        </p:txBody>
      </p:sp>
      <p:sp>
        <p:nvSpPr>
          <p:cNvPr id="21" name="Text 15"/>
          <p:cNvSpPr/>
          <p:nvPr/>
        </p:nvSpPr>
        <p:spPr>
          <a:xfrm>
            <a:off x="6370320" y="3205322"/>
            <a:ext cx="685800" cy="685800"/>
          </a:xfrm>
          <a:prstGeom prst="rect">
            <a:avLst/>
          </a:prstGeom>
          <a:noFill/>
          <a:ln/>
        </p:spPr>
        <p:txBody>
          <a:bodyPr wrap="square" lIns="0" tIns="0" rIns="0" bIns="0" rtlCol="0" anchor="ctr"/>
          <a:lstStyle/>
          <a:p>
            <a:pPr marL="0" indent="0" algn="ctr">
              <a:buNone/>
            </a:pPr>
            <a:endParaRPr lang="en-US" sz="1100" dirty="0"/>
          </a:p>
        </p:txBody>
      </p:sp>
      <p:sp>
        <p:nvSpPr>
          <p:cNvPr id="22" name="Text 16"/>
          <p:cNvSpPr/>
          <p:nvPr/>
        </p:nvSpPr>
        <p:spPr>
          <a:xfrm>
            <a:off x="6520586" y="3997793"/>
            <a:ext cx="1234440" cy="274320"/>
          </a:xfrm>
          <a:prstGeom prst="rect">
            <a:avLst/>
          </a:prstGeom>
          <a:noFill/>
          <a:ln/>
        </p:spPr>
        <p:txBody>
          <a:bodyPr wrap="square" lIns="0" tIns="0" rIns="0" bIns="0" rtlCol="0" anchor="ctr"/>
          <a:lstStyle/>
          <a:p>
            <a:pPr marL="0" indent="0" algn="ctr">
              <a:buNone/>
            </a:pPr>
            <a:r>
              <a:rPr lang="en-US" sz="1600" dirty="0">
                <a:solidFill>
                  <a:srgbClr val="191A4E"/>
                </a:solidFill>
                <a:latin typeface="Calibri" pitchFamily="34" charset="0"/>
                <a:ea typeface="Calibri" pitchFamily="34" charset="-122"/>
                <a:cs typeface="Calibri" pitchFamily="34" charset="-120"/>
              </a:rPr>
              <a:t>Power BI</a:t>
            </a:r>
            <a:endParaRPr lang="en-US" sz="1600" dirty="0">
              <a:solidFill>
                <a:srgbClr val="191A4E"/>
              </a:solidFill>
            </a:endParaRPr>
          </a:p>
        </p:txBody>
      </p:sp>
      <p:sp>
        <p:nvSpPr>
          <p:cNvPr id="24" name="Text 18"/>
          <p:cNvSpPr/>
          <p:nvPr/>
        </p:nvSpPr>
        <p:spPr>
          <a:xfrm>
            <a:off x="7330440" y="3205322"/>
            <a:ext cx="685800" cy="685800"/>
          </a:xfrm>
          <a:prstGeom prst="rect">
            <a:avLst/>
          </a:prstGeom>
          <a:noFill/>
          <a:ln/>
        </p:spPr>
        <p:txBody>
          <a:bodyPr wrap="square" lIns="0" tIns="0" rIns="0" bIns="0" rtlCol="0" anchor="ctr"/>
          <a:lstStyle/>
          <a:p>
            <a:pPr marL="0" indent="0" algn="ctr">
              <a:buNone/>
            </a:pPr>
            <a:endParaRPr lang="en-US" sz="1100" dirty="0"/>
          </a:p>
        </p:txBody>
      </p:sp>
      <p:sp>
        <p:nvSpPr>
          <p:cNvPr id="25" name="Text 19"/>
          <p:cNvSpPr/>
          <p:nvPr/>
        </p:nvSpPr>
        <p:spPr>
          <a:xfrm>
            <a:off x="7480706" y="3997793"/>
            <a:ext cx="1234440" cy="274320"/>
          </a:xfrm>
          <a:prstGeom prst="rect">
            <a:avLst/>
          </a:prstGeom>
          <a:noFill/>
          <a:ln/>
        </p:spPr>
        <p:txBody>
          <a:bodyPr wrap="square" lIns="0" tIns="0" rIns="0" bIns="0" rtlCol="0" anchor="ctr"/>
          <a:lstStyle/>
          <a:p>
            <a:pPr marL="0" indent="0" algn="ctr">
              <a:buNone/>
            </a:pPr>
            <a:r>
              <a:rPr lang="en-US" sz="1600" dirty="0">
                <a:solidFill>
                  <a:srgbClr val="191A4E"/>
                </a:solidFill>
                <a:latin typeface="Calibri" pitchFamily="34" charset="0"/>
                <a:ea typeface="Calibri" pitchFamily="34" charset="-122"/>
                <a:cs typeface="Calibri" pitchFamily="34" charset="-120"/>
              </a:rPr>
              <a:t>Tableau</a:t>
            </a:r>
            <a:endParaRPr lang="en-US" sz="1600" dirty="0">
              <a:solidFill>
                <a:srgbClr val="191A4E"/>
              </a:solidFill>
            </a:endParaRPr>
          </a:p>
        </p:txBody>
      </p:sp>
      <p:pic>
        <p:nvPicPr>
          <p:cNvPr id="26" name="Picture 25" descr="Python (programming language) - Wikipedia">
            <a:extLst>
              <a:ext uri="{FF2B5EF4-FFF2-40B4-BE49-F238E27FC236}">
                <a16:creationId xmlns:a16="http://schemas.microsoft.com/office/drawing/2014/main" id="{BF7FDBE5-97F6-0232-15ED-9486F529F804}"/>
              </a:ext>
            </a:extLst>
          </p:cNvPr>
          <p:cNvPicPr>
            <a:picLocks noChangeAspect="1"/>
          </p:cNvPicPr>
          <p:nvPr/>
        </p:nvPicPr>
        <p:blipFill>
          <a:blip r:embed="rId6"/>
          <a:stretch>
            <a:fillRect/>
          </a:stretch>
        </p:blipFill>
        <p:spPr>
          <a:xfrm>
            <a:off x="4835681" y="3266273"/>
            <a:ext cx="766952" cy="766952"/>
          </a:xfrm>
          <a:prstGeom prst="rect">
            <a:avLst/>
          </a:prstGeom>
        </p:spPr>
      </p:pic>
      <p:pic>
        <p:nvPicPr>
          <p:cNvPr id="28" name="Picture 27" descr="File:Sql data base with logo.png - Wikimedia Commons">
            <a:extLst>
              <a:ext uri="{FF2B5EF4-FFF2-40B4-BE49-F238E27FC236}">
                <a16:creationId xmlns:a16="http://schemas.microsoft.com/office/drawing/2014/main" id="{F596AD0B-03F8-BA21-81C8-4625200B8BB0}"/>
              </a:ext>
            </a:extLst>
          </p:cNvPr>
          <p:cNvPicPr>
            <a:picLocks noChangeAspect="1"/>
          </p:cNvPicPr>
          <p:nvPr/>
        </p:nvPicPr>
        <p:blipFill>
          <a:blip r:embed="rId7"/>
          <a:srcRect r="53085"/>
          <a:stretch>
            <a:fillRect/>
          </a:stretch>
        </p:blipFill>
        <p:spPr>
          <a:xfrm>
            <a:off x="5789262" y="3266273"/>
            <a:ext cx="724019" cy="731520"/>
          </a:xfrm>
          <a:prstGeom prst="rect">
            <a:avLst/>
          </a:prstGeom>
        </p:spPr>
      </p:pic>
      <p:pic>
        <p:nvPicPr>
          <p:cNvPr id="29" name="Picture 28" descr="File:New Power BI Logo.svg - Wikimedia Commons">
            <a:extLst>
              <a:ext uri="{FF2B5EF4-FFF2-40B4-BE49-F238E27FC236}">
                <a16:creationId xmlns:a16="http://schemas.microsoft.com/office/drawing/2014/main" id="{6A06EF98-92E9-F1B1-B206-C4CCCD8F2BE8}"/>
              </a:ext>
            </a:extLst>
          </p:cNvPr>
          <p:cNvPicPr>
            <a:picLocks noChangeAspect="1"/>
          </p:cNvPicPr>
          <p:nvPr/>
        </p:nvPicPr>
        <p:blipFill>
          <a:blip r:embed="rId8"/>
          <a:stretch>
            <a:fillRect/>
          </a:stretch>
        </p:blipFill>
        <p:spPr>
          <a:xfrm>
            <a:off x="6735222" y="3266273"/>
            <a:ext cx="766952" cy="766952"/>
          </a:xfrm>
          <a:prstGeom prst="rect">
            <a:avLst/>
          </a:prstGeom>
        </p:spPr>
      </p:pic>
      <p:pic>
        <p:nvPicPr>
          <p:cNvPr id="30" name="Picture 29" descr="Tableau Software color icon in PNG, SVG">
            <a:extLst>
              <a:ext uri="{FF2B5EF4-FFF2-40B4-BE49-F238E27FC236}">
                <a16:creationId xmlns:a16="http://schemas.microsoft.com/office/drawing/2014/main" id="{D1967BA8-3A23-FA50-32CE-1CF449FC1CDF}"/>
              </a:ext>
            </a:extLst>
          </p:cNvPr>
          <p:cNvPicPr>
            <a:picLocks noChangeAspect="1"/>
          </p:cNvPicPr>
          <p:nvPr/>
        </p:nvPicPr>
        <p:blipFill>
          <a:blip r:embed="rId9"/>
          <a:stretch>
            <a:fillRect/>
          </a:stretch>
        </p:blipFill>
        <p:spPr>
          <a:xfrm>
            <a:off x="7706830" y="3266273"/>
            <a:ext cx="766952" cy="766952"/>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gradFill>
          <a:gsLst>
            <a:gs pos="0">
              <a:srgbClr val="AB98F2"/>
            </a:gs>
            <a:gs pos="38000">
              <a:srgbClr val="F4F2FC"/>
            </a:gs>
            <a:gs pos="67000">
              <a:srgbClr val="F4F2FC"/>
            </a:gs>
            <a:gs pos="100000">
              <a:srgbClr val="AB98F2"/>
            </a:gs>
          </a:gsLst>
          <a:lin ang="7800000" scaled="0"/>
        </a:gradFill>
        <a:effectLst/>
      </p:bgPr>
    </p:bg>
    <p:spTree>
      <p:nvGrpSpPr>
        <p:cNvPr id="1" name="">
          <a:extLst>
            <a:ext uri="{FF2B5EF4-FFF2-40B4-BE49-F238E27FC236}">
              <a16:creationId xmlns:a16="http://schemas.microsoft.com/office/drawing/2014/main" id="{00C52FA7-DD06-8DF7-E0B2-DDB27C0A8C82}"/>
            </a:ext>
          </a:extLst>
        </p:cNvPr>
        <p:cNvGrpSpPr/>
        <p:nvPr/>
      </p:nvGrpSpPr>
      <p:grpSpPr>
        <a:xfrm>
          <a:off x="0" y="0"/>
          <a:ext cx="0" cy="0"/>
          <a:chOff x="0" y="0"/>
          <a:chExt cx="0" cy="0"/>
        </a:xfrm>
      </p:grpSpPr>
      <p:grpSp>
        <p:nvGrpSpPr>
          <p:cNvPr id="6" name="Group 6">
            <a:extLst>
              <a:ext uri="{FF2B5EF4-FFF2-40B4-BE49-F238E27FC236}">
                <a16:creationId xmlns:a16="http://schemas.microsoft.com/office/drawing/2014/main" id="{B167B551-51BD-28D7-CE27-C75170315393}"/>
              </a:ext>
            </a:extLst>
          </p:cNvPr>
          <p:cNvGrpSpPr/>
          <p:nvPr/>
        </p:nvGrpSpPr>
        <p:grpSpPr>
          <a:xfrm>
            <a:off x="114300" y="0"/>
            <a:ext cx="12192000" cy="6858000"/>
            <a:chOff x="0" y="0"/>
            <a:chExt cx="24384000" cy="13716000"/>
          </a:xfrm>
        </p:grpSpPr>
        <p:sp>
          <p:nvSpPr>
            <p:cNvPr id="7" name="Freeform 7">
              <a:extLst>
                <a:ext uri="{FF2B5EF4-FFF2-40B4-BE49-F238E27FC236}">
                  <a16:creationId xmlns:a16="http://schemas.microsoft.com/office/drawing/2014/main" id="{3A93CA5B-FE8D-A18B-1604-36767BFB8854}"/>
                </a:ext>
              </a:extLst>
            </p:cNvPr>
            <p:cNvSpPr/>
            <p:nvPr/>
          </p:nvSpPr>
          <p:spPr>
            <a:xfrm flipV="1">
              <a:off x="0" y="0"/>
              <a:ext cx="7718547" cy="7718547"/>
            </a:xfrm>
            <a:custGeom>
              <a:avLst/>
              <a:gdLst/>
              <a:ahLst/>
              <a:cxnLst/>
              <a:rect l="l" t="t" r="r" b="b"/>
              <a:pathLst>
                <a:path w="7718547" h="7718547">
                  <a:moveTo>
                    <a:pt x="0" y="7718547"/>
                  </a:moveTo>
                  <a:lnTo>
                    <a:pt x="7718547" y="7718547"/>
                  </a:lnTo>
                  <a:lnTo>
                    <a:pt x="7718547" y="0"/>
                  </a:lnTo>
                  <a:lnTo>
                    <a:pt x="0" y="0"/>
                  </a:lnTo>
                  <a:lnTo>
                    <a:pt x="0" y="7718547"/>
                  </a:lnTo>
                  <a:close/>
                </a:path>
              </a:pathLst>
            </a:custGeom>
            <a:blipFill>
              <a:blip>
                <a:alphaModFix amt="14000"/>
                <a:extLst>
                  <a:ext uri="{96DAC541-7B7A-43D3-8B79-37D633B846F1}">
                    <asvg:svgBlip xmlns:asvg="http://schemas.microsoft.com/office/drawing/2016/SVG/main" r:embed="rId2"/>
                  </a:ext>
                </a:extLst>
              </a:blip>
              <a:stretch>
                <a:fillRect/>
              </a:stretch>
            </a:blipFill>
          </p:spPr>
          <p:txBody>
            <a:bodyPr/>
            <a:lstStyle/>
            <a:p>
              <a:endParaRPr lang="en-US"/>
            </a:p>
          </p:txBody>
        </p:sp>
        <p:sp>
          <p:nvSpPr>
            <p:cNvPr id="8" name="Freeform 8">
              <a:extLst>
                <a:ext uri="{FF2B5EF4-FFF2-40B4-BE49-F238E27FC236}">
                  <a16:creationId xmlns:a16="http://schemas.microsoft.com/office/drawing/2014/main" id="{1A143ABA-A7C1-4171-09D2-198B48B4B4C9}"/>
                </a:ext>
              </a:extLst>
            </p:cNvPr>
            <p:cNvSpPr/>
            <p:nvPr/>
          </p:nvSpPr>
          <p:spPr>
            <a:xfrm>
              <a:off x="0" y="5997453"/>
              <a:ext cx="7718547" cy="7718547"/>
            </a:xfrm>
            <a:custGeom>
              <a:avLst/>
              <a:gdLst/>
              <a:ahLst/>
              <a:cxnLst/>
              <a:rect l="l" t="t" r="r" b="b"/>
              <a:pathLst>
                <a:path w="7718547" h="7718547">
                  <a:moveTo>
                    <a:pt x="0" y="0"/>
                  </a:moveTo>
                  <a:lnTo>
                    <a:pt x="7718547" y="0"/>
                  </a:lnTo>
                  <a:lnTo>
                    <a:pt x="7718547" y="7718547"/>
                  </a:lnTo>
                  <a:lnTo>
                    <a:pt x="0" y="7718547"/>
                  </a:lnTo>
                  <a:lnTo>
                    <a:pt x="0" y="0"/>
                  </a:lnTo>
                  <a:close/>
                </a:path>
              </a:pathLst>
            </a:custGeom>
            <a:blipFill>
              <a:blip>
                <a:alphaModFix amt="14000"/>
                <a:extLst>
                  <a:ext uri="{96DAC541-7B7A-43D3-8B79-37D633B846F1}">
                    <asvg:svgBlip xmlns:asvg="http://schemas.microsoft.com/office/drawing/2016/SVG/main" r:embed="rId2"/>
                  </a:ext>
                </a:extLst>
              </a:blip>
              <a:stretch>
                <a:fillRect/>
              </a:stretch>
            </a:blipFill>
          </p:spPr>
          <p:txBody>
            <a:bodyPr/>
            <a:lstStyle/>
            <a:p>
              <a:endParaRPr lang="en-US"/>
            </a:p>
          </p:txBody>
        </p:sp>
        <p:sp>
          <p:nvSpPr>
            <p:cNvPr id="9" name="Freeform 9">
              <a:extLst>
                <a:ext uri="{FF2B5EF4-FFF2-40B4-BE49-F238E27FC236}">
                  <a16:creationId xmlns:a16="http://schemas.microsoft.com/office/drawing/2014/main" id="{97B93F58-7526-85DE-2157-11F1F763CCB2}"/>
                </a:ext>
              </a:extLst>
            </p:cNvPr>
            <p:cNvSpPr/>
            <p:nvPr/>
          </p:nvSpPr>
          <p:spPr>
            <a:xfrm flipH="1">
              <a:off x="16665453" y="5997453"/>
              <a:ext cx="7718547" cy="7718547"/>
            </a:xfrm>
            <a:custGeom>
              <a:avLst/>
              <a:gdLst/>
              <a:ahLst/>
              <a:cxnLst/>
              <a:rect l="l" t="t" r="r" b="b"/>
              <a:pathLst>
                <a:path w="7718547" h="7718547">
                  <a:moveTo>
                    <a:pt x="7718547" y="0"/>
                  </a:moveTo>
                  <a:lnTo>
                    <a:pt x="0" y="0"/>
                  </a:lnTo>
                  <a:lnTo>
                    <a:pt x="0" y="7718547"/>
                  </a:lnTo>
                  <a:lnTo>
                    <a:pt x="7718547" y="7718547"/>
                  </a:lnTo>
                  <a:lnTo>
                    <a:pt x="7718547" y="0"/>
                  </a:lnTo>
                  <a:close/>
                </a:path>
              </a:pathLst>
            </a:custGeom>
            <a:blipFill>
              <a:blip>
                <a:alphaModFix amt="14000"/>
                <a:extLst>
                  <a:ext uri="{96DAC541-7B7A-43D3-8B79-37D633B846F1}">
                    <asvg:svgBlip xmlns:asvg="http://schemas.microsoft.com/office/drawing/2016/SVG/main" r:embed="rId2"/>
                  </a:ext>
                </a:extLst>
              </a:blip>
              <a:stretch>
                <a:fillRect/>
              </a:stretch>
            </a:blipFill>
          </p:spPr>
          <p:txBody>
            <a:bodyPr/>
            <a:lstStyle/>
            <a:p>
              <a:endParaRPr lang="en-US"/>
            </a:p>
          </p:txBody>
        </p:sp>
        <p:sp>
          <p:nvSpPr>
            <p:cNvPr id="10" name="Freeform 10">
              <a:extLst>
                <a:ext uri="{FF2B5EF4-FFF2-40B4-BE49-F238E27FC236}">
                  <a16:creationId xmlns:a16="http://schemas.microsoft.com/office/drawing/2014/main" id="{7005FF66-965D-08EF-8231-A8BDA61CA0AF}"/>
                </a:ext>
              </a:extLst>
            </p:cNvPr>
            <p:cNvSpPr/>
            <p:nvPr/>
          </p:nvSpPr>
          <p:spPr>
            <a:xfrm flipH="1" flipV="1">
              <a:off x="16665453" y="0"/>
              <a:ext cx="7718547" cy="7718547"/>
            </a:xfrm>
            <a:custGeom>
              <a:avLst/>
              <a:gdLst/>
              <a:ahLst/>
              <a:cxnLst/>
              <a:rect l="l" t="t" r="r" b="b"/>
              <a:pathLst>
                <a:path w="7718547" h="7718547">
                  <a:moveTo>
                    <a:pt x="7718547" y="7718547"/>
                  </a:moveTo>
                  <a:lnTo>
                    <a:pt x="0" y="7718547"/>
                  </a:lnTo>
                  <a:lnTo>
                    <a:pt x="0" y="0"/>
                  </a:lnTo>
                  <a:lnTo>
                    <a:pt x="7718547" y="0"/>
                  </a:lnTo>
                  <a:lnTo>
                    <a:pt x="7718547" y="7718547"/>
                  </a:lnTo>
                  <a:close/>
                </a:path>
              </a:pathLst>
            </a:custGeom>
            <a:blipFill>
              <a:blip>
                <a:alphaModFix amt="14000"/>
                <a:extLst>
                  <a:ext uri="{96DAC541-7B7A-43D3-8B79-37D633B846F1}">
                    <asvg:svgBlip xmlns:asvg="http://schemas.microsoft.com/office/drawing/2016/SVG/main" r:embed="rId2"/>
                  </a:ext>
                </a:extLst>
              </a:blip>
              <a:stretch>
                <a:fillRect/>
              </a:stretch>
            </a:blipFill>
          </p:spPr>
          <p:txBody>
            <a:bodyPr/>
            <a:lstStyle/>
            <a:p>
              <a:endParaRPr lang="en-US"/>
            </a:p>
          </p:txBody>
        </p:sp>
      </p:grpSp>
      <p:sp>
        <p:nvSpPr>
          <p:cNvPr id="12" name="Text 6">
            <a:extLst>
              <a:ext uri="{FF2B5EF4-FFF2-40B4-BE49-F238E27FC236}">
                <a16:creationId xmlns:a16="http://schemas.microsoft.com/office/drawing/2014/main" id="{75A0A5B4-2614-8F4E-EBAF-D9241FBF6828}"/>
              </a:ext>
            </a:extLst>
          </p:cNvPr>
          <p:cNvSpPr/>
          <p:nvPr/>
        </p:nvSpPr>
        <p:spPr>
          <a:xfrm>
            <a:off x="3489960" y="3205322"/>
            <a:ext cx="685800" cy="685800"/>
          </a:xfrm>
          <a:prstGeom prst="rect">
            <a:avLst/>
          </a:prstGeom>
          <a:noFill/>
          <a:ln/>
        </p:spPr>
        <p:txBody>
          <a:bodyPr wrap="square" lIns="0" tIns="0" rIns="0" bIns="0" rtlCol="0" anchor="ctr"/>
          <a:lstStyle/>
          <a:p>
            <a:pPr marL="0" indent="0" algn="ctr">
              <a:buNone/>
            </a:pPr>
            <a:endParaRPr lang="en-US" sz="1100" dirty="0"/>
          </a:p>
        </p:txBody>
      </p:sp>
      <p:sp>
        <p:nvSpPr>
          <p:cNvPr id="15" name="Text 9">
            <a:extLst>
              <a:ext uri="{FF2B5EF4-FFF2-40B4-BE49-F238E27FC236}">
                <a16:creationId xmlns:a16="http://schemas.microsoft.com/office/drawing/2014/main" id="{1727CD55-A525-9C5A-8437-0C2D48DAE90F}"/>
              </a:ext>
            </a:extLst>
          </p:cNvPr>
          <p:cNvSpPr/>
          <p:nvPr/>
        </p:nvSpPr>
        <p:spPr>
          <a:xfrm>
            <a:off x="4450080" y="3205322"/>
            <a:ext cx="685800" cy="685800"/>
          </a:xfrm>
          <a:prstGeom prst="rect">
            <a:avLst/>
          </a:prstGeom>
          <a:noFill/>
          <a:ln/>
        </p:spPr>
        <p:txBody>
          <a:bodyPr wrap="square" lIns="0" tIns="0" rIns="0" bIns="0" rtlCol="0" anchor="ctr"/>
          <a:lstStyle/>
          <a:p>
            <a:pPr marL="0" indent="0" algn="ctr">
              <a:buNone/>
            </a:pPr>
            <a:endParaRPr lang="en-US" sz="1100" dirty="0"/>
          </a:p>
        </p:txBody>
      </p:sp>
      <p:sp>
        <p:nvSpPr>
          <p:cNvPr id="18" name="Text 12">
            <a:extLst>
              <a:ext uri="{FF2B5EF4-FFF2-40B4-BE49-F238E27FC236}">
                <a16:creationId xmlns:a16="http://schemas.microsoft.com/office/drawing/2014/main" id="{3663E29D-C830-FA75-0CA5-B42A772C78A2}"/>
              </a:ext>
            </a:extLst>
          </p:cNvPr>
          <p:cNvSpPr/>
          <p:nvPr/>
        </p:nvSpPr>
        <p:spPr>
          <a:xfrm>
            <a:off x="5410200" y="3205322"/>
            <a:ext cx="685800" cy="685800"/>
          </a:xfrm>
          <a:prstGeom prst="rect">
            <a:avLst/>
          </a:prstGeom>
          <a:noFill/>
          <a:ln/>
        </p:spPr>
        <p:txBody>
          <a:bodyPr wrap="square" lIns="0" tIns="0" rIns="0" bIns="0" rtlCol="0" anchor="ctr"/>
          <a:lstStyle/>
          <a:p>
            <a:pPr algn="ctr"/>
            <a:endParaRPr lang="en-US" sz="1100" dirty="0"/>
          </a:p>
        </p:txBody>
      </p:sp>
      <p:sp>
        <p:nvSpPr>
          <p:cNvPr id="21" name="Text 15">
            <a:extLst>
              <a:ext uri="{FF2B5EF4-FFF2-40B4-BE49-F238E27FC236}">
                <a16:creationId xmlns:a16="http://schemas.microsoft.com/office/drawing/2014/main" id="{08016C6B-A34B-B528-D31F-52B2A21A8622}"/>
              </a:ext>
            </a:extLst>
          </p:cNvPr>
          <p:cNvSpPr/>
          <p:nvPr/>
        </p:nvSpPr>
        <p:spPr>
          <a:xfrm>
            <a:off x="6370320" y="3205322"/>
            <a:ext cx="685800" cy="685800"/>
          </a:xfrm>
          <a:prstGeom prst="rect">
            <a:avLst/>
          </a:prstGeom>
          <a:noFill/>
          <a:ln/>
        </p:spPr>
        <p:txBody>
          <a:bodyPr wrap="square" lIns="0" tIns="0" rIns="0" bIns="0" rtlCol="0" anchor="ctr"/>
          <a:lstStyle/>
          <a:p>
            <a:pPr marL="0" indent="0" algn="ctr">
              <a:buNone/>
            </a:pPr>
            <a:endParaRPr lang="en-US" sz="1100" dirty="0"/>
          </a:p>
        </p:txBody>
      </p:sp>
      <p:sp>
        <p:nvSpPr>
          <p:cNvPr id="24" name="Text 18">
            <a:extLst>
              <a:ext uri="{FF2B5EF4-FFF2-40B4-BE49-F238E27FC236}">
                <a16:creationId xmlns:a16="http://schemas.microsoft.com/office/drawing/2014/main" id="{66FB2A20-A41F-77ED-6EB4-A3F5B3465B32}"/>
              </a:ext>
            </a:extLst>
          </p:cNvPr>
          <p:cNvSpPr/>
          <p:nvPr/>
        </p:nvSpPr>
        <p:spPr>
          <a:xfrm>
            <a:off x="7322820" y="3859274"/>
            <a:ext cx="685800" cy="685800"/>
          </a:xfrm>
          <a:prstGeom prst="rect">
            <a:avLst/>
          </a:prstGeom>
          <a:noFill/>
          <a:ln/>
        </p:spPr>
        <p:txBody>
          <a:bodyPr wrap="square" lIns="0" tIns="0" rIns="0" bIns="0" rtlCol="0" anchor="ctr"/>
          <a:lstStyle/>
          <a:p>
            <a:pPr marL="0" indent="0" algn="ctr">
              <a:buNone/>
            </a:pPr>
            <a:endParaRPr lang="en-US" sz="1100" dirty="0"/>
          </a:p>
        </p:txBody>
      </p:sp>
      <p:pic>
        <p:nvPicPr>
          <p:cNvPr id="43" name="Picture 42">
            <a:extLst>
              <a:ext uri="{FF2B5EF4-FFF2-40B4-BE49-F238E27FC236}">
                <a16:creationId xmlns:a16="http://schemas.microsoft.com/office/drawing/2014/main" id="{380D4EDC-0022-6F4E-D7BF-F85CF5C82E51}"/>
              </a:ext>
            </a:extLst>
          </p:cNvPr>
          <p:cNvPicPr>
            <a:picLocks noChangeAspect="1"/>
          </p:cNvPicPr>
          <p:nvPr/>
        </p:nvPicPr>
        <p:blipFill>
          <a:blip r:embed="rId3"/>
          <a:stretch>
            <a:fillRect/>
          </a:stretch>
        </p:blipFill>
        <p:spPr>
          <a:xfrm>
            <a:off x="8049377" y="3071875"/>
            <a:ext cx="1753469" cy="2148760"/>
          </a:xfrm>
          <a:prstGeom prst="rect">
            <a:avLst/>
          </a:prstGeom>
        </p:spPr>
      </p:pic>
      <p:pic>
        <p:nvPicPr>
          <p:cNvPr id="45" name="Picture 44">
            <a:extLst>
              <a:ext uri="{FF2B5EF4-FFF2-40B4-BE49-F238E27FC236}">
                <a16:creationId xmlns:a16="http://schemas.microsoft.com/office/drawing/2014/main" id="{7FB317D8-793B-35BF-7C31-106F87056A80}"/>
              </a:ext>
            </a:extLst>
          </p:cNvPr>
          <p:cNvPicPr>
            <a:picLocks noChangeAspect="1"/>
          </p:cNvPicPr>
          <p:nvPr/>
        </p:nvPicPr>
        <p:blipFill>
          <a:blip r:embed="rId4"/>
          <a:stretch>
            <a:fillRect/>
          </a:stretch>
        </p:blipFill>
        <p:spPr>
          <a:xfrm>
            <a:off x="2099342" y="2336800"/>
            <a:ext cx="2353317" cy="2883834"/>
          </a:xfrm>
          <a:prstGeom prst="rect">
            <a:avLst/>
          </a:prstGeom>
        </p:spPr>
      </p:pic>
      <p:sp>
        <p:nvSpPr>
          <p:cNvPr id="46" name="TextBox 45">
            <a:extLst>
              <a:ext uri="{FF2B5EF4-FFF2-40B4-BE49-F238E27FC236}">
                <a16:creationId xmlns:a16="http://schemas.microsoft.com/office/drawing/2014/main" id="{A22D0841-51E7-B44D-4987-3E959424046F}"/>
              </a:ext>
            </a:extLst>
          </p:cNvPr>
          <p:cNvSpPr txBox="1"/>
          <p:nvPr/>
        </p:nvSpPr>
        <p:spPr>
          <a:xfrm>
            <a:off x="1959034" y="5220634"/>
            <a:ext cx="2350738" cy="646331"/>
          </a:xfrm>
          <a:prstGeom prst="rect">
            <a:avLst/>
          </a:prstGeom>
          <a:noFill/>
        </p:spPr>
        <p:txBody>
          <a:bodyPr wrap="square" rtlCol="0">
            <a:spAutoFit/>
          </a:bodyPr>
          <a:lstStyle/>
          <a:p>
            <a:pPr algn="ctr"/>
            <a:r>
              <a:rPr lang="en-AU" b="1" dirty="0"/>
              <a:t>Taha Mohammed</a:t>
            </a:r>
          </a:p>
          <a:p>
            <a:pPr algn="ctr"/>
            <a:r>
              <a:rPr lang="en-US" dirty="0"/>
              <a:t>FCAI-CU Student</a:t>
            </a:r>
          </a:p>
        </p:txBody>
      </p:sp>
      <p:sp>
        <p:nvSpPr>
          <p:cNvPr id="47" name="TextBox 46">
            <a:extLst>
              <a:ext uri="{FF2B5EF4-FFF2-40B4-BE49-F238E27FC236}">
                <a16:creationId xmlns:a16="http://schemas.microsoft.com/office/drawing/2014/main" id="{C722F347-E806-DEF5-36CB-36C50F016BCB}"/>
              </a:ext>
            </a:extLst>
          </p:cNvPr>
          <p:cNvSpPr txBox="1"/>
          <p:nvPr/>
        </p:nvSpPr>
        <p:spPr>
          <a:xfrm>
            <a:off x="7714966" y="5220633"/>
            <a:ext cx="2350738" cy="646331"/>
          </a:xfrm>
          <a:prstGeom prst="rect">
            <a:avLst/>
          </a:prstGeom>
          <a:noFill/>
        </p:spPr>
        <p:txBody>
          <a:bodyPr wrap="square" rtlCol="0">
            <a:spAutoFit/>
          </a:bodyPr>
          <a:lstStyle/>
          <a:p>
            <a:pPr algn="ctr"/>
            <a:r>
              <a:rPr lang="en-AU" b="1" dirty="0"/>
              <a:t>Radwa Sayed</a:t>
            </a:r>
          </a:p>
          <a:p>
            <a:pPr algn="ctr"/>
            <a:r>
              <a:rPr lang="en-AU" dirty="0"/>
              <a:t>Bachelor of  BIDT</a:t>
            </a:r>
            <a:endParaRPr lang="en-US" dirty="0"/>
          </a:p>
        </p:txBody>
      </p:sp>
      <p:sp>
        <p:nvSpPr>
          <p:cNvPr id="48" name="TextBox 47">
            <a:extLst>
              <a:ext uri="{FF2B5EF4-FFF2-40B4-BE49-F238E27FC236}">
                <a16:creationId xmlns:a16="http://schemas.microsoft.com/office/drawing/2014/main" id="{1AADDEA6-F6A0-9725-119C-5A1723631A7F}"/>
              </a:ext>
            </a:extLst>
          </p:cNvPr>
          <p:cNvSpPr txBox="1"/>
          <p:nvPr/>
        </p:nvSpPr>
        <p:spPr>
          <a:xfrm>
            <a:off x="4803983" y="2943919"/>
            <a:ext cx="2350738" cy="923330"/>
          </a:xfrm>
          <a:prstGeom prst="rect">
            <a:avLst/>
          </a:prstGeom>
          <a:noFill/>
        </p:spPr>
        <p:txBody>
          <a:bodyPr wrap="square" rtlCol="0">
            <a:spAutoFit/>
          </a:bodyPr>
          <a:lstStyle/>
          <a:p>
            <a:pPr algn="ctr"/>
            <a:r>
              <a:rPr lang="en-AU" b="1" dirty="0"/>
              <a:t>Nourhan Elboraey</a:t>
            </a:r>
          </a:p>
          <a:p>
            <a:pPr algn="ctr"/>
            <a:r>
              <a:rPr lang="en-AU" dirty="0"/>
              <a:t>Team Lead </a:t>
            </a:r>
          </a:p>
          <a:p>
            <a:pPr algn="ctr"/>
            <a:r>
              <a:rPr lang="en-AU" dirty="0"/>
              <a:t>Bachelor of Commerce </a:t>
            </a:r>
            <a:endParaRPr lang="en-US" dirty="0"/>
          </a:p>
        </p:txBody>
      </p:sp>
      <p:pic>
        <p:nvPicPr>
          <p:cNvPr id="50" name="Picture 49">
            <a:extLst>
              <a:ext uri="{FF2B5EF4-FFF2-40B4-BE49-F238E27FC236}">
                <a16:creationId xmlns:a16="http://schemas.microsoft.com/office/drawing/2014/main" id="{87C4DE76-7D64-3E86-28C7-C03F55D90434}"/>
              </a:ext>
            </a:extLst>
          </p:cNvPr>
          <p:cNvPicPr>
            <a:picLocks noChangeAspect="1"/>
          </p:cNvPicPr>
          <p:nvPr/>
        </p:nvPicPr>
        <p:blipFill>
          <a:blip r:embed="rId5"/>
          <a:stretch>
            <a:fillRect/>
          </a:stretch>
        </p:blipFill>
        <p:spPr>
          <a:xfrm>
            <a:off x="4890805" y="381665"/>
            <a:ext cx="2135621" cy="2617062"/>
          </a:xfrm>
          <a:prstGeom prst="rect">
            <a:avLst/>
          </a:prstGeom>
        </p:spPr>
      </p:pic>
    </p:spTree>
    <p:extLst>
      <p:ext uri="{BB962C8B-B14F-4D97-AF65-F5344CB8AC3E}">
        <p14:creationId xmlns:p14="http://schemas.microsoft.com/office/powerpoint/2010/main" val="171574918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Table of Contents">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84048"/>
            <a:ext cx="7315200" cy="274320"/>
          </a:xfrm>
          <a:prstGeom prst="rect">
            <a:avLst/>
          </a:prstGeom>
          <a:noFill/>
          <a:ln/>
        </p:spPr>
        <p:txBody>
          <a:bodyPr wrap="square" lIns="0" tIns="0" rIns="0" bIns="0" rtlCol="0" anchor="ctr"/>
          <a:lstStyle/>
          <a:p>
            <a:pPr marL="0" indent="0">
              <a:buNone/>
            </a:pPr>
            <a:r>
              <a:rPr lang="en-US" sz="1200" b="1" kern="0" spc="200" dirty="0">
                <a:solidFill>
                  <a:srgbClr val="1C7293"/>
                </a:solidFill>
                <a:latin typeface="Calibri" pitchFamily="34" charset="0"/>
                <a:ea typeface="Calibri" pitchFamily="34" charset="-122"/>
                <a:cs typeface="Calibri" pitchFamily="34" charset="-120"/>
              </a:rPr>
              <a:t>OVERVIEW</a:t>
            </a:r>
            <a:endParaRPr lang="en-US" sz="1200" dirty="0"/>
          </a:p>
        </p:txBody>
      </p:sp>
      <p:sp>
        <p:nvSpPr>
          <p:cNvPr id="3" name="Text 1"/>
          <p:cNvSpPr/>
          <p:nvPr/>
        </p:nvSpPr>
        <p:spPr>
          <a:xfrm>
            <a:off x="548640" y="621792"/>
            <a:ext cx="10515600" cy="731520"/>
          </a:xfrm>
          <a:prstGeom prst="rect">
            <a:avLst/>
          </a:prstGeom>
          <a:noFill/>
          <a:ln/>
        </p:spPr>
        <p:txBody>
          <a:bodyPr wrap="square" lIns="0" tIns="0" rIns="0" bIns="0" rtlCol="0" anchor="ctr"/>
          <a:lstStyle/>
          <a:p>
            <a:pPr marL="0" indent="0">
              <a:buNone/>
            </a:pPr>
            <a:r>
              <a:rPr lang="en-US" sz="3200" b="1" dirty="0">
                <a:solidFill>
                  <a:srgbClr val="0B1F33"/>
                </a:solidFill>
                <a:latin typeface="Cambria" pitchFamily="34" charset="0"/>
                <a:ea typeface="Cambria" pitchFamily="34" charset="-122"/>
                <a:cs typeface="Cambria" pitchFamily="34" charset="-120"/>
              </a:rPr>
              <a:t>Table of Contents</a:t>
            </a:r>
            <a:endParaRPr lang="en-US" sz="3200" dirty="0"/>
          </a:p>
        </p:txBody>
      </p:sp>
      <p:sp>
        <p:nvSpPr>
          <p:cNvPr id="4" name="Num 0"/>
          <p:cNvSpPr/>
          <p:nvPr/>
        </p:nvSpPr>
        <p:spPr>
          <a:xfrm>
            <a:off x="548640" y="1750000"/>
            <a:ext cx="640080" cy="548640"/>
          </a:xfrm>
          <a:prstGeom prst="rect">
            <a:avLst/>
          </a:prstGeom>
          <a:noFill/>
          <a:ln/>
        </p:spPr>
        <p:txBody>
          <a:bodyPr wrap="square" lIns="0" tIns="0" rIns="0" bIns="0" rtlCol="0" anchor="ctr"/>
          <a:lstStyle/>
          <a:p>
            <a:pPr marL="0" indent="0">
              <a:buNone/>
            </a:pPr>
            <a:r>
              <a:rPr lang="en-US" sz="2000" b="1" dirty="0">
                <a:solidFill>
                  <a:srgbClr val="471DE1"/>
                </a:solidFill>
                <a:latin typeface="Cambria" pitchFamily="34" charset="0"/>
                <a:ea typeface="Cambria" pitchFamily="34" charset="-122"/>
                <a:cs typeface="Cambria" pitchFamily="34" charset="-120"/>
              </a:rPr>
              <a:t>1</a:t>
            </a:r>
            <a:endParaRPr lang="en-US" sz="2000" dirty="0">
              <a:solidFill>
                <a:srgbClr val="471DE1"/>
              </a:solidFill>
            </a:endParaRPr>
          </a:p>
        </p:txBody>
      </p:sp>
      <p:sp>
        <p:nvSpPr>
          <p:cNvPr id="5" name="Title 0"/>
          <p:cNvSpPr/>
          <p:nvPr/>
        </p:nvSpPr>
        <p:spPr>
          <a:xfrm>
            <a:off x="1234440" y="1736778"/>
            <a:ext cx="4389120" cy="320040"/>
          </a:xfrm>
          <a:prstGeom prst="rect">
            <a:avLst/>
          </a:prstGeom>
          <a:noFill/>
          <a:ln/>
        </p:spPr>
        <p:txBody>
          <a:bodyPr wrap="square" lIns="0" tIns="0" rIns="0" bIns="0" rtlCol="0" anchor="ctr"/>
          <a:lstStyle/>
          <a:p>
            <a:pPr marL="0" indent="0">
              <a:buNone/>
            </a:pPr>
            <a:r>
              <a:rPr lang="en-US" sz="1400" b="1" dirty="0">
                <a:solidFill>
                  <a:srgbClr val="0B1F33"/>
                </a:solidFill>
                <a:latin typeface="Cambria" pitchFamily="34" charset="0"/>
                <a:ea typeface="Cambria" pitchFamily="34" charset="-122"/>
                <a:cs typeface="Cambria" pitchFamily="34" charset="-120"/>
              </a:rPr>
              <a:t>Why This Project</a:t>
            </a:r>
            <a:endParaRPr lang="en-US" sz="1400" dirty="0"/>
          </a:p>
        </p:txBody>
      </p:sp>
      <p:sp>
        <p:nvSpPr>
          <p:cNvPr id="7" name="Num 1"/>
          <p:cNvSpPr/>
          <p:nvPr/>
        </p:nvSpPr>
        <p:spPr>
          <a:xfrm>
            <a:off x="548640" y="2450000"/>
            <a:ext cx="640080" cy="548640"/>
          </a:xfrm>
          <a:prstGeom prst="rect">
            <a:avLst/>
          </a:prstGeom>
          <a:noFill/>
          <a:ln/>
        </p:spPr>
        <p:txBody>
          <a:bodyPr wrap="square" lIns="0" tIns="0" rIns="0" bIns="0" rtlCol="0" anchor="ctr"/>
          <a:lstStyle/>
          <a:p>
            <a:pPr marL="0" indent="0">
              <a:buNone/>
            </a:pPr>
            <a:r>
              <a:rPr lang="en-US" sz="2000" b="1" dirty="0">
                <a:solidFill>
                  <a:srgbClr val="471DE1"/>
                </a:solidFill>
                <a:latin typeface="Cambria" pitchFamily="34" charset="0"/>
                <a:ea typeface="Cambria" pitchFamily="34" charset="-122"/>
                <a:cs typeface="Cambria" pitchFamily="34" charset="-120"/>
              </a:rPr>
              <a:t>2</a:t>
            </a:r>
            <a:endParaRPr lang="en-US" sz="2000" dirty="0">
              <a:solidFill>
                <a:srgbClr val="471DE1"/>
              </a:solidFill>
            </a:endParaRPr>
          </a:p>
        </p:txBody>
      </p:sp>
      <p:sp>
        <p:nvSpPr>
          <p:cNvPr id="8" name="Title 1"/>
          <p:cNvSpPr/>
          <p:nvPr/>
        </p:nvSpPr>
        <p:spPr>
          <a:xfrm>
            <a:off x="1234440" y="2404280"/>
            <a:ext cx="4389120" cy="320040"/>
          </a:xfrm>
          <a:prstGeom prst="rect">
            <a:avLst/>
          </a:prstGeom>
          <a:noFill/>
          <a:ln/>
        </p:spPr>
        <p:txBody>
          <a:bodyPr wrap="square" lIns="0" tIns="0" rIns="0" bIns="0" rtlCol="0" anchor="ctr"/>
          <a:lstStyle/>
          <a:p>
            <a:pPr marL="0" indent="0">
              <a:buNone/>
            </a:pPr>
            <a:r>
              <a:rPr lang="en-US" sz="1400" b="1" dirty="0">
                <a:solidFill>
                  <a:srgbClr val="0B1F33"/>
                </a:solidFill>
                <a:latin typeface="Cambria" pitchFamily="34" charset="0"/>
                <a:ea typeface="Cambria" pitchFamily="34" charset="-122"/>
                <a:cs typeface="Cambria" pitchFamily="34" charset="-120"/>
              </a:rPr>
              <a:t>Dataset Overview</a:t>
            </a:r>
            <a:endParaRPr lang="en-US" sz="1400" dirty="0"/>
          </a:p>
        </p:txBody>
      </p:sp>
      <p:sp>
        <p:nvSpPr>
          <p:cNvPr id="9" name="Ref 1"/>
          <p:cNvSpPr/>
          <p:nvPr/>
        </p:nvSpPr>
        <p:spPr>
          <a:xfrm>
            <a:off x="1234440" y="2724320"/>
            <a:ext cx="4389120" cy="228600"/>
          </a:xfrm>
          <a:prstGeom prst="rect">
            <a:avLst/>
          </a:prstGeom>
          <a:noFill/>
          <a:ln/>
        </p:spPr>
        <p:txBody>
          <a:bodyPr wrap="square" lIns="0" tIns="0" rIns="0" bIns="0" rtlCol="0" anchor="ctr"/>
          <a:lstStyle/>
          <a:p>
            <a:pPr marL="0" indent="0">
              <a:buNone/>
            </a:pPr>
            <a:r>
              <a:rPr lang="en-US" sz="1050" i="1" dirty="0">
                <a:solidFill>
                  <a:srgbClr val="64748B"/>
                </a:solidFill>
                <a:latin typeface="Calibri" pitchFamily="34" charset="0"/>
                <a:ea typeface="Calibri" pitchFamily="34" charset="-122"/>
                <a:cs typeface="Calibri" pitchFamily="34" charset="-120"/>
              </a:rPr>
              <a:t>Slide 4</a:t>
            </a:r>
            <a:endParaRPr lang="en-US" sz="1050" dirty="0"/>
          </a:p>
        </p:txBody>
      </p:sp>
      <p:sp>
        <p:nvSpPr>
          <p:cNvPr id="10" name="Num 2"/>
          <p:cNvSpPr/>
          <p:nvPr/>
        </p:nvSpPr>
        <p:spPr>
          <a:xfrm>
            <a:off x="548640" y="3150000"/>
            <a:ext cx="640080" cy="548640"/>
          </a:xfrm>
          <a:prstGeom prst="rect">
            <a:avLst/>
          </a:prstGeom>
          <a:noFill/>
          <a:ln/>
        </p:spPr>
        <p:txBody>
          <a:bodyPr wrap="square" lIns="0" tIns="0" rIns="0" bIns="0" rtlCol="0" anchor="ctr"/>
          <a:lstStyle/>
          <a:p>
            <a:pPr marL="0" indent="0">
              <a:buNone/>
            </a:pPr>
            <a:r>
              <a:rPr lang="en-US" sz="2000" b="1" dirty="0">
                <a:solidFill>
                  <a:srgbClr val="471DE1"/>
                </a:solidFill>
                <a:latin typeface="Cambria" pitchFamily="34" charset="0"/>
                <a:ea typeface="Cambria" pitchFamily="34" charset="-122"/>
                <a:cs typeface="Cambria" pitchFamily="34" charset="-120"/>
              </a:rPr>
              <a:t>3</a:t>
            </a:r>
            <a:endParaRPr lang="en-US" sz="2000" dirty="0">
              <a:solidFill>
                <a:srgbClr val="471DE1"/>
              </a:solidFill>
            </a:endParaRPr>
          </a:p>
        </p:txBody>
      </p:sp>
      <p:sp>
        <p:nvSpPr>
          <p:cNvPr id="11" name="Title 2"/>
          <p:cNvSpPr/>
          <p:nvPr/>
        </p:nvSpPr>
        <p:spPr>
          <a:xfrm>
            <a:off x="1234440" y="3104280"/>
            <a:ext cx="4389120" cy="320040"/>
          </a:xfrm>
          <a:prstGeom prst="rect">
            <a:avLst/>
          </a:prstGeom>
          <a:noFill/>
          <a:ln/>
        </p:spPr>
        <p:txBody>
          <a:bodyPr wrap="square" lIns="0" tIns="0" rIns="0" bIns="0" rtlCol="0" anchor="ctr"/>
          <a:lstStyle/>
          <a:p>
            <a:pPr marL="0" indent="0">
              <a:buNone/>
            </a:pPr>
            <a:r>
              <a:rPr lang="en-US" sz="1400" b="1" dirty="0">
                <a:solidFill>
                  <a:srgbClr val="0B1F33"/>
                </a:solidFill>
                <a:latin typeface="Cambria" pitchFamily="34" charset="0"/>
                <a:ea typeface="Cambria" pitchFamily="34" charset="-122"/>
                <a:cs typeface="Cambria" pitchFamily="34" charset="-120"/>
              </a:rPr>
              <a:t>Challenges &amp; Limitations</a:t>
            </a:r>
            <a:endParaRPr lang="en-US" sz="1400" dirty="0"/>
          </a:p>
        </p:txBody>
      </p:sp>
      <p:sp>
        <p:nvSpPr>
          <p:cNvPr id="12" name="Ref 2"/>
          <p:cNvSpPr/>
          <p:nvPr/>
        </p:nvSpPr>
        <p:spPr>
          <a:xfrm>
            <a:off x="1234440" y="3424320"/>
            <a:ext cx="4389120" cy="228600"/>
          </a:xfrm>
          <a:prstGeom prst="rect">
            <a:avLst/>
          </a:prstGeom>
          <a:noFill/>
          <a:ln/>
        </p:spPr>
        <p:txBody>
          <a:bodyPr wrap="square" lIns="0" tIns="0" rIns="0" bIns="0" rtlCol="0" anchor="ctr"/>
          <a:lstStyle/>
          <a:p>
            <a:pPr marL="0" indent="0">
              <a:buNone/>
            </a:pPr>
            <a:r>
              <a:rPr lang="en-US" sz="1050" i="1" dirty="0">
                <a:solidFill>
                  <a:srgbClr val="64748B"/>
                </a:solidFill>
                <a:latin typeface="Calibri" pitchFamily="34" charset="0"/>
                <a:ea typeface="Calibri" pitchFamily="34" charset="-122"/>
                <a:cs typeface="Calibri" pitchFamily="34" charset="-120"/>
              </a:rPr>
              <a:t>Slide 5</a:t>
            </a:r>
            <a:endParaRPr lang="en-US" sz="1050" dirty="0"/>
          </a:p>
        </p:txBody>
      </p:sp>
      <p:sp>
        <p:nvSpPr>
          <p:cNvPr id="13" name="Num 3"/>
          <p:cNvSpPr/>
          <p:nvPr/>
        </p:nvSpPr>
        <p:spPr>
          <a:xfrm>
            <a:off x="548640" y="3850000"/>
            <a:ext cx="640080" cy="548640"/>
          </a:xfrm>
          <a:prstGeom prst="rect">
            <a:avLst/>
          </a:prstGeom>
          <a:noFill/>
          <a:ln/>
        </p:spPr>
        <p:txBody>
          <a:bodyPr wrap="square" lIns="0" tIns="0" rIns="0" bIns="0" rtlCol="0" anchor="ctr"/>
          <a:lstStyle/>
          <a:p>
            <a:pPr marL="0" indent="0">
              <a:buNone/>
            </a:pPr>
            <a:r>
              <a:rPr lang="en-US" sz="2000" b="1" dirty="0">
                <a:solidFill>
                  <a:srgbClr val="471DE1"/>
                </a:solidFill>
                <a:latin typeface="Cambria" pitchFamily="34" charset="0"/>
                <a:ea typeface="Cambria" pitchFamily="34" charset="-122"/>
                <a:cs typeface="Cambria" pitchFamily="34" charset="-120"/>
              </a:rPr>
              <a:t>4</a:t>
            </a:r>
            <a:endParaRPr lang="en-US" sz="2000" dirty="0">
              <a:solidFill>
                <a:srgbClr val="471DE1"/>
              </a:solidFill>
            </a:endParaRPr>
          </a:p>
        </p:txBody>
      </p:sp>
      <p:sp>
        <p:nvSpPr>
          <p:cNvPr id="14" name="Title 3"/>
          <p:cNvSpPr/>
          <p:nvPr/>
        </p:nvSpPr>
        <p:spPr>
          <a:xfrm>
            <a:off x="1234440" y="3804280"/>
            <a:ext cx="4389120" cy="320040"/>
          </a:xfrm>
          <a:prstGeom prst="rect">
            <a:avLst/>
          </a:prstGeom>
          <a:noFill/>
          <a:ln/>
        </p:spPr>
        <p:txBody>
          <a:bodyPr wrap="square" lIns="0" tIns="0" rIns="0" bIns="0" rtlCol="0" anchor="ctr"/>
          <a:lstStyle/>
          <a:p>
            <a:pPr marL="0" indent="0">
              <a:buNone/>
            </a:pPr>
            <a:r>
              <a:rPr lang="en-US" sz="1400" b="1" dirty="0">
                <a:solidFill>
                  <a:srgbClr val="0B1F33"/>
                </a:solidFill>
                <a:latin typeface="Cambria" pitchFamily="34" charset="0"/>
                <a:ea typeface="Cambria" pitchFamily="34" charset="-122"/>
                <a:cs typeface="Cambria" pitchFamily="34" charset="-120"/>
              </a:rPr>
              <a:t>The Analytics Tools</a:t>
            </a:r>
            <a:endParaRPr lang="en-US" sz="1400" dirty="0"/>
          </a:p>
        </p:txBody>
      </p:sp>
      <p:sp>
        <p:nvSpPr>
          <p:cNvPr id="15" name="Ref 3"/>
          <p:cNvSpPr/>
          <p:nvPr/>
        </p:nvSpPr>
        <p:spPr>
          <a:xfrm>
            <a:off x="1234440" y="4124320"/>
            <a:ext cx="4389120" cy="228600"/>
          </a:xfrm>
          <a:prstGeom prst="rect">
            <a:avLst/>
          </a:prstGeom>
          <a:noFill/>
          <a:ln/>
        </p:spPr>
        <p:txBody>
          <a:bodyPr wrap="square" lIns="0" tIns="0" rIns="0" bIns="0" rtlCol="0" anchor="ctr"/>
          <a:lstStyle/>
          <a:p>
            <a:pPr marL="0" indent="0">
              <a:buNone/>
            </a:pPr>
            <a:r>
              <a:rPr lang="en-US" sz="1050" i="1" dirty="0">
                <a:solidFill>
                  <a:srgbClr val="64748B"/>
                </a:solidFill>
                <a:latin typeface="Calibri" pitchFamily="34" charset="0"/>
                <a:ea typeface="Calibri" pitchFamily="34" charset="-122"/>
                <a:cs typeface="Calibri" pitchFamily="34" charset="-120"/>
              </a:rPr>
              <a:t>Slide 6</a:t>
            </a:r>
            <a:endParaRPr lang="en-US" sz="1050" dirty="0"/>
          </a:p>
        </p:txBody>
      </p:sp>
      <p:sp>
        <p:nvSpPr>
          <p:cNvPr id="16" name="Num 4"/>
          <p:cNvSpPr/>
          <p:nvPr/>
        </p:nvSpPr>
        <p:spPr>
          <a:xfrm>
            <a:off x="548640" y="4620989"/>
            <a:ext cx="640080" cy="548640"/>
          </a:xfrm>
          <a:prstGeom prst="rect">
            <a:avLst/>
          </a:prstGeom>
          <a:noFill/>
          <a:ln/>
        </p:spPr>
        <p:txBody>
          <a:bodyPr wrap="square" lIns="0" tIns="0" rIns="0" bIns="0" rtlCol="0" anchor="ctr"/>
          <a:lstStyle/>
          <a:p>
            <a:pPr marL="0" indent="0">
              <a:buNone/>
            </a:pPr>
            <a:r>
              <a:rPr lang="en-US" sz="2000" b="1" dirty="0">
                <a:solidFill>
                  <a:srgbClr val="471DE1"/>
                </a:solidFill>
                <a:latin typeface="Cambria" pitchFamily="34" charset="0"/>
                <a:ea typeface="Cambria" pitchFamily="34" charset="-122"/>
                <a:cs typeface="Cambria" pitchFamily="34" charset="-120"/>
              </a:rPr>
              <a:t>5</a:t>
            </a:r>
            <a:endParaRPr lang="en-US" sz="2000" dirty="0">
              <a:solidFill>
                <a:srgbClr val="471DE1"/>
              </a:solidFill>
            </a:endParaRPr>
          </a:p>
        </p:txBody>
      </p:sp>
      <p:sp>
        <p:nvSpPr>
          <p:cNvPr id="17" name="Title 4"/>
          <p:cNvSpPr/>
          <p:nvPr/>
        </p:nvSpPr>
        <p:spPr>
          <a:xfrm>
            <a:off x="1234440" y="4504280"/>
            <a:ext cx="4389120" cy="320040"/>
          </a:xfrm>
          <a:prstGeom prst="rect">
            <a:avLst/>
          </a:prstGeom>
          <a:noFill/>
          <a:ln/>
        </p:spPr>
        <p:txBody>
          <a:bodyPr wrap="square" lIns="0" tIns="0" rIns="0" bIns="0" rtlCol="0" anchor="ctr"/>
          <a:lstStyle/>
          <a:p>
            <a:pPr marL="0" indent="0">
              <a:buNone/>
            </a:pPr>
            <a:r>
              <a:rPr lang="en-US" sz="1400" b="1" dirty="0">
                <a:solidFill>
                  <a:srgbClr val="0B1F33"/>
                </a:solidFill>
                <a:latin typeface="Cambria" pitchFamily="34" charset="0"/>
                <a:ea typeface="Cambria" pitchFamily="34" charset="-122"/>
                <a:cs typeface="Cambria" pitchFamily="34" charset="-120"/>
              </a:rPr>
              <a:t>Excel — Data Modeling &amp; Dashboards</a:t>
            </a:r>
            <a:endParaRPr lang="en-US" sz="1400" dirty="0"/>
          </a:p>
        </p:txBody>
      </p:sp>
      <p:sp>
        <p:nvSpPr>
          <p:cNvPr id="18" name="Ref 4"/>
          <p:cNvSpPr/>
          <p:nvPr/>
        </p:nvSpPr>
        <p:spPr>
          <a:xfrm>
            <a:off x="1234440" y="4824320"/>
            <a:ext cx="4389120" cy="228600"/>
          </a:xfrm>
          <a:prstGeom prst="rect">
            <a:avLst/>
          </a:prstGeom>
          <a:noFill/>
          <a:ln/>
        </p:spPr>
        <p:txBody>
          <a:bodyPr wrap="square" lIns="0" tIns="0" rIns="0" bIns="0" rtlCol="0" anchor="ctr"/>
          <a:lstStyle/>
          <a:p>
            <a:pPr marL="0" indent="0">
              <a:buNone/>
            </a:pPr>
            <a:r>
              <a:rPr lang="en-US" sz="1050" i="1" dirty="0">
                <a:solidFill>
                  <a:srgbClr val="64748B"/>
                </a:solidFill>
                <a:latin typeface="Calibri" pitchFamily="34" charset="0"/>
                <a:ea typeface="Calibri" pitchFamily="34" charset="-122"/>
                <a:cs typeface="Calibri" pitchFamily="34" charset="-120"/>
              </a:rPr>
              <a:t>Slides 7–9</a:t>
            </a:r>
            <a:endParaRPr lang="en-US" sz="1050" dirty="0"/>
          </a:p>
        </p:txBody>
      </p:sp>
      <p:sp>
        <p:nvSpPr>
          <p:cNvPr id="19" name="Num 5"/>
          <p:cNvSpPr/>
          <p:nvPr/>
        </p:nvSpPr>
        <p:spPr>
          <a:xfrm>
            <a:off x="548640" y="5250000"/>
            <a:ext cx="640080" cy="548640"/>
          </a:xfrm>
          <a:prstGeom prst="rect">
            <a:avLst/>
          </a:prstGeom>
          <a:noFill/>
          <a:ln/>
        </p:spPr>
        <p:txBody>
          <a:bodyPr wrap="square" lIns="0" tIns="0" rIns="0" bIns="0" rtlCol="0" anchor="ctr"/>
          <a:lstStyle/>
          <a:p>
            <a:pPr marL="0" indent="0">
              <a:buNone/>
            </a:pPr>
            <a:r>
              <a:rPr lang="en-US" sz="2000" b="1" dirty="0">
                <a:solidFill>
                  <a:srgbClr val="471DE1"/>
                </a:solidFill>
                <a:latin typeface="Cambria" pitchFamily="34" charset="0"/>
                <a:ea typeface="Cambria" pitchFamily="34" charset="-122"/>
                <a:cs typeface="Cambria" pitchFamily="34" charset="-120"/>
              </a:rPr>
              <a:t>6</a:t>
            </a:r>
            <a:endParaRPr lang="en-US" sz="2000" dirty="0">
              <a:solidFill>
                <a:srgbClr val="471DE1"/>
              </a:solidFill>
            </a:endParaRPr>
          </a:p>
        </p:txBody>
      </p:sp>
      <p:sp>
        <p:nvSpPr>
          <p:cNvPr id="20" name="Title 5"/>
          <p:cNvSpPr/>
          <p:nvPr/>
        </p:nvSpPr>
        <p:spPr>
          <a:xfrm>
            <a:off x="1234440" y="5204280"/>
            <a:ext cx="4389120" cy="320040"/>
          </a:xfrm>
          <a:prstGeom prst="rect">
            <a:avLst/>
          </a:prstGeom>
          <a:noFill/>
          <a:ln/>
        </p:spPr>
        <p:txBody>
          <a:bodyPr wrap="square" lIns="0" tIns="0" rIns="0" bIns="0" rtlCol="0" anchor="ctr"/>
          <a:lstStyle/>
          <a:p>
            <a:pPr marL="0" indent="0">
              <a:buNone/>
            </a:pPr>
            <a:r>
              <a:rPr lang="en-US" sz="1400" b="1" dirty="0">
                <a:solidFill>
                  <a:srgbClr val="0B1F33"/>
                </a:solidFill>
                <a:latin typeface="Cambria" pitchFamily="34" charset="0"/>
                <a:ea typeface="Cambria" pitchFamily="34" charset="-122"/>
                <a:cs typeface="Cambria" pitchFamily="34" charset="-120"/>
              </a:rPr>
              <a:t>SQL — Modeling &amp; KPI Queries</a:t>
            </a:r>
            <a:endParaRPr lang="en-US" sz="1400" dirty="0"/>
          </a:p>
        </p:txBody>
      </p:sp>
      <p:sp>
        <p:nvSpPr>
          <p:cNvPr id="21" name="Ref 5"/>
          <p:cNvSpPr/>
          <p:nvPr/>
        </p:nvSpPr>
        <p:spPr>
          <a:xfrm>
            <a:off x="1234440" y="5524320"/>
            <a:ext cx="4389120" cy="228600"/>
          </a:xfrm>
          <a:prstGeom prst="rect">
            <a:avLst/>
          </a:prstGeom>
          <a:noFill/>
          <a:ln/>
        </p:spPr>
        <p:txBody>
          <a:bodyPr wrap="square" lIns="0" tIns="0" rIns="0" bIns="0" rtlCol="0" anchor="ctr"/>
          <a:lstStyle/>
          <a:p>
            <a:pPr marL="0" indent="0">
              <a:buNone/>
            </a:pPr>
            <a:r>
              <a:rPr lang="en-US" sz="1050" i="1" dirty="0">
                <a:solidFill>
                  <a:srgbClr val="64748B"/>
                </a:solidFill>
                <a:latin typeface="Calibri" pitchFamily="34" charset="0"/>
                <a:ea typeface="Calibri" pitchFamily="34" charset="-122"/>
                <a:cs typeface="Calibri" pitchFamily="34" charset="-120"/>
              </a:rPr>
              <a:t>Slides 10–12</a:t>
            </a:r>
            <a:endParaRPr lang="en-US" sz="1050" dirty="0"/>
          </a:p>
        </p:txBody>
      </p:sp>
      <p:sp>
        <p:nvSpPr>
          <p:cNvPr id="22" name="Num 6"/>
          <p:cNvSpPr/>
          <p:nvPr/>
        </p:nvSpPr>
        <p:spPr>
          <a:xfrm>
            <a:off x="6263640" y="1750000"/>
            <a:ext cx="640080" cy="548640"/>
          </a:xfrm>
          <a:prstGeom prst="rect">
            <a:avLst/>
          </a:prstGeom>
          <a:noFill/>
          <a:ln/>
        </p:spPr>
        <p:txBody>
          <a:bodyPr wrap="square" lIns="0" tIns="0" rIns="0" bIns="0" rtlCol="0" anchor="ctr"/>
          <a:lstStyle/>
          <a:p>
            <a:pPr marL="0" indent="0">
              <a:buNone/>
            </a:pPr>
            <a:r>
              <a:rPr lang="en-US" sz="2000" b="1" dirty="0">
                <a:solidFill>
                  <a:srgbClr val="471DE1"/>
                </a:solidFill>
                <a:latin typeface="Cambria" pitchFamily="34" charset="0"/>
                <a:ea typeface="Cambria" pitchFamily="34" charset="-122"/>
                <a:cs typeface="Cambria" pitchFamily="34" charset="-120"/>
              </a:rPr>
              <a:t>7</a:t>
            </a:r>
            <a:endParaRPr lang="en-US" sz="2000" dirty="0">
              <a:solidFill>
                <a:srgbClr val="471DE1"/>
              </a:solidFill>
            </a:endParaRPr>
          </a:p>
        </p:txBody>
      </p:sp>
      <p:sp>
        <p:nvSpPr>
          <p:cNvPr id="23" name="Title 6"/>
          <p:cNvSpPr/>
          <p:nvPr/>
        </p:nvSpPr>
        <p:spPr>
          <a:xfrm>
            <a:off x="6949440" y="1704280"/>
            <a:ext cx="4389120" cy="320040"/>
          </a:xfrm>
          <a:prstGeom prst="rect">
            <a:avLst/>
          </a:prstGeom>
          <a:noFill/>
          <a:ln/>
        </p:spPr>
        <p:txBody>
          <a:bodyPr wrap="square" lIns="0" tIns="0" rIns="0" bIns="0" rtlCol="0" anchor="ctr"/>
          <a:lstStyle/>
          <a:p>
            <a:pPr marL="0" indent="0">
              <a:buNone/>
            </a:pPr>
            <a:r>
              <a:rPr lang="en-US" sz="1400" b="1" dirty="0">
                <a:solidFill>
                  <a:srgbClr val="0B1F33"/>
                </a:solidFill>
                <a:latin typeface="Cambria" pitchFamily="34" charset="0"/>
                <a:ea typeface="Cambria" pitchFamily="34" charset="-122"/>
                <a:cs typeface="Cambria" pitchFamily="34" charset="-120"/>
              </a:rPr>
              <a:t>Python — Cleaning, EDA &amp; Features</a:t>
            </a:r>
            <a:endParaRPr lang="en-US" sz="1400" dirty="0"/>
          </a:p>
        </p:txBody>
      </p:sp>
      <p:sp>
        <p:nvSpPr>
          <p:cNvPr id="24" name="Ref 6"/>
          <p:cNvSpPr/>
          <p:nvPr/>
        </p:nvSpPr>
        <p:spPr>
          <a:xfrm>
            <a:off x="6949440" y="2024320"/>
            <a:ext cx="4389120" cy="228600"/>
          </a:xfrm>
          <a:prstGeom prst="rect">
            <a:avLst/>
          </a:prstGeom>
          <a:noFill/>
          <a:ln/>
        </p:spPr>
        <p:txBody>
          <a:bodyPr wrap="square" lIns="0" tIns="0" rIns="0" bIns="0" rtlCol="0" anchor="ctr"/>
          <a:lstStyle/>
          <a:p>
            <a:pPr marL="0" indent="0">
              <a:buNone/>
            </a:pPr>
            <a:r>
              <a:rPr lang="en-US" sz="1050" i="1" dirty="0">
                <a:solidFill>
                  <a:srgbClr val="64748B"/>
                </a:solidFill>
                <a:latin typeface="Calibri" pitchFamily="34" charset="0"/>
                <a:ea typeface="Calibri" pitchFamily="34" charset="-122"/>
                <a:cs typeface="Calibri" pitchFamily="34" charset="-120"/>
              </a:rPr>
              <a:t>Slide 13</a:t>
            </a:r>
            <a:endParaRPr lang="en-US" sz="1050" dirty="0"/>
          </a:p>
        </p:txBody>
      </p:sp>
      <p:sp>
        <p:nvSpPr>
          <p:cNvPr id="25" name="Num 7"/>
          <p:cNvSpPr/>
          <p:nvPr/>
        </p:nvSpPr>
        <p:spPr>
          <a:xfrm>
            <a:off x="6263640" y="2450000"/>
            <a:ext cx="640080" cy="548640"/>
          </a:xfrm>
          <a:prstGeom prst="rect">
            <a:avLst/>
          </a:prstGeom>
          <a:noFill/>
          <a:ln/>
        </p:spPr>
        <p:txBody>
          <a:bodyPr wrap="square" lIns="0" tIns="0" rIns="0" bIns="0" rtlCol="0" anchor="ctr"/>
          <a:lstStyle/>
          <a:p>
            <a:pPr marL="0" indent="0">
              <a:buNone/>
            </a:pPr>
            <a:r>
              <a:rPr lang="en-US" sz="2000" b="1" dirty="0">
                <a:solidFill>
                  <a:srgbClr val="471DE1"/>
                </a:solidFill>
                <a:latin typeface="Cambria" pitchFamily="34" charset="0"/>
                <a:ea typeface="Cambria" pitchFamily="34" charset="-122"/>
                <a:cs typeface="Cambria" pitchFamily="34" charset="-120"/>
              </a:rPr>
              <a:t>8</a:t>
            </a:r>
            <a:endParaRPr lang="en-US" sz="2000" dirty="0">
              <a:solidFill>
                <a:srgbClr val="471DE1"/>
              </a:solidFill>
            </a:endParaRPr>
          </a:p>
        </p:txBody>
      </p:sp>
      <p:sp>
        <p:nvSpPr>
          <p:cNvPr id="26" name="Title 7"/>
          <p:cNvSpPr/>
          <p:nvPr/>
        </p:nvSpPr>
        <p:spPr>
          <a:xfrm>
            <a:off x="6949440" y="2404280"/>
            <a:ext cx="4389120" cy="320040"/>
          </a:xfrm>
          <a:prstGeom prst="rect">
            <a:avLst/>
          </a:prstGeom>
          <a:noFill/>
          <a:ln/>
        </p:spPr>
        <p:txBody>
          <a:bodyPr wrap="square" lIns="0" tIns="0" rIns="0" bIns="0" rtlCol="0" anchor="ctr"/>
          <a:lstStyle/>
          <a:p>
            <a:pPr marL="0" indent="0">
              <a:buNone/>
            </a:pPr>
            <a:r>
              <a:rPr lang="en-US" sz="1400" b="1" dirty="0">
                <a:solidFill>
                  <a:srgbClr val="0B1F33"/>
                </a:solidFill>
                <a:latin typeface="Cambria" pitchFamily="34" charset="0"/>
                <a:ea typeface="Cambria" pitchFamily="34" charset="-122"/>
                <a:cs typeface="Cambria" pitchFamily="34" charset="-120"/>
              </a:rPr>
              <a:t>Python — Risk Factor Analysis</a:t>
            </a:r>
            <a:endParaRPr lang="en-US" sz="1400" dirty="0"/>
          </a:p>
        </p:txBody>
      </p:sp>
      <p:sp>
        <p:nvSpPr>
          <p:cNvPr id="27" name="Ref 7"/>
          <p:cNvSpPr/>
          <p:nvPr/>
        </p:nvSpPr>
        <p:spPr>
          <a:xfrm>
            <a:off x="6949440" y="2724320"/>
            <a:ext cx="4389120" cy="228600"/>
          </a:xfrm>
          <a:prstGeom prst="rect">
            <a:avLst/>
          </a:prstGeom>
          <a:noFill/>
          <a:ln/>
        </p:spPr>
        <p:txBody>
          <a:bodyPr wrap="square" lIns="0" tIns="0" rIns="0" bIns="0" rtlCol="0" anchor="ctr"/>
          <a:lstStyle/>
          <a:p>
            <a:pPr marL="0" indent="0">
              <a:buNone/>
            </a:pPr>
            <a:r>
              <a:rPr lang="en-US" sz="1050" i="1" dirty="0">
                <a:solidFill>
                  <a:srgbClr val="64748B"/>
                </a:solidFill>
                <a:latin typeface="Calibri" pitchFamily="34" charset="0"/>
                <a:ea typeface="Calibri" pitchFamily="34" charset="-122"/>
                <a:cs typeface="Calibri" pitchFamily="34" charset="-120"/>
              </a:rPr>
              <a:t>Slides 14–17</a:t>
            </a:r>
            <a:endParaRPr lang="en-US" sz="1050" dirty="0"/>
          </a:p>
        </p:txBody>
      </p:sp>
      <p:sp>
        <p:nvSpPr>
          <p:cNvPr id="28" name="Num 8"/>
          <p:cNvSpPr/>
          <p:nvPr/>
        </p:nvSpPr>
        <p:spPr>
          <a:xfrm>
            <a:off x="6263640" y="3150000"/>
            <a:ext cx="640080" cy="548640"/>
          </a:xfrm>
          <a:prstGeom prst="rect">
            <a:avLst/>
          </a:prstGeom>
          <a:noFill/>
          <a:ln/>
        </p:spPr>
        <p:txBody>
          <a:bodyPr wrap="square" lIns="0" tIns="0" rIns="0" bIns="0" rtlCol="0" anchor="ctr"/>
          <a:lstStyle/>
          <a:p>
            <a:pPr marL="0" indent="0">
              <a:buNone/>
            </a:pPr>
            <a:r>
              <a:rPr lang="en-US" sz="2000" b="1" dirty="0">
                <a:solidFill>
                  <a:srgbClr val="471DE1"/>
                </a:solidFill>
                <a:latin typeface="Cambria" pitchFamily="34" charset="0"/>
                <a:ea typeface="Cambria" pitchFamily="34" charset="-122"/>
                <a:cs typeface="Cambria" pitchFamily="34" charset="-120"/>
              </a:rPr>
              <a:t>9</a:t>
            </a:r>
            <a:endParaRPr lang="en-US" sz="2000" dirty="0">
              <a:solidFill>
                <a:srgbClr val="471DE1"/>
              </a:solidFill>
            </a:endParaRPr>
          </a:p>
        </p:txBody>
      </p:sp>
      <p:sp>
        <p:nvSpPr>
          <p:cNvPr id="29" name="Title 8"/>
          <p:cNvSpPr/>
          <p:nvPr/>
        </p:nvSpPr>
        <p:spPr>
          <a:xfrm>
            <a:off x="6949440" y="3104280"/>
            <a:ext cx="4389120" cy="320040"/>
          </a:xfrm>
          <a:prstGeom prst="rect">
            <a:avLst/>
          </a:prstGeom>
          <a:noFill/>
          <a:ln/>
        </p:spPr>
        <p:txBody>
          <a:bodyPr wrap="square" lIns="0" tIns="0" rIns="0" bIns="0" rtlCol="0" anchor="ctr"/>
          <a:lstStyle/>
          <a:p>
            <a:pPr marL="0" indent="0">
              <a:buNone/>
            </a:pPr>
            <a:r>
              <a:rPr lang="en-US" sz="1400" b="1" dirty="0">
                <a:solidFill>
                  <a:srgbClr val="0B1F33"/>
                </a:solidFill>
                <a:latin typeface="Cambria" pitchFamily="34" charset="0"/>
                <a:ea typeface="Cambria" pitchFamily="34" charset="-122"/>
                <a:cs typeface="Cambria" pitchFamily="34" charset="-120"/>
              </a:rPr>
              <a:t>Power BI — Executive View</a:t>
            </a:r>
            <a:endParaRPr lang="en-US" sz="1400" dirty="0"/>
          </a:p>
        </p:txBody>
      </p:sp>
      <p:sp>
        <p:nvSpPr>
          <p:cNvPr id="30" name="Ref 8"/>
          <p:cNvSpPr/>
          <p:nvPr/>
        </p:nvSpPr>
        <p:spPr>
          <a:xfrm>
            <a:off x="6949440" y="3424320"/>
            <a:ext cx="4389120" cy="228600"/>
          </a:xfrm>
          <a:prstGeom prst="rect">
            <a:avLst/>
          </a:prstGeom>
          <a:noFill/>
          <a:ln/>
        </p:spPr>
        <p:txBody>
          <a:bodyPr wrap="square" lIns="0" tIns="0" rIns="0" bIns="0" rtlCol="0" anchor="ctr"/>
          <a:lstStyle/>
          <a:p>
            <a:pPr marL="0" indent="0">
              <a:buNone/>
            </a:pPr>
            <a:r>
              <a:rPr lang="en-US" sz="1050" i="1" dirty="0">
                <a:solidFill>
                  <a:srgbClr val="64748B"/>
                </a:solidFill>
                <a:latin typeface="Calibri" pitchFamily="34" charset="0"/>
                <a:ea typeface="Calibri" pitchFamily="34" charset="-122"/>
                <a:cs typeface="Calibri" pitchFamily="34" charset="-120"/>
              </a:rPr>
              <a:t>Slides 18–22</a:t>
            </a:r>
            <a:endParaRPr lang="en-US" sz="1050" dirty="0"/>
          </a:p>
        </p:txBody>
      </p:sp>
      <p:sp>
        <p:nvSpPr>
          <p:cNvPr id="31" name="Num 9"/>
          <p:cNvSpPr/>
          <p:nvPr/>
        </p:nvSpPr>
        <p:spPr>
          <a:xfrm>
            <a:off x="6263640" y="3850000"/>
            <a:ext cx="640080" cy="548640"/>
          </a:xfrm>
          <a:prstGeom prst="rect">
            <a:avLst/>
          </a:prstGeom>
          <a:noFill/>
          <a:ln/>
        </p:spPr>
        <p:txBody>
          <a:bodyPr wrap="square" lIns="0" tIns="0" rIns="0" bIns="0" rtlCol="0" anchor="ctr"/>
          <a:lstStyle/>
          <a:p>
            <a:pPr marL="0" indent="0">
              <a:buNone/>
            </a:pPr>
            <a:r>
              <a:rPr lang="en-US" sz="2000" b="1" dirty="0">
                <a:solidFill>
                  <a:srgbClr val="471DE1"/>
                </a:solidFill>
                <a:latin typeface="Cambria" pitchFamily="34" charset="0"/>
                <a:ea typeface="Cambria" pitchFamily="34" charset="-122"/>
                <a:cs typeface="Cambria" pitchFamily="34" charset="-120"/>
              </a:rPr>
              <a:t>10</a:t>
            </a:r>
            <a:endParaRPr lang="en-US" sz="2000" dirty="0">
              <a:solidFill>
                <a:srgbClr val="471DE1"/>
              </a:solidFill>
            </a:endParaRPr>
          </a:p>
        </p:txBody>
      </p:sp>
      <p:sp>
        <p:nvSpPr>
          <p:cNvPr id="32" name="Title 9"/>
          <p:cNvSpPr/>
          <p:nvPr/>
        </p:nvSpPr>
        <p:spPr>
          <a:xfrm>
            <a:off x="6949440" y="3804280"/>
            <a:ext cx="4389120" cy="320040"/>
          </a:xfrm>
          <a:prstGeom prst="rect">
            <a:avLst/>
          </a:prstGeom>
          <a:noFill/>
          <a:ln/>
        </p:spPr>
        <p:txBody>
          <a:bodyPr wrap="square" lIns="0" tIns="0" rIns="0" bIns="0" rtlCol="0" anchor="ctr"/>
          <a:lstStyle/>
          <a:p>
            <a:pPr marL="0" indent="0">
              <a:buNone/>
            </a:pPr>
            <a:r>
              <a:rPr lang="en-US" sz="1400" b="1" dirty="0">
                <a:solidFill>
                  <a:srgbClr val="0B1F33"/>
                </a:solidFill>
                <a:latin typeface="Cambria" pitchFamily="34" charset="0"/>
                <a:ea typeface="Cambria" pitchFamily="34" charset="-122"/>
                <a:cs typeface="Cambria" pitchFamily="34" charset="-120"/>
              </a:rPr>
              <a:t>Tableau — Exploratory View</a:t>
            </a:r>
            <a:endParaRPr lang="en-US" sz="1400" dirty="0"/>
          </a:p>
        </p:txBody>
      </p:sp>
      <p:sp>
        <p:nvSpPr>
          <p:cNvPr id="33" name="Ref 9"/>
          <p:cNvSpPr/>
          <p:nvPr/>
        </p:nvSpPr>
        <p:spPr>
          <a:xfrm>
            <a:off x="6949440" y="4124320"/>
            <a:ext cx="4389120" cy="228600"/>
          </a:xfrm>
          <a:prstGeom prst="rect">
            <a:avLst/>
          </a:prstGeom>
          <a:noFill/>
          <a:ln/>
        </p:spPr>
        <p:txBody>
          <a:bodyPr wrap="square" lIns="0" tIns="0" rIns="0" bIns="0" rtlCol="0" anchor="ctr"/>
          <a:lstStyle/>
          <a:p>
            <a:pPr marL="0" indent="0">
              <a:buNone/>
            </a:pPr>
            <a:r>
              <a:rPr lang="en-US" sz="1050" i="1" dirty="0">
                <a:solidFill>
                  <a:srgbClr val="64748B"/>
                </a:solidFill>
                <a:latin typeface="Calibri" pitchFamily="34" charset="0"/>
                <a:ea typeface="Calibri" pitchFamily="34" charset="-122"/>
                <a:cs typeface="Calibri" pitchFamily="34" charset="-120"/>
              </a:rPr>
              <a:t>Slides 23–26</a:t>
            </a:r>
            <a:endParaRPr lang="en-US" sz="1050" dirty="0"/>
          </a:p>
        </p:txBody>
      </p:sp>
      <p:sp>
        <p:nvSpPr>
          <p:cNvPr id="34" name="Num 10"/>
          <p:cNvSpPr/>
          <p:nvPr/>
        </p:nvSpPr>
        <p:spPr>
          <a:xfrm>
            <a:off x="6263640" y="4550000"/>
            <a:ext cx="640080" cy="548640"/>
          </a:xfrm>
          <a:prstGeom prst="rect">
            <a:avLst/>
          </a:prstGeom>
          <a:noFill/>
          <a:ln/>
        </p:spPr>
        <p:txBody>
          <a:bodyPr wrap="square" lIns="0" tIns="0" rIns="0" bIns="0" rtlCol="0" anchor="ctr"/>
          <a:lstStyle/>
          <a:p>
            <a:pPr marL="0" indent="0">
              <a:buNone/>
            </a:pPr>
            <a:r>
              <a:rPr lang="en-US" sz="2000" b="1" dirty="0">
                <a:solidFill>
                  <a:srgbClr val="471DE1"/>
                </a:solidFill>
                <a:latin typeface="Cambria" pitchFamily="34" charset="0"/>
                <a:ea typeface="Cambria" pitchFamily="34" charset="-122"/>
                <a:cs typeface="Cambria" pitchFamily="34" charset="-120"/>
              </a:rPr>
              <a:t>11</a:t>
            </a:r>
            <a:endParaRPr lang="en-US" sz="2000" dirty="0">
              <a:solidFill>
                <a:srgbClr val="471DE1"/>
              </a:solidFill>
            </a:endParaRPr>
          </a:p>
        </p:txBody>
      </p:sp>
      <p:sp>
        <p:nvSpPr>
          <p:cNvPr id="35" name="Title 10"/>
          <p:cNvSpPr/>
          <p:nvPr/>
        </p:nvSpPr>
        <p:spPr>
          <a:xfrm>
            <a:off x="6949440" y="4504280"/>
            <a:ext cx="4389120" cy="320040"/>
          </a:xfrm>
          <a:prstGeom prst="rect">
            <a:avLst/>
          </a:prstGeom>
          <a:noFill/>
          <a:ln/>
        </p:spPr>
        <p:txBody>
          <a:bodyPr wrap="square" lIns="0" tIns="0" rIns="0" bIns="0" rtlCol="0" anchor="ctr"/>
          <a:lstStyle/>
          <a:p>
            <a:pPr marL="0" indent="0">
              <a:buNone/>
            </a:pPr>
            <a:r>
              <a:rPr lang="en-US" sz="1400" b="1" dirty="0">
                <a:solidFill>
                  <a:srgbClr val="0B1F33"/>
                </a:solidFill>
                <a:latin typeface="Cambria" pitchFamily="34" charset="0"/>
                <a:ea typeface="Cambria" pitchFamily="34" charset="-122"/>
                <a:cs typeface="Cambria" pitchFamily="34" charset="-120"/>
              </a:rPr>
              <a:t>Key Insights &amp; Recommendations</a:t>
            </a:r>
            <a:endParaRPr lang="en-US" sz="1400" dirty="0"/>
          </a:p>
        </p:txBody>
      </p:sp>
      <p:sp>
        <p:nvSpPr>
          <p:cNvPr id="36" name="Ref 10"/>
          <p:cNvSpPr/>
          <p:nvPr/>
        </p:nvSpPr>
        <p:spPr>
          <a:xfrm>
            <a:off x="6949440" y="4824320"/>
            <a:ext cx="4389120" cy="228600"/>
          </a:xfrm>
          <a:prstGeom prst="rect">
            <a:avLst/>
          </a:prstGeom>
          <a:noFill/>
          <a:ln/>
        </p:spPr>
        <p:txBody>
          <a:bodyPr wrap="square" lIns="0" tIns="0" rIns="0" bIns="0" rtlCol="0" anchor="ctr"/>
          <a:lstStyle/>
          <a:p>
            <a:pPr marL="0" indent="0">
              <a:buNone/>
            </a:pPr>
            <a:r>
              <a:rPr lang="en-US" sz="1050" i="1" dirty="0">
                <a:solidFill>
                  <a:srgbClr val="64748B"/>
                </a:solidFill>
                <a:latin typeface="Calibri" pitchFamily="34" charset="0"/>
                <a:ea typeface="Calibri" pitchFamily="34" charset="-122"/>
                <a:cs typeface="Calibri" pitchFamily="34" charset="-120"/>
              </a:rPr>
              <a:t>Slides 27–28</a:t>
            </a:r>
            <a:endParaRPr lang="en-US" sz="1050" dirty="0"/>
          </a:p>
        </p:txBody>
      </p:sp>
      <p:sp>
        <p:nvSpPr>
          <p:cNvPr id="37" name="Num 11"/>
          <p:cNvSpPr/>
          <p:nvPr/>
        </p:nvSpPr>
        <p:spPr>
          <a:xfrm>
            <a:off x="6263640" y="5250000"/>
            <a:ext cx="640080" cy="548640"/>
          </a:xfrm>
          <a:prstGeom prst="rect">
            <a:avLst/>
          </a:prstGeom>
          <a:noFill/>
          <a:ln/>
        </p:spPr>
        <p:txBody>
          <a:bodyPr wrap="square" lIns="0" tIns="0" rIns="0" bIns="0" rtlCol="0" anchor="ctr"/>
          <a:lstStyle/>
          <a:p>
            <a:pPr marL="0" indent="0">
              <a:buNone/>
            </a:pPr>
            <a:r>
              <a:rPr lang="en-US" sz="2000" b="1" dirty="0">
                <a:solidFill>
                  <a:srgbClr val="471DE1"/>
                </a:solidFill>
                <a:latin typeface="Cambria" pitchFamily="34" charset="0"/>
                <a:ea typeface="Cambria" pitchFamily="34" charset="-122"/>
                <a:cs typeface="Cambria" pitchFamily="34" charset="-120"/>
              </a:rPr>
              <a:t>12</a:t>
            </a:r>
            <a:endParaRPr lang="en-US" sz="2000" dirty="0">
              <a:solidFill>
                <a:srgbClr val="471DE1"/>
              </a:solidFill>
            </a:endParaRPr>
          </a:p>
        </p:txBody>
      </p:sp>
      <p:sp>
        <p:nvSpPr>
          <p:cNvPr id="38" name="Title 11"/>
          <p:cNvSpPr/>
          <p:nvPr/>
        </p:nvSpPr>
        <p:spPr>
          <a:xfrm>
            <a:off x="6949440" y="5204280"/>
            <a:ext cx="4389120" cy="320040"/>
          </a:xfrm>
          <a:prstGeom prst="rect">
            <a:avLst/>
          </a:prstGeom>
          <a:noFill/>
          <a:ln/>
        </p:spPr>
        <p:txBody>
          <a:bodyPr wrap="square" lIns="0" tIns="0" rIns="0" bIns="0" rtlCol="0" anchor="ctr"/>
          <a:lstStyle/>
          <a:p>
            <a:pPr marL="0" indent="0">
              <a:buNone/>
            </a:pPr>
            <a:r>
              <a:rPr lang="en-US" sz="1400" b="1" dirty="0">
                <a:solidFill>
                  <a:srgbClr val="0B1F33"/>
                </a:solidFill>
                <a:latin typeface="Cambria" pitchFamily="34" charset="0"/>
                <a:ea typeface="Cambria" pitchFamily="34" charset="-122"/>
                <a:cs typeface="Cambria" pitchFamily="34" charset="-120"/>
              </a:rPr>
              <a:t>Conclusion</a:t>
            </a:r>
            <a:endParaRPr lang="en-US" sz="1400" dirty="0"/>
          </a:p>
        </p:txBody>
      </p:sp>
      <p:sp>
        <p:nvSpPr>
          <p:cNvPr id="39" name="Ref 11"/>
          <p:cNvSpPr/>
          <p:nvPr/>
        </p:nvSpPr>
        <p:spPr>
          <a:xfrm>
            <a:off x="6949440" y="5524320"/>
            <a:ext cx="4389120" cy="228600"/>
          </a:xfrm>
          <a:prstGeom prst="rect">
            <a:avLst/>
          </a:prstGeom>
          <a:noFill/>
          <a:ln/>
        </p:spPr>
        <p:txBody>
          <a:bodyPr wrap="square" lIns="0" tIns="0" rIns="0" bIns="0" rtlCol="0" anchor="ctr"/>
          <a:lstStyle/>
          <a:p>
            <a:pPr marL="0" indent="0">
              <a:buNone/>
            </a:pPr>
            <a:r>
              <a:rPr lang="en-US" sz="1050" i="1" dirty="0">
                <a:solidFill>
                  <a:srgbClr val="64748B"/>
                </a:solidFill>
                <a:latin typeface="Calibri" pitchFamily="34" charset="0"/>
                <a:ea typeface="Calibri" pitchFamily="34" charset="-122"/>
                <a:cs typeface="Calibri" pitchFamily="34" charset="-120"/>
              </a:rPr>
              <a:t>Slide 29</a:t>
            </a:r>
            <a:endParaRPr lang="en-US" sz="1050" dirty="0"/>
          </a:p>
        </p:txBody>
      </p:sp>
    </p:spTree>
  </p:cSld>
  <p:clrMapOvr>
    <a:overrideClrMapping bg1="lt1" tx1="dk1" bg2="lt2" tx2="dk2" accent1="accent1" accent2="accent2" accent3="accent3" accent4="accent4" accent5="accent5" accent6="accent6" hlink="hlink" folHlink="folHlink"/>
  </p:clrMapOvr>
</p:sld>
</file>

<file path=ppt/slides/slide4.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84048"/>
            <a:ext cx="7315200" cy="274320"/>
          </a:xfrm>
          <a:prstGeom prst="rect">
            <a:avLst/>
          </a:prstGeom>
          <a:noFill/>
          <a:ln/>
        </p:spPr>
        <p:txBody>
          <a:bodyPr wrap="square" lIns="0" tIns="0" rIns="0" bIns="0" rtlCol="0" anchor="ctr"/>
          <a:lstStyle/>
          <a:p>
            <a:pPr marL="0" indent="0">
              <a:buNone/>
            </a:pPr>
            <a:r>
              <a:rPr lang="en-US" sz="1200" b="1" kern="0" spc="200" dirty="0">
                <a:solidFill>
                  <a:srgbClr val="471DE1"/>
                </a:solidFill>
                <a:latin typeface="Calibri" pitchFamily="34" charset="0"/>
                <a:ea typeface="Calibri" pitchFamily="34" charset="-122"/>
                <a:cs typeface="Calibri" pitchFamily="34" charset="-120"/>
              </a:rPr>
              <a:t>WHY THIS PROJECT</a:t>
            </a:r>
            <a:endParaRPr lang="en-US" sz="1200" dirty="0">
              <a:solidFill>
                <a:srgbClr val="471DE1"/>
              </a:solidFill>
            </a:endParaRPr>
          </a:p>
        </p:txBody>
      </p:sp>
      <p:sp>
        <p:nvSpPr>
          <p:cNvPr id="3" name="Text 1"/>
          <p:cNvSpPr/>
          <p:nvPr/>
        </p:nvSpPr>
        <p:spPr>
          <a:xfrm>
            <a:off x="520931" y="804672"/>
            <a:ext cx="10515600" cy="731520"/>
          </a:xfrm>
          <a:prstGeom prst="rect">
            <a:avLst/>
          </a:prstGeom>
          <a:noFill/>
          <a:ln/>
        </p:spPr>
        <p:txBody>
          <a:bodyPr wrap="square" lIns="0" tIns="0" rIns="0" bIns="0" rtlCol="0" anchor="ctr"/>
          <a:lstStyle/>
          <a:p>
            <a:pPr marL="0" indent="0">
              <a:buNone/>
            </a:pPr>
            <a:r>
              <a:rPr lang="en-US" sz="3200" b="1" dirty="0">
                <a:solidFill>
                  <a:srgbClr val="191A4E"/>
                </a:solidFill>
                <a:latin typeface="Cambria" pitchFamily="34" charset="0"/>
                <a:ea typeface="Cambria" pitchFamily="34" charset="-122"/>
                <a:cs typeface="Cambria" pitchFamily="34" charset="-120"/>
              </a:rPr>
              <a:t>Project Objective</a:t>
            </a:r>
            <a:endParaRPr lang="en-US" sz="3200" dirty="0">
              <a:solidFill>
                <a:srgbClr val="191A4E"/>
              </a:solidFill>
            </a:endParaRPr>
          </a:p>
        </p:txBody>
      </p:sp>
      <p:sp>
        <p:nvSpPr>
          <p:cNvPr id="4" name="Text 2"/>
          <p:cNvSpPr/>
          <p:nvPr/>
        </p:nvSpPr>
        <p:spPr>
          <a:xfrm>
            <a:off x="495300" y="1891930"/>
            <a:ext cx="5120640" cy="1892809"/>
          </a:xfrm>
          <a:prstGeom prst="rect">
            <a:avLst/>
          </a:prstGeom>
          <a:noFill/>
          <a:ln/>
        </p:spPr>
        <p:txBody>
          <a:bodyPr wrap="square" lIns="0" tIns="0" rIns="0" bIns="0" rtlCol="0" anchor="t"/>
          <a:lstStyle/>
          <a:p>
            <a:r>
              <a:rPr lang="en-US" sz="2000" dirty="0"/>
              <a:t>This project analyzes over 100,000 medical insurance records to understand the factors affecting healthcare costs and insurance profitability. The analysis helps identify cost drivers, segment customer risk, and support better pricing and business decisions through interactive dashboards.</a:t>
            </a:r>
            <a:r>
              <a:rPr lang="en-US" sz="1400" dirty="0">
                <a:solidFill>
                  <a:srgbClr val="191A4E"/>
                </a:solidFill>
                <a:latin typeface="Calibri" pitchFamily="34" charset="0"/>
                <a:ea typeface="Calibri" pitchFamily="34" charset="-122"/>
                <a:cs typeface="Calibri" pitchFamily="34" charset="-120"/>
              </a:rPr>
              <a:t>.</a:t>
            </a:r>
            <a:endParaRPr lang="en-US" sz="1400" dirty="0">
              <a:solidFill>
                <a:srgbClr val="191A4E"/>
              </a:solidFill>
            </a:endParaRPr>
          </a:p>
        </p:txBody>
      </p:sp>
      <p:sp>
        <p:nvSpPr>
          <p:cNvPr id="5" name="Shape 3"/>
          <p:cNvSpPr/>
          <p:nvPr/>
        </p:nvSpPr>
        <p:spPr>
          <a:xfrm>
            <a:off x="6065520" y="1554480"/>
            <a:ext cx="5577840" cy="1417320"/>
          </a:xfrm>
          <a:prstGeom prst="roundRect">
            <a:avLst>
              <a:gd name="adj" fmla="val 5161"/>
            </a:avLst>
          </a:prstGeom>
          <a:solidFill>
            <a:srgbClr val="F4F2FC"/>
          </a:solidFill>
          <a:ln/>
          <a:effectLst>
            <a:outerShdw blurRad="101600" dist="38100" dir="2700000" algn="bl" rotWithShape="0">
              <a:srgbClr val="000000">
                <a:alpha val="12000"/>
              </a:srgbClr>
            </a:outerShdw>
          </a:effectLst>
        </p:spPr>
        <p:txBody>
          <a:bodyPr/>
          <a:lstStyle/>
          <a:p>
            <a:endParaRPr lang="en-US"/>
          </a:p>
        </p:txBody>
      </p:sp>
      <p:sp>
        <p:nvSpPr>
          <p:cNvPr id="6" name="Shape 4"/>
          <p:cNvSpPr/>
          <p:nvPr/>
        </p:nvSpPr>
        <p:spPr>
          <a:xfrm>
            <a:off x="6263640" y="1810512"/>
            <a:ext cx="457200" cy="457200"/>
          </a:xfrm>
          <a:prstGeom prst="ellipse">
            <a:avLst/>
          </a:prstGeom>
          <a:solidFill>
            <a:srgbClr val="471DE1"/>
          </a:solidFill>
          <a:ln/>
        </p:spPr>
        <p:txBody>
          <a:bodyPr/>
          <a:lstStyle/>
          <a:p>
            <a:endParaRPr lang="en-US"/>
          </a:p>
        </p:txBody>
      </p:sp>
      <p:sp>
        <p:nvSpPr>
          <p:cNvPr id="7" name="Text 5"/>
          <p:cNvSpPr/>
          <p:nvPr/>
        </p:nvSpPr>
        <p:spPr>
          <a:xfrm>
            <a:off x="6903720" y="1719072"/>
            <a:ext cx="4572000" cy="320040"/>
          </a:xfrm>
          <a:prstGeom prst="rect">
            <a:avLst/>
          </a:prstGeom>
          <a:noFill/>
          <a:ln/>
        </p:spPr>
        <p:txBody>
          <a:bodyPr wrap="square" lIns="0" tIns="0" rIns="0" bIns="0" rtlCol="0" anchor="ctr"/>
          <a:lstStyle/>
          <a:p>
            <a:pPr marL="0" indent="0">
              <a:buNone/>
            </a:pPr>
            <a:r>
              <a:rPr lang="en-US" sz="1500" b="1" dirty="0">
                <a:solidFill>
                  <a:srgbClr val="191A4E"/>
                </a:solidFill>
                <a:latin typeface="Cambria" pitchFamily="34" charset="0"/>
                <a:ea typeface="Cambria" pitchFamily="34" charset="-122"/>
                <a:cs typeface="Cambria" pitchFamily="34" charset="-120"/>
              </a:rPr>
              <a:t>Identify Cost Drivers</a:t>
            </a:r>
            <a:endParaRPr lang="en-US" sz="1500" dirty="0">
              <a:solidFill>
                <a:srgbClr val="191A4E"/>
              </a:solidFill>
            </a:endParaRPr>
          </a:p>
        </p:txBody>
      </p:sp>
      <p:sp>
        <p:nvSpPr>
          <p:cNvPr id="8" name="Text 6"/>
          <p:cNvSpPr/>
          <p:nvPr/>
        </p:nvSpPr>
        <p:spPr>
          <a:xfrm>
            <a:off x="6903720" y="2084832"/>
            <a:ext cx="4480560" cy="731520"/>
          </a:xfrm>
          <a:prstGeom prst="rect">
            <a:avLst/>
          </a:prstGeom>
          <a:noFill/>
          <a:ln/>
        </p:spPr>
        <p:txBody>
          <a:bodyPr wrap="square" lIns="0" tIns="0" rIns="0" bIns="0" rtlCol="0" anchor="ctr"/>
          <a:lstStyle/>
          <a:p>
            <a:pPr marL="0" indent="0">
              <a:buNone/>
            </a:pPr>
            <a:r>
              <a:rPr lang="en-US" sz="1200" dirty="0">
                <a:solidFill>
                  <a:srgbClr val="191A4E"/>
                </a:solidFill>
                <a:latin typeface="Calibri" pitchFamily="34" charset="0"/>
                <a:ea typeface="Calibri" pitchFamily="34" charset="-122"/>
                <a:cs typeface="Calibri" pitchFamily="34" charset="-120"/>
              </a:rPr>
              <a:t>Which demographic &amp; health factors most affect claims cost</a:t>
            </a:r>
            <a:endParaRPr lang="en-US" sz="1200" dirty="0">
              <a:solidFill>
                <a:srgbClr val="191A4E"/>
              </a:solidFill>
            </a:endParaRPr>
          </a:p>
        </p:txBody>
      </p:sp>
      <p:sp>
        <p:nvSpPr>
          <p:cNvPr id="9" name="Shape 7"/>
          <p:cNvSpPr/>
          <p:nvPr/>
        </p:nvSpPr>
        <p:spPr>
          <a:xfrm>
            <a:off x="6035040" y="3200400"/>
            <a:ext cx="5577840" cy="1417320"/>
          </a:xfrm>
          <a:prstGeom prst="roundRect">
            <a:avLst>
              <a:gd name="adj" fmla="val 5161"/>
            </a:avLst>
          </a:prstGeom>
          <a:solidFill>
            <a:srgbClr val="F4F2FC"/>
          </a:solidFill>
          <a:ln/>
          <a:effectLst>
            <a:outerShdw blurRad="101600" dist="38100" dir="2700000" algn="bl" rotWithShape="0">
              <a:srgbClr val="000000">
                <a:alpha val="12000"/>
              </a:srgbClr>
            </a:outerShdw>
          </a:effectLst>
        </p:spPr>
        <p:txBody>
          <a:bodyPr/>
          <a:lstStyle/>
          <a:p>
            <a:endParaRPr lang="en-US"/>
          </a:p>
        </p:txBody>
      </p:sp>
      <p:sp>
        <p:nvSpPr>
          <p:cNvPr id="10" name="Shape 8"/>
          <p:cNvSpPr/>
          <p:nvPr/>
        </p:nvSpPr>
        <p:spPr>
          <a:xfrm>
            <a:off x="6263640" y="3456432"/>
            <a:ext cx="457200" cy="457200"/>
          </a:xfrm>
          <a:prstGeom prst="ellipse">
            <a:avLst/>
          </a:prstGeom>
          <a:solidFill>
            <a:srgbClr val="471DE1"/>
          </a:solidFill>
          <a:ln/>
        </p:spPr>
        <p:txBody>
          <a:bodyPr/>
          <a:lstStyle/>
          <a:p>
            <a:endParaRPr lang="en-US"/>
          </a:p>
        </p:txBody>
      </p:sp>
      <p:sp>
        <p:nvSpPr>
          <p:cNvPr id="11" name="Text 9"/>
          <p:cNvSpPr/>
          <p:nvPr/>
        </p:nvSpPr>
        <p:spPr>
          <a:xfrm>
            <a:off x="6903720" y="3364992"/>
            <a:ext cx="4572000" cy="320040"/>
          </a:xfrm>
          <a:prstGeom prst="rect">
            <a:avLst/>
          </a:prstGeom>
          <a:noFill/>
          <a:ln/>
        </p:spPr>
        <p:txBody>
          <a:bodyPr wrap="square" lIns="0" tIns="0" rIns="0" bIns="0" rtlCol="0" anchor="ctr"/>
          <a:lstStyle/>
          <a:p>
            <a:pPr marL="0" indent="0">
              <a:buNone/>
            </a:pPr>
            <a:r>
              <a:rPr lang="en-US" sz="1500" b="1" dirty="0">
                <a:solidFill>
                  <a:srgbClr val="191A4E"/>
                </a:solidFill>
                <a:latin typeface="Cambria" pitchFamily="34" charset="0"/>
                <a:ea typeface="Cambria" pitchFamily="34" charset="-122"/>
                <a:cs typeface="Cambria" pitchFamily="34" charset="-120"/>
              </a:rPr>
              <a:t>Segment Risk</a:t>
            </a:r>
            <a:endParaRPr lang="en-US" sz="1500" dirty="0">
              <a:solidFill>
                <a:srgbClr val="191A4E"/>
              </a:solidFill>
            </a:endParaRPr>
          </a:p>
        </p:txBody>
      </p:sp>
      <p:sp>
        <p:nvSpPr>
          <p:cNvPr id="12" name="Text 10"/>
          <p:cNvSpPr/>
          <p:nvPr/>
        </p:nvSpPr>
        <p:spPr>
          <a:xfrm>
            <a:off x="6903720" y="3730752"/>
            <a:ext cx="4480560" cy="731520"/>
          </a:xfrm>
          <a:prstGeom prst="rect">
            <a:avLst/>
          </a:prstGeom>
          <a:noFill/>
          <a:ln/>
        </p:spPr>
        <p:txBody>
          <a:bodyPr wrap="square" lIns="0" tIns="0" rIns="0" bIns="0" rtlCol="0" anchor="ctr"/>
          <a:lstStyle/>
          <a:p>
            <a:pPr marL="0" indent="0">
              <a:buNone/>
            </a:pPr>
            <a:r>
              <a:rPr lang="en-US" sz="1200" dirty="0">
                <a:solidFill>
                  <a:srgbClr val="191A4E"/>
                </a:solidFill>
                <a:latin typeface="Calibri" pitchFamily="34" charset="0"/>
                <a:ea typeface="Calibri" pitchFamily="34" charset="-122"/>
                <a:cs typeface="Calibri" pitchFamily="34" charset="-120"/>
              </a:rPr>
              <a:t>Group patients/plans by risk profile for targeted action</a:t>
            </a:r>
            <a:endParaRPr lang="en-US" sz="1200" dirty="0">
              <a:solidFill>
                <a:srgbClr val="191A4E"/>
              </a:solidFill>
            </a:endParaRPr>
          </a:p>
        </p:txBody>
      </p:sp>
      <p:sp>
        <p:nvSpPr>
          <p:cNvPr id="13" name="Shape 11"/>
          <p:cNvSpPr/>
          <p:nvPr/>
        </p:nvSpPr>
        <p:spPr>
          <a:xfrm>
            <a:off x="6035040" y="4846320"/>
            <a:ext cx="5577840" cy="1417320"/>
          </a:xfrm>
          <a:prstGeom prst="roundRect">
            <a:avLst>
              <a:gd name="adj" fmla="val 5161"/>
            </a:avLst>
          </a:prstGeom>
          <a:solidFill>
            <a:srgbClr val="F4F2FC"/>
          </a:solidFill>
          <a:ln/>
          <a:effectLst>
            <a:outerShdw blurRad="101600" dist="38100" dir="2700000" algn="bl" rotWithShape="0">
              <a:srgbClr val="000000">
                <a:alpha val="12000"/>
              </a:srgbClr>
            </a:outerShdw>
          </a:effectLst>
        </p:spPr>
        <p:txBody>
          <a:bodyPr/>
          <a:lstStyle/>
          <a:p>
            <a:endParaRPr lang="en-US"/>
          </a:p>
        </p:txBody>
      </p:sp>
      <p:sp>
        <p:nvSpPr>
          <p:cNvPr id="14" name="Shape 12"/>
          <p:cNvSpPr/>
          <p:nvPr/>
        </p:nvSpPr>
        <p:spPr>
          <a:xfrm>
            <a:off x="6263640" y="5102352"/>
            <a:ext cx="457200" cy="457200"/>
          </a:xfrm>
          <a:prstGeom prst="ellipse">
            <a:avLst/>
          </a:prstGeom>
          <a:solidFill>
            <a:srgbClr val="471DE1"/>
          </a:solidFill>
          <a:ln/>
        </p:spPr>
        <p:txBody>
          <a:bodyPr/>
          <a:lstStyle/>
          <a:p>
            <a:endParaRPr lang="en-US"/>
          </a:p>
        </p:txBody>
      </p:sp>
      <p:sp>
        <p:nvSpPr>
          <p:cNvPr id="15" name="Text 13"/>
          <p:cNvSpPr/>
          <p:nvPr/>
        </p:nvSpPr>
        <p:spPr>
          <a:xfrm>
            <a:off x="6903720" y="5010912"/>
            <a:ext cx="4572000" cy="320040"/>
          </a:xfrm>
          <a:prstGeom prst="rect">
            <a:avLst/>
          </a:prstGeom>
          <a:noFill/>
          <a:ln/>
        </p:spPr>
        <p:txBody>
          <a:bodyPr wrap="square" lIns="0" tIns="0" rIns="0" bIns="0" rtlCol="0" anchor="ctr"/>
          <a:lstStyle/>
          <a:p>
            <a:pPr marL="0" indent="0">
              <a:buNone/>
            </a:pPr>
            <a:r>
              <a:rPr lang="en-US" sz="1500" b="1" dirty="0">
                <a:solidFill>
                  <a:srgbClr val="191A4E"/>
                </a:solidFill>
                <a:latin typeface="Cambria" pitchFamily="34" charset="0"/>
                <a:ea typeface="Cambria" pitchFamily="34" charset="-122"/>
                <a:cs typeface="Cambria" pitchFamily="34" charset="-120"/>
              </a:rPr>
              <a:t>Enable Self-Serve Insight</a:t>
            </a:r>
            <a:endParaRPr lang="en-US" sz="1500" dirty="0">
              <a:solidFill>
                <a:srgbClr val="191A4E"/>
              </a:solidFill>
            </a:endParaRPr>
          </a:p>
        </p:txBody>
      </p:sp>
      <p:sp>
        <p:nvSpPr>
          <p:cNvPr id="16" name="Text 14"/>
          <p:cNvSpPr/>
          <p:nvPr/>
        </p:nvSpPr>
        <p:spPr>
          <a:xfrm>
            <a:off x="6903720" y="5376672"/>
            <a:ext cx="4480560" cy="731520"/>
          </a:xfrm>
          <a:prstGeom prst="rect">
            <a:avLst/>
          </a:prstGeom>
          <a:noFill/>
          <a:ln/>
        </p:spPr>
        <p:txBody>
          <a:bodyPr wrap="square" lIns="0" tIns="0" rIns="0" bIns="0" rtlCol="0" anchor="ctr"/>
          <a:lstStyle/>
          <a:p>
            <a:pPr marL="0" indent="0">
              <a:buNone/>
            </a:pPr>
            <a:r>
              <a:rPr lang="en-US" sz="1200" dirty="0">
                <a:solidFill>
                  <a:srgbClr val="191A4E"/>
                </a:solidFill>
                <a:latin typeface="Calibri" pitchFamily="34" charset="0"/>
                <a:ea typeface="Calibri" pitchFamily="34" charset="-122"/>
                <a:cs typeface="Calibri" pitchFamily="34" charset="-120"/>
              </a:rPr>
              <a:t>Interactive dashboards for non-technical stakeholders</a:t>
            </a:r>
            <a:endParaRPr lang="en-US" sz="1200" dirty="0">
              <a:solidFill>
                <a:srgbClr val="191A4E"/>
              </a:solidFill>
            </a:endParaRPr>
          </a:p>
        </p:txBody>
      </p:sp>
      <p:sp>
        <p:nvSpPr>
          <p:cNvPr id="17" name="Text 15"/>
          <p:cNvSpPr/>
          <p:nvPr/>
        </p:nvSpPr>
        <p:spPr>
          <a:xfrm>
            <a:off x="457200" y="6446520"/>
            <a:ext cx="6400800" cy="274320"/>
          </a:xfrm>
          <a:prstGeom prst="rect">
            <a:avLst/>
          </a:prstGeom>
          <a:noFill/>
          <a:ln/>
        </p:spPr>
        <p:txBody>
          <a:bodyPr wrap="square" lIns="0" tIns="0" rIns="0" bIns="0" rtlCol="0" anchor="ctr"/>
          <a:lstStyle/>
          <a:p>
            <a:pPr marL="0" indent="0" algn="l">
              <a:buNone/>
            </a:pPr>
            <a:r>
              <a:rPr lang="en-US" sz="900" dirty="0">
                <a:solidFill>
                  <a:srgbClr val="64748B"/>
                </a:solidFill>
                <a:latin typeface="Calibri" pitchFamily="34" charset="0"/>
                <a:ea typeface="Calibri" pitchFamily="34" charset="-122"/>
                <a:cs typeface="Calibri" pitchFamily="34" charset="-120"/>
              </a:rPr>
              <a:t>DEPI Capstone — Medical Insurance Analytics</a:t>
            </a:r>
            <a:endParaRPr lang="en-US" sz="900" dirty="0"/>
          </a:p>
        </p:txBody>
      </p:sp>
      <p:sp>
        <p:nvSpPr>
          <p:cNvPr id="18" name="Text 16"/>
          <p:cNvSpPr/>
          <p:nvPr/>
        </p:nvSpPr>
        <p:spPr>
          <a:xfrm>
            <a:off x="11274552" y="6446520"/>
            <a:ext cx="457200" cy="27432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84048"/>
            <a:ext cx="7315200" cy="274320"/>
          </a:xfrm>
          <a:prstGeom prst="rect">
            <a:avLst/>
          </a:prstGeom>
          <a:noFill/>
          <a:ln/>
        </p:spPr>
        <p:txBody>
          <a:bodyPr wrap="square" lIns="0" tIns="0" rIns="0" bIns="0" rtlCol="0" anchor="ctr"/>
          <a:lstStyle/>
          <a:p>
            <a:pPr marL="0" indent="0">
              <a:buNone/>
            </a:pPr>
            <a:r>
              <a:rPr lang="en-US" sz="1200" b="1" kern="0" spc="200" dirty="0">
                <a:solidFill>
                  <a:srgbClr val="471DE1"/>
                </a:solidFill>
                <a:latin typeface="Calibri" pitchFamily="34" charset="0"/>
                <a:ea typeface="Calibri" pitchFamily="34" charset="-122"/>
                <a:cs typeface="Calibri" pitchFamily="34" charset="-120"/>
              </a:rPr>
              <a:t>THE</a:t>
            </a:r>
            <a:r>
              <a:rPr lang="en-US" sz="1200" b="1" kern="0" spc="200" dirty="0">
                <a:solidFill>
                  <a:srgbClr val="1C7293"/>
                </a:solidFill>
                <a:latin typeface="Calibri" pitchFamily="34" charset="0"/>
                <a:ea typeface="Calibri" pitchFamily="34" charset="-122"/>
                <a:cs typeface="Calibri" pitchFamily="34" charset="-120"/>
              </a:rPr>
              <a:t> </a:t>
            </a:r>
            <a:r>
              <a:rPr lang="en-US" sz="1200" b="1" kern="0" spc="200" dirty="0">
                <a:solidFill>
                  <a:srgbClr val="471DE1"/>
                </a:solidFill>
                <a:latin typeface="Calibri" pitchFamily="34" charset="0"/>
                <a:ea typeface="Calibri" pitchFamily="34" charset="-122"/>
                <a:cs typeface="Calibri" pitchFamily="34" charset="-120"/>
              </a:rPr>
              <a:t>RAW</a:t>
            </a:r>
            <a:r>
              <a:rPr lang="en-US" sz="1200" b="1" kern="0" spc="200" dirty="0">
                <a:solidFill>
                  <a:srgbClr val="1C7293"/>
                </a:solidFill>
                <a:latin typeface="Calibri" pitchFamily="34" charset="0"/>
                <a:ea typeface="Calibri" pitchFamily="34" charset="-122"/>
                <a:cs typeface="Calibri" pitchFamily="34" charset="-120"/>
              </a:rPr>
              <a:t> </a:t>
            </a:r>
            <a:r>
              <a:rPr lang="en-US" sz="1200" b="1" kern="0" spc="200" dirty="0">
                <a:solidFill>
                  <a:srgbClr val="471DE1"/>
                </a:solidFill>
                <a:latin typeface="Calibri" pitchFamily="34" charset="0"/>
                <a:ea typeface="Calibri" pitchFamily="34" charset="-122"/>
                <a:cs typeface="Calibri" pitchFamily="34" charset="-120"/>
              </a:rPr>
              <a:t>MATERIAL</a:t>
            </a:r>
            <a:endParaRPr lang="en-US" sz="1200" dirty="0">
              <a:solidFill>
                <a:srgbClr val="471DE1"/>
              </a:solidFill>
            </a:endParaRPr>
          </a:p>
        </p:txBody>
      </p:sp>
      <p:sp>
        <p:nvSpPr>
          <p:cNvPr id="3" name="Text 1"/>
          <p:cNvSpPr/>
          <p:nvPr/>
        </p:nvSpPr>
        <p:spPr>
          <a:xfrm>
            <a:off x="548640" y="621792"/>
            <a:ext cx="10515600" cy="731520"/>
          </a:xfrm>
          <a:prstGeom prst="rect">
            <a:avLst/>
          </a:prstGeom>
          <a:noFill/>
          <a:ln/>
        </p:spPr>
        <p:txBody>
          <a:bodyPr wrap="square" lIns="0" tIns="0" rIns="0" bIns="0" rtlCol="0" anchor="ctr"/>
          <a:lstStyle/>
          <a:p>
            <a:r>
              <a:rPr lang="en-US" sz="3200" b="1" dirty="0">
                <a:solidFill>
                  <a:srgbClr val="0B1F33"/>
                </a:solidFill>
                <a:latin typeface="Cambria" pitchFamily="34" charset="0"/>
                <a:ea typeface="Cambria" pitchFamily="34" charset="-122"/>
                <a:cs typeface="Cambria" pitchFamily="34" charset="-120"/>
              </a:rPr>
              <a:t>Dataset Overview</a:t>
            </a:r>
            <a:br>
              <a:rPr lang="en-US" sz="3200" b="1" dirty="0">
                <a:solidFill>
                  <a:srgbClr val="0B1F33"/>
                </a:solidFill>
                <a:latin typeface="Cambria" pitchFamily="34" charset="0"/>
                <a:ea typeface="Cambria" pitchFamily="34" charset="-122"/>
                <a:cs typeface="Cambria" pitchFamily="34" charset="-120"/>
              </a:rPr>
            </a:br>
            <a:r>
              <a:rPr lang="ar-EG" sz="1600" dirty="0"/>
              <a:t>We worked with a dataset containing over 100,000 insurance records collected from Kaggle</a:t>
            </a:r>
            <a:endParaRPr lang="en-US" sz="1600" dirty="0"/>
          </a:p>
        </p:txBody>
      </p:sp>
      <p:sp>
        <p:nvSpPr>
          <p:cNvPr id="4" name="Shape 2"/>
          <p:cNvSpPr/>
          <p:nvPr/>
        </p:nvSpPr>
        <p:spPr>
          <a:xfrm>
            <a:off x="548640" y="1600200"/>
            <a:ext cx="2697480" cy="1554480"/>
          </a:xfrm>
          <a:prstGeom prst="roundRect">
            <a:avLst>
              <a:gd name="adj" fmla="val 4706"/>
            </a:avLst>
          </a:prstGeom>
          <a:solidFill>
            <a:srgbClr val="471DE1"/>
          </a:solidFill>
          <a:ln/>
          <a:effectLst>
            <a:outerShdw blurRad="101600" dist="38100" dir="2700000" algn="bl" rotWithShape="0">
              <a:srgbClr val="000000">
                <a:alpha val="12000"/>
              </a:srgbClr>
            </a:outerShdw>
          </a:effectLst>
        </p:spPr>
        <p:txBody>
          <a:bodyPr/>
          <a:lstStyle/>
          <a:p>
            <a:endParaRPr lang="en-US"/>
          </a:p>
        </p:txBody>
      </p:sp>
      <p:sp>
        <p:nvSpPr>
          <p:cNvPr id="5" name="Text 3"/>
          <p:cNvSpPr/>
          <p:nvPr/>
        </p:nvSpPr>
        <p:spPr>
          <a:xfrm>
            <a:off x="685800" y="1783080"/>
            <a:ext cx="2423160" cy="640080"/>
          </a:xfrm>
          <a:prstGeom prst="rect">
            <a:avLst/>
          </a:prstGeom>
          <a:noFill/>
          <a:ln/>
        </p:spPr>
        <p:txBody>
          <a:bodyPr wrap="square" lIns="0" tIns="0" rIns="0" bIns="0" rtlCol="0" anchor="ctr"/>
          <a:lstStyle/>
          <a:p>
            <a:pPr marL="0" indent="0">
              <a:buNone/>
            </a:pPr>
            <a:r>
              <a:rPr lang="en-US" sz="2600" b="1" dirty="0">
                <a:solidFill>
                  <a:srgbClr val="F4F2FC"/>
                </a:solidFill>
                <a:latin typeface="Cambria" pitchFamily="34" charset="0"/>
                <a:ea typeface="Cambria" pitchFamily="34" charset="-122"/>
                <a:cs typeface="Cambria" pitchFamily="34" charset="-120"/>
              </a:rPr>
              <a:t>100,000</a:t>
            </a:r>
            <a:endParaRPr lang="en-US" sz="2600" dirty="0">
              <a:solidFill>
                <a:srgbClr val="F4F2FC"/>
              </a:solidFill>
            </a:endParaRPr>
          </a:p>
        </p:txBody>
      </p:sp>
      <p:sp>
        <p:nvSpPr>
          <p:cNvPr id="6" name="Text 4"/>
          <p:cNvSpPr/>
          <p:nvPr/>
        </p:nvSpPr>
        <p:spPr>
          <a:xfrm>
            <a:off x="685800" y="2468880"/>
            <a:ext cx="2423160" cy="548640"/>
          </a:xfrm>
          <a:prstGeom prst="rect">
            <a:avLst/>
          </a:prstGeom>
          <a:noFill/>
          <a:ln/>
        </p:spPr>
        <p:txBody>
          <a:bodyPr wrap="square" lIns="0" tIns="0" rIns="0" bIns="0" rtlCol="0" anchor="ctr"/>
          <a:lstStyle/>
          <a:p>
            <a:pPr marL="0" indent="0">
              <a:buNone/>
            </a:pPr>
            <a:r>
              <a:rPr lang="en-US" sz="1150" dirty="0">
                <a:solidFill>
                  <a:srgbClr val="F4F2FC"/>
                </a:solidFill>
                <a:latin typeface="Calibri" pitchFamily="34" charset="0"/>
                <a:ea typeface="Calibri" pitchFamily="34" charset="-122"/>
                <a:cs typeface="Calibri" pitchFamily="34" charset="-120"/>
              </a:rPr>
              <a:t>Insurance</a:t>
            </a:r>
            <a:r>
              <a:rPr lang="en-US" sz="1150" dirty="0">
                <a:solidFill>
                  <a:srgbClr val="FFFFFF"/>
                </a:solidFill>
                <a:latin typeface="Calibri" pitchFamily="34" charset="0"/>
                <a:ea typeface="Calibri" pitchFamily="34" charset="-122"/>
                <a:cs typeface="Calibri" pitchFamily="34" charset="-120"/>
              </a:rPr>
              <a:t> </a:t>
            </a:r>
            <a:r>
              <a:rPr lang="en-US" sz="1150" dirty="0">
                <a:solidFill>
                  <a:srgbClr val="F4F2FC"/>
                </a:solidFill>
                <a:latin typeface="Calibri" pitchFamily="34" charset="0"/>
                <a:ea typeface="Calibri" pitchFamily="34" charset="-122"/>
                <a:cs typeface="Calibri" pitchFamily="34" charset="-120"/>
              </a:rPr>
              <a:t>Records</a:t>
            </a:r>
            <a:endParaRPr lang="en-US" sz="1150" dirty="0">
              <a:solidFill>
                <a:srgbClr val="F4F2FC"/>
              </a:solidFill>
            </a:endParaRPr>
          </a:p>
        </p:txBody>
      </p:sp>
      <p:sp>
        <p:nvSpPr>
          <p:cNvPr id="7" name="Shape 5"/>
          <p:cNvSpPr/>
          <p:nvPr/>
        </p:nvSpPr>
        <p:spPr>
          <a:xfrm>
            <a:off x="3429000" y="1600200"/>
            <a:ext cx="2697480" cy="1554480"/>
          </a:xfrm>
          <a:prstGeom prst="roundRect">
            <a:avLst>
              <a:gd name="adj" fmla="val 4706"/>
            </a:avLst>
          </a:prstGeom>
          <a:solidFill>
            <a:srgbClr val="471DE1"/>
          </a:solidFill>
          <a:ln/>
          <a:effectLst>
            <a:outerShdw blurRad="101600" dist="38100" dir="2700000" algn="bl" rotWithShape="0">
              <a:srgbClr val="000000">
                <a:alpha val="12000"/>
              </a:srgbClr>
            </a:outerShdw>
          </a:effectLst>
        </p:spPr>
        <p:txBody>
          <a:bodyPr/>
          <a:lstStyle/>
          <a:p>
            <a:endParaRPr lang="en-US"/>
          </a:p>
        </p:txBody>
      </p:sp>
      <p:sp>
        <p:nvSpPr>
          <p:cNvPr id="8" name="Text 6"/>
          <p:cNvSpPr/>
          <p:nvPr/>
        </p:nvSpPr>
        <p:spPr>
          <a:xfrm>
            <a:off x="3566160" y="1783080"/>
            <a:ext cx="2423160" cy="640080"/>
          </a:xfrm>
          <a:prstGeom prst="rect">
            <a:avLst/>
          </a:prstGeom>
          <a:noFill/>
          <a:ln/>
        </p:spPr>
        <p:txBody>
          <a:bodyPr wrap="square" lIns="0" tIns="0" rIns="0" bIns="0" rtlCol="0" anchor="ctr"/>
          <a:lstStyle/>
          <a:p>
            <a:pPr marL="0" indent="0">
              <a:buNone/>
            </a:pPr>
            <a:r>
              <a:rPr lang="en-US" sz="2600" b="1" dirty="0">
                <a:solidFill>
                  <a:srgbClr val="F4F2FC"/>
                </a:solidFill>
                <a:latin typeface="Cambria" pitchFamily="34" charset="0"/>
                <a:ea typeface="Cambria" pitchFamily="34" charset="-122"/>
                <a:cs typeface="Cambria" pitchFamily="34" charset="-120"/>
              </a:rPr>
              <a:t>4</a:t>
            </a:r>
            <a:endParaRPr lang="en-US" sz="2600" dirty="0">
              <a:solidFill>
                <a:srgbClr val="F4F2FC"/>
              </a:solidFill>
            </a:endParaRPr>
          </a:p>
        </p:txBody>
      </p:sp>
      <p:sp>
        <p:nvSpPr>
          <p:cNvPr id="9" name="Text 7"/>
          <p:cNvSpPr/>
          <p:nvPr/>
        </p:nvSpPr>
        <p:spPr>
          <a:xfrm>
            <a:off x="3566160" y="2468880"/>
            <a:ext cx="2423160" cy="548640"/>
          </a:xfrm>
          <a:prstGeom prst="rect">
            <a:avLst/>
          </a:prstGeom>
          <a:noFill/>
          <a:ln/>
        </p:spPr>
        <p:txBody>
          <a:bodyPr wrap="square" lIns="0" tIns="0" rIns="0" bIns="0" rtlCol="0" anchor="ctr"/>
          <a:lstStyle/>
          <a:p>
            <a:pPr marL="0" indent="0">
              <a:buNone/>
            </a:pPr>
            <a:r>
              <a:rPr lang="en-US" sz="1150" dirty="0">
                <a:solidFill>
                  <a:srgbClr val="F4F2FC"/>
                </a:solidFill>
                <a:latin typeface="Calibri" pitchFamily="34" charset="0"/>
                <a:ea typeface="Calibri" pitchFamily="34" charset="-122"/>
                <a:cs typeface="Calibri" pitchFamily="34" charset="-120"/>
              </a:rPr>
              <a:t>Data</a:t>
            </a:r>
            <a:r>
              <a:rPr lang="en-US" sz="1150" dirty="0">
                <a:solidFill>
                  <a:srgbClr val="FFFFFF"/>
                </a:solidFill>
                <a:latin typeface="Calibri" pitchFamily="34" charset="0"/>
                <a:ea typeface="Calibri" pitchFamily="34" charset="-122"/>
                <a:cs typeface="Calibri" pitchFamily="34" charset="-120"/>
              </a:rPr>
              <a:t> </a:t>
            </a:r>
            <a:r>
              <a:rPr lang="en-US" sz="1150" dirty="0">
                <a:solidFill>
                  <a:srgbClr val="F4F2FC"/>
                </a:solidFill>
                <a:latin typeface="Calibri" pitchFamily="34" charset="0"/>
                <a:ea typeface="Calibri" pitchFamily="34" charset="-122"/>
                <a:cs typeface="Calibri" pitchFamily="34" charset="-120"/>
              </a:rPr>
              <a:t>Groups</a:t>
            </a:r>
            <a:endParaRPr lang="en-US" sz="1150" dirty="0">
              <a:solidFill>
                <a:srgbClr val="F4F2FC"/>
              </a:solidFill>
            </a:endParaRPr>
          </a:p>
        </p:txBody>
      </p:sp>
      <p:sp>
        <p:nvSpPr>
          <p:cNvPr id="10" name="Shape 8"/>
          <p:cNvSpPr/>
          <p:nvPr/>
        </p:nvSpPr>
        <p:spPr>
          <a:xfrm>
            <a:off x="6309360" y="1600200"/>
            <a:ext cx="2697480" cy="1554480"/>
          </a:xfrm>
          <a:prstGeom prst="roundRect">
            <a:avLst>
              <a:gd name="adj" fmla="val 4706"/>
            </a:avLst>
          </a:prstGeom>
          <a:solidFill>
            <a:srgbClr val="471DE1"/>
          </a:solidFill>
          <a:ln/>
          <a:effectLst>
            <a:outerShdw blurRad="101600" dist="38100" dir="2700000" algn="bl" rotWithShape="0">
              <a:srgbClr val="000000">
                <a:alpha val="12000"/>
              </a:srgbClr>
            </a:outerShdw>
          </a:effectLst>
        </p:spPr>
        <p:txBody>
          <a:bodyPr/>
          <a:lstStyle/>
          <a:p>
            <a:endParaRPr lang="en-US"/>
          </a:p>
        </p:txBody>
      </p:sp>
      <p:sp>
        <p:nvSpPr>
          <p:cNvPr id="11" name="Text 9"/>
          <p:cNvSpPr/>
          <p:nvPr/>
        </p:nvSpPr>
        <p:spPr>
          <a:xfrm>
            <a:off x="6446520" y="1783080"/>
            <a:ext cx="2423160" cy="640080"/>
          </a:xfrm>
          <a:prstGeom prst="rect">
            <a:avLst/>
          </a:prstGeom>
          <a:noFill/>
          <a:ln/>
        </p:spPr>
        <p:txBody>
          <a:bodyPr wrap="square" lIns="0" tIns="0" rIns="0" bIns="0" rtlCol="0" anchor="ctr"/>
          <a:lstStyle/>
          <a:p>
            <a:pPr marL="0" indent="0">
              <a:buNone/>
            </a:pPr>
            <a:r>
              <a:rPr lang="en-US" sz="1700" b="1" dirty="0">
                <a:solidFill>
                  <a:srgbClr val="F4F2FC"/>
                </a:solidFill>
                <a:latin typeface="Cambria" pitchFamily="34" charset="0"/>
                <a:ea typeface="Cambria" pitchFamily="34" charset="-122"/>
                <a:cs typeface="Cambria" pitchFamily="34" charset="-120"/>
              </a:rPr>
              <a:t>Demographics</a:t>
            </a:r>
            <a:endParaRPr lang="en-US" sz="1700" dirty="0">
              <a:solidFill>
                <a:srgbClr val="F4F2FC"/>
              </a:solidFill>
            </a:endParaRPr>
          </a:p>
        </p:txBody>
      </p:sp>
      <p:sp>
        <p:nvSpPr>
          <p:cNvPr id="12" name="Text 10"/>
          <p:cNvSpPr/>
          <p:nvPr/>
        </p:nvSpPr>
        <p:spPr>
          <a:xfrm>
            <a:off x="6446520" y="2468880"/>
            <a:ext cx="2423160" cy="548640"/>
          </a:xfrm>
          <a:prstGeom prst="rect">
            <a:avLst/>
          </a:prstGeom>
          <a:noFill/>
          <a:ln/>
        </p:spPr>
        <p:txBody>
          <a:bodyPr wrap="square" lIns="0" tIns="0" rIns="0" bIns="0" rtlCol="0" anchor="ctr"/>
          <a:lstStyle/>
          <a:p>
            <a:pPr marL="0" indent="0">
              <a:buNone/>
            </a:pPr>
            <a:r>
              <a:rPr lang="en-US" sz="1150" dirty="0">
                <a:solidFill>
                  <a:srgbClr val="F4F2FC"/>
                </a:solidFill>
                <a:latin typeface="Calibri" pitchFamily="34" charset="0"/>
                <a:ea typeface="Calibri" pitchFamily="34" charset="-122"/>
                <a:cs typeface="Calibri" pitchFamily="34" charset="-120"/>
              </a:rPr>
              <a:t>Health</a:t>
            </a:r>
            <a:r>
              <a:rPr lang="en-US" sz="1150" dirty="0">
                <a:solidFill>
                  <a:srgbClr val="FFFFFF"/>
                </a:solidFill>
                <a:latin typeface="Calibri" pitchFamily="34" charset="0"/>
                <a:ea typeface="Calibri" pitchFamily="34" charset="-122"/>
                <a:cs typeface="Calibri" pitchFamily="34" charset="-120"/>
              </a:rPr>
              <a:t> · </a:t>
            </a:r>
            <a:r>
              <a:rPr lang="en-US" sz="1150" dirty="0">
                <a:solidFill>
                  <a:srgbClr val="F4F2FC"/>
                </a:solidFill>
                <a:latin typeface="Calibri" pitchFamily="34" charset="0"/>
                <a:ea typeface="Calibri" pitchFamily="34" charset="-122"/>
                <a:cs typeface="Calibri" pitchFamily="34" charset="-120"/>
              </a:rPr>
              <a:t>Usage</a:t>
            </a:r>
            <a:r>
              <a:rPr lang="en-US" sz="1150" dirty="0">
                <a:solidFill>
                  <a:srgbClr val="FFFFFF"/>
                </a:solidFill>
                <a:latin typeface="Calibri" pitchFamily="34" charset="0"/>
                <a:ea typeface="Calibri" pitchFamily="34" charset="-122"/>
                <a:cs typeface="Calibri" pitchFamily="34" charset="-120"/>
              </a:rPr>
              <a:t> · </a:t>
            </a:r>
            <a:r>
              <a:rPr lang="en-US" sz="1150" dirty="0">
                <a:solidFill>
                  <a:srgbClr val="F4F2FC"/>
                </a:solidFill>
                <a:latin typeface="Calibri" pitchFamily="34" charset="0"/>
                <a:ea typeface="Calibri" pitchFamily="34" charset="-122"/>
                <a:cs typeface="Calibri" pitchFamily="34" charset="-120"/>
              </a:rPr>
              <a:t>Plan</a:t>
            </a:r>
            <a:endParaRPr lang="en-US" sz="1150" dirty="0">
              <a:solidFill>
                <a:srgbClr val="F4F2FC"/>
              </a:solidFill>
            </a:endParaRPr>
          </a:p>
        </p:txBody>
      </p:sp>
      <p:sp>
        <p:nvSpPr>
          <p:cNvPr id="13" name="Shape 11"/>
          <p:cNvSpPr/>
          <p:nvPr/>
        </p:nvSpPr>
        <p:spPr>
          <a:xfrm>
            <a:off x="9189720" y="1600200"/>
            <a:ext cx="2697480" cy="1554480"/>
          </a:xfrm>
          <a:prstGeom prst="roundRect">
            <a:avLst>
              <a:gd name="adj" fmla="val 4706"/>
            </a:avLst>
          </a:prstGeom>
          <a:solidFill>
            <a:srgbClr val="471DE1"/>
          </a:solidFill>
          <a:ln/>
          <a:effectLst>
            <a:outerShdw blurRad="101600" dist="38100" dir="2700000" algn="bl" rotWithShape="0">
              <a:srgbClr val="000000">
                <a:alpha val="12000"/>
              </a:srgbClr>
            </a:outerShdw>
          </a:effectLst>
        </p:spPr>
        <p:txBody>
          <a:bodyPr/>
          <a:lstStyle/>
          <a:p>
            <a:endParaRPr lang="en-US"/>
          </a:p>
        </p:txBody>
      </p:sp>
      <p:sp>
        <p:nvSpPr>
          <p:cNvPr id="14" name="Text 12"/>
          <p:cNvSpPr/>
          <p:nvPr/>
        </p:nvSpPr>
        <p:spPr>
          <a:xfrm>
            <a:off x="9326880" y="1783080"/>
            <a:ext cx="2423160" cy="640080"/>
          </a:xfrm>
          <a:prstGeom prst="rect">
            <a:avLst/>
          </a:prstGeom>
          <a:noFill/>
          <a:ln/>
        </p:spPr>
        <p:txBody>
          <a:bodyPr wrap="square" lIns="0" tIns="0" rIns="0" bIns="0" rtlCol="0" anchor="ctr"/>
          <a:lstStyle/>
          <a:p>
            <a:pPr marL="0" indent="0">
              <a:buNone/>
            </a:pPr>
            <a:r>
              <a:rPr lang="en-US" sz="2600" b="1" dirty="0">
                <a:solidFill>
                  <a:srgbClr val="F4F2FC"/>
                </a:solidFill>
                <a:latin typeface="Cambria" pitchFamily="34" charset="0"/>
                <a:ea typeface="Cambria" pitchFamily="34" charset="-122"/>
                <a:cs typeface="Cambria" pitchFamily="34" charset="-120"/>
              </a:rPr>
              <a:t>Kaggle</a:t>
            </a:r>
            <a:endParaRPr lang="en-US" sz="2600" dirty="0">
              <a:solidFill>
                <a:srgbClr val="F4F2FC"/>
              </a:solidFill>
            </a:endParaRPr>
          </a:p>
        </p:txBody>
      </p:sp>
      <p:sp>
        <p:nvSpPr>
          <p:cNvPr id="15" name="Text 13"/>
          <p:cNvSpPr/>
          <p:nvPr/>
        </p:nvSpPr>
        <p:spPr>
          <a:xfrm>
            <a:off x="9326880" y="2468880"/>
            <a:ext cx="2423160" cy="548640"/>
          </a:xfrm>
          <a:prstGeom prst="rect">
            <a:avLst/>
          </a:prstGeom>
          <a:noFill/>
          <a:ln/>
        </p:spPr>
        <p:txBody>
          <a:bodyPr wrap="square" lIns="0" tIns="0" rIns="0" bIns="0" rtlCol="0" anchor="ctr"/>
          <a:lstStyle/>
          <a:p>
            <a:pPr marL="0" indent="0">
              <a:buNone/>
            </a:pPr>
            <a:r>
              <a:rPr lang="en-US" sz="1150" dirty="0">
                <a:solidFill>
                  <a:srgbClr val="F4F2FC"/>
                </a:solidFill>
                <a:latin typeface="Calibri" pitchFamily="34" charset="0"/>
                <a:ea typeface="Calibri" pitchFamily="34" charset="-122"/>
                <a:cs typeface="Calibri" pitchFamily="34" charset="-120"/>
              </a:rPr>
              <a:t>Public Source Dataset</a:t>
            </a:r>
            <a:endParaRPr lang="en-US" sz="1150" dirty="0">
              <a:solidFill>
                <a:srgbClr val="F4F2FC"/>
              </a:solidFill>
            </a:endParaRPr>
          </a:p>
        </p:txBody>
      </p:sp>
      <p:sp>
        <p:nvSpPr>
          <p:cNvPr id="16" name="Text 14"/>
          <p:cNvSpPr/>
          <p:nvPr/>
        </p:nvSpPr>
        <p:spPr>
          <a:xfrm>
            <a:off x="548640" y="3429000"/>
            <a:ext cx="5486400" cy="320040"/>
          </a:xfrm>
          <a:prstGeom prst="rect">
            <a:avLst/>
          </a:prstGeom>
          <a:noFill/>
          <a:ln/>
        </p:spPr>
        <p:txBody>
          <a:bodyPr wrap="square" lIns="0" tIns="0" rIns="0" bIns="0" rtlCol="0" anchor="ctr"/>
          <a:lstStyle/>
          <a:p>
            <a:pPr marL="0" indent="0">
              <a:buNone/>
            </a:pPr>
            <a:r>
              <a:rPr lang="en-US" sz="1300" b="1" dirty="0">
                <a:solidFill>
                  <a:srgbClr val="0B1F33"/>
                </a:solidFill>
                <a:latin typeface="Calibri" pitchFamily="34" charset="0"/>
                <a:ea typeface="Calibri" pitchFamily="34" charset="-122"/>
                <a:cs typeface="Calibri" pitchFamily="34" charset="-120"/>
              </a:rPr>
              <a:t>Field groups used across the pipeline:</a:t>
            </a:r>
            <a:endParaRPr lang="en-US" sz="1300" dirty="0"/>
          </a:p>
        </p:txBody>
      </p:sp>
      <p:sp>
        <p:nvSpPr>
          <p:cNvPr id="17" name="Shape 15"/>
          <p:cNvSpPr/>
          <p:nvPr/>
        </p:nvSpPr>
        <p:spPr>
          <a:xfrm>
            <a:off x="548640" y="3886200"/>
            <a:ext cx="5394960" cy="914400"/>
          </a:xfrm>
          <a:prstGeom prst="roundRect">
            <a:avLst>
              <a:gd name="adj" fmla="val 6000"/>
            </a:avLst>
          </a:prstGeom>
          <a:solidFill>
            <a:srgbClr val="F4F2FC"/>
          </a:solidFill>
          <a:ln/>
        </p:spPr>
        <p:txBody>
          <a:bodyPr/>
          <a:lstStyle/>
          <a:p>
            <a:endParaRPr lang="en-US"/>
          </a:p>
        </p:txBody>
      </p:sp>
      <p:sp>
        <p:nvSpPr>
          <p:cNvPr id="18" name="Text 16"/>
          <p:cNvSpPr/>
          <p:nvPr/>
        </p:nvSpPr>
        <p:spPr>
          <a:xfrm>
            <a:off x="731520" y="3959352"/>
            <a:ext cx="5029200" cy="320040"/>
          </a:xfrm>
          <a:prstGeom prst="rect">
            <a:avLst/>
          </a:prstGeom>
          <a:noFill/>
          <a:ln/>
        </p:spPr>
        <p:txBody>
          <a:bodyPr wrap="square" lIns="0" tIns="0" rIns="0" bIns="0" rtlCol="0" anchor="ctr"/>
          <a:lstStyle/>
          <a:p>
            <a:pPr marL="0" indent="0">
              <a:buNone/>
            </a:pPr>
            <a:r>
              <a:rPr lang="en-US" sz="1250" b="1" dirty="0">
                <a:solidFill>
                  <a:srgbClr val="471DE1"/>
                </a:solidFill>
                <a:latin typeface="Calibri" pitchFamily="34" charset="0"/>
                <a:ea typeface="Calibri" pitchFamily="34" charset="-122"/>
                <a:cs typeface="Calibri" pitchFamily="34" charset="-120"/>
              </a:rPr>
              <a:t>Demographics</a:t>
            </a:r>
            <a:endParaRPr lang="en-US" sz="1250" dirty="0">
              <a:solidFill>
                <a:srgbClr val="471DE1"/>
              </a:solidFill>
            </a:endParaRPr>
          </a:p>
        </p:txBody>
      </p:sp>
      <p:sp>
        <p:nvSpPr>
          <p:cNvPr id="19" name="Text 17"/>
          <p:cNvSpPr/>
          <p:nvPr/>
        </p:nvSpPr>
        <p:spPr>
          <a:xfrm>
            <a:off x="731520" y="4297680"/>
            <a:ext cx="5029200" cy="411480"/>
          </a:xfrm>
          <a:prstGeom prst="rect">
            <a:avLst/>
          </a:prstGeom>
          <a:noFill/>
          <a:ln/>
        </p:spPr>
        <p:txBody>
          <a:bodyPr wrap="square" lIns="0" tIns="0" rIns="0" bIns="0" rtlCol="0" anchor="ctr"/>
          <a:lstStyle/>
          <a:p>
            <a:pPr marL="0" indent="0">
              <a:buNone/>
            </a:pPr>
            <a:r>
              <a:rPr lang="en-US" sz="1100" dirty="0">
                <a:solidFill>
                  <a:srgbClr val="191A4E"/>
                </a:solidFill>
                <a:latin typeface="Calibri" pitchFamily="34" charset="0"/>
                <a:ea typeface="Calibri" pitchFamily="34" charset="-122"/>
                <a:cs typeface="Calibri" pitchFamily="34" charset="-120"/>
              </a:rPr>
              <a:t>age, gender, region, income band</a:t>
            </a:r>
            <a:endParaRPr lang="en-US" sz="1100" dirty="0">
              <a:solidFill>
                <a:srgbClr val="191A4E"/>
              </a:solidFill>
            </a:endParaRPr>
          </a:p>
        </p:txBody>
      </p:sp>
      <p:sp>
        <p:nvSpPr>
          <p:cNvPr id="20" name="Shape 18"/>
          <p:cNvSpPr/>
          <p:nvPr/>
        </p:nvSpPr>
        <p:spPr>
          <a:xfrm>
            <a:off x="6263640" y="3886200"/>
            <a:ext cx="5394960" cy="914400"/>
          </a:xfrm>
          <a:prstGeom prst="roundRect">
            <a:avLst>
              <a:gd name="adj" fmla="val 6000"/>
            </a:avLst>
          </a:prstGeom>
          <a:solidFill>
            <a:srgbClr val="F4F2FC"/>
          </a:solidFill>
          <a:ln/>
        </p:spPr>
        <p:txBody>
          <a:bodyPr/>
          <a:lstStyle/>
          <a:p>
            <a:endParaRPr lang="en-US"/>
          </a:p>
        </p:txBody>
      </p:sp>
      <p:sp>
        <p:nvSpPr>
          <p:cNvPr id="21" name="Text 19"/>
          <p:cNvSpPr/>
          <p:nvPr/>
        </p:nvSpPr>
        <p:spPr>
          <a:xfrm>
            <a:off x="6446520" y="3959352"/>
            <a:ext cx="5029200" cy="320040"/>
          </a:xfrm>
          <a:prstGeom prst="rect">
            <a:avLst/>
          </a:prstGeom>
          <a:noFill/>
          <a:ln/>
        </p:spPr>
        <p:txBody>
          <a:bodyPr wrap="square" lIns="0" tIns="0" rIns="0" bIns="0" rtlCol="0" anchor="ctr"/>
          <a:lstStyle/>
          <a:p>
            <a:pPr marL="0" indent="0">
              <a:buNone/>
            </a:pPr>
            <a:r>
              <a:rPr lang="en-US" sz="1250" b="1" dirty="0">
                <a:solidFill>
                  <a:srgbClr val="471DE1"/>
                </a:solidFill>
                <a:latin typeface="Calibri" pitchFamily="34" charset="0"/>
                <a:ea typeface="Calibri" pitchFamily="34" charset="-122"/>
                <a:cs typeface="Calibri" pitchFamily="34" charset="-120"/>
              </a:rPr>
              <a:t>Health</a:t>
            </a:r>
            <a:r>
              <a:rPr lang="en-US" sz="1250" b="1" dirty="0">
                <a:solidFill>
                  <a:srgbClr val="065A82"/>
                </a:solidFill>
                <a:latin typeface="Calibri" pitchFamily="34" charset="0"/>
                <a:ea typeface="Calibri" pitchFamily="34" charset="-122"/>
                <a:cs typeface="Calibri" pitchFamily="34" charset="-120"/>
              </a:rPr>
              <a:t> </a:t>
            </a:r>
            <a:r>
              <a:rPr lang="en-US" sz="1250" b="1" dirty="0">
                <a:solidFill>
                  <a:srgbClr val="471DE1"/>
                </a:solidFill>
                <a:latin typeface="Calibri" pitchFamily="34" charset="0"/>
                <a:ea typeface="Calibri" pitchFamily="34" charset="-122"/>
                <a:cs typeface="Calibri" pitchFamily="34" charset="-120"/>
              </a:rPr>
              <a:t>Indicators</a:t>
            </a:r>
            <a:endParaRPr lang="en-US" sz="1250" dirty="0">
              <a:solidFill>
                <a:srgbClr val="471DE1"/>
              </a:solidFill>
            </a:endParaRPr>
          </a:p>
        </p:txBody>
      </p:sp>
      <p:sp>
        <p:nvSpPr>
          <p:cNvPr id="22" name="Text 20"/>
          <p:cNvSpPr/>
          <p:nvPr/>
        </p:nvSpPr>
        <p:spPr>
          <a:xfrm>
            <a:off x="6446520" y="4297680"/>
            <a:ext cx="5029200" cy="411480"/>
          </a:xfrm>
          <a:prstGeom prst="rect">
            <a:avLst/>
          </a:prstGeom>
          <a:noFill/>
          <a:ln/>
        </p:spPr>
        <p:txBody>
          <a:bodyPr wrap="square" lIns="0" tIns="0" rIns="0" bIns="0" rtlCol="0" anchor="ctr"/>
          <a:lstStyle/>
          <a:p>
            <a:pPr marL="0" indent="0">
              <a:buNone/>
            </a:pPr>
            <a:r>
              <a:rPr lang="en-US" sz="1100" dirty="0">
                <a:solidFill>
                  <a:srgbClr val="191A4E"/>
                </a:solidFill>
                <a:latin typeface="Calibri" pitchFamily="34" charset="0"/>
                <a:ea typeface="Calibri" pitchFamily="34" charset="-122"/>
                <a:cs typeface="Calibri" pitchFamily="34" charset="-120"/>
              </a:rPr>
              <a:t>BMI, smoker status, chronic conditions</a:t>
            </a:r>
            <a:endParaRPr lang="en-US" sz="1100" dirty="0">
              <a:solidFill>
                <a:srgbClr val="191A4E"/>
              </a:solidFill>
            </a:endParaRPr>
          </a:p>
        </p:txBody>
      </p:sp>
      <p:sp>
        <p:nvSpPr>
          <p:cNvPr id="23" name="Shape 21"/>
          <p:cNvSpPr/>
          <p:nvPr/>
        </p:nvSpPr>
        <p:spPr>
          <a:xfrm>
            <a:off x="548640" y="4937760"/>
            <a:ext cx="5394960" cy="914400"/>
          </a:xfrm>
          <a:prstGeom prst="roundRect">
            <a:avLst>
              <a:gd name="adj" fmla="val 6000"/>
            </a:avLst>
          </a:prstGeom>
          <a:solidFill>
            <a:srgbClr val="F4F2FC"/>
          </a:solidFill>
          <a:ln/>
        </p:spPr>
        <p:txBody>
          <a:bodyPr/>
          <a:lstStyle/>
          <a:p>
            <a:endParaRPr lang="en-US"/>
          </a:p>
        </p:txBody>
      </p:sp>
      <p:sp>
        <p:nvSpPr>
          <p:cNvPr id="24" name="Text 22"/>
          <p:cNvSpPr/>
          <p:nvPr/>
        </p:nvSpPr>
        <p:spPr>
          <a:xfrm>
            <a:off x="731520" y="5010912"/>
            <a:ext cx="5029200" cy="320040"/>
          </a:xfrm>
          <a:prstGeom prst="rect">
            <a:avLst/>
          </a:prstGeom>
          <a:noFill/>
          <a:ln/>
        </p:spPr>
        <p:txBody>
          <a:bodyPr wrap="square" lIns="0" tIns="0" rIns="0" bIns="0" rtlCol="0" anchor="ctr"/>
          <a:lstStyle/>
          <a:p>
            <a:pPr marL="0" indent="0">
              <a:buNone/>
            </a:pPr>
            <a:r>
              <a:rPr lang="en-US" sz="1250" b="1" dirty="0">
                <a:solidFill>
                  <a:srgbClr val="471DE1"/>
                </a:solidFill>
                <a:latin typeface="Calibri" pitchFamily="34" charset="0"/>
                <a:ea typeface="Calibri" pitchFamily="34" charset="-122"/>
                <a:cs typeface="Calibri" pitchFamily="34" charset="-120"/>
              </a:rPr>
              <a:t>Healthcare</a:t>
            </a:r>
            <a:r>
              <a:rPr lang="en-US" sz="1250" b="1" dirty="0">
                <a:solidFill>
                  <a:srgbClr val="065A82"/>
                </a:solidFill>
                <a:latin typeface="Calibri" pitchFamily="34" charset="0"/>
                <a:ea typeface="Calibri" pitchFamily="34" charset="-122"/>
                <a:cs typeface="Calibri" pitchFamily="34" charset="-120"/>
              </a:rPr>
              <a:t> </a:t>
            </a:r>
            <a:r>
              <a:rPr lang="en-US" sz="1250" b="1" dirty="0">
                <a:solidFill>
                  <a:srgbClr val="471DE1"/>
                </a:solidFill>
                <a:latin typeface="Calibri" pitchFamily="34" charset="0"/>
                <a:ea typeface="Calibri" pitchFamily="34" charset="-122"/>
                <a:cs typeface="Calibri" pitchFamily="34" charset="-120"/>
              </a:rPr>
              <a:t>Usage</a:t>
            </a:r>
            <a:endParaRPr lang="en-US" sz="1250" dirty="0">
              <a:solidFill>
                <a:srgbClr val="471DE1"/>
              </a:solidFill>
            </a:endParaRPr>
          </a:p>
        </p:txBody>
      </p:sp>
      <p:sp>
        <p:nvSpPr>
          <p:cNvPr id="25" name="Text 23"/>
          <p:cNvSpPr/>
          <p:nvPr/>
        </p:nvSpPr>
        <p:spPr>
          <a:xfrm>
            <a:off x="731520" y="5349240"/>
            <a:ext cx="5029200" cy="411480"/>
          </a:xfrm>
          <a:prstGeom prst="rect">
            <a:avLst/>
          </a:prstGeom>
          <a:noFill/>
          <a:ln/>
        </p:spPr>
        <p:txBody>
          <a:bodyPr wrap="square" lIns="0" tIns="0" rIns="0" bIns="0" rtlCol="0" anchor="ctr"/>
          <a:lstStyle/>
          <a:p>
            <a:pPr marL="0" indent="0">
              <a:buNone/>
            </a:pPr>
            <a:r>
              <a:rPr lang="en-US" sz="1100" dirty="0">
                <a:solidFill>
                  <a:srgbClr val="191A4E"/>
                </a:solidFill>
                <a:latin typeface="Calibri" pitchFamily="34" charset="0"/>
                <a:ea typeface="Calibri" pitchFamily="34" charset="-122"/>
                <a:cs typeface="Calibri" pitchFamily="34" charset="-120"/>
              </a:rPr>
              <a:t>visits, hospitalizations, prior claims</a:t>
            </a:r>
            <a:endParaRPr lang="en-US" sz="1100" dirty="0">
              <a:solidFill>
                <a:srgbClr val="191A4E"/>
              </a:solidFill>
            </a:endParaRPr>
          </a:p>
        </p:txBody>
      </p:sp>
      <p:sp>
        <p:nvSpPr>
          <p:cNvPr id="26" name="Shape 24"/>
          <p:cNvSpPr/>
          <p:nvPr/>
        </p:nvSpPr>
        <p:spPr>
          <a:xfrm>
            <a:off x="6263640" y="4965192"/>
            <a:ext cx="5394960" cy="914400"/>
          </a:xfrm>
          <a:prstGeom prst="roundRect">
            <a:avLst>
              <a:gd name="adj" fmla="val 6000"/>
            </a:avLst>
          </a:prstGeom>
          <a:solidFill>
            <a:srgbClr val="F4F2FC"/>
          </a:solidFill>
          <a:ln/>
        </p:spPr>
        <p:txBody>
          <a:bodyPr/>
          <a:lstStyle/>
          <a:p>
            <a:endParaRPr lang="en-US"/>
          </a:p>
        </p:txBody>
      </p:sp>
      <p:sp>
        <p:nvSpPr>
          <p:cNvPr id="27" name="Text 25"/>
          <p:cNvSpPr/>
          <p:nvPr/>
        </p:nvSpPr>
        <p:spPr>
          <a:xfrm>
            <a:off x="6446520" y="5010912"/>
            <a:ext cx="5029200" cy="320040"/>
          </a:xfrm>
          <a:prstGeom prst="rect">
            <a:avLst/>
          </a:prstGeom>
          <a:noFill/>
          <a:ln/>
        </p:spPr>
        <p:txBody>
          <a:bodyPr wrap="square" lIns="0" tIns="0" rIns="0" bIns="0" rtlCol="0" anchor="ctr"/>
          <a:lstStyle/>
          <a:p>
            <a:pPr marL="0" indent="0">
              <a:buNone/>
            </a:pPr>
            <a:r>
              <a:rPr lang="en-US" sz="1250" b="1" dirty="0">
                <a:solidFill>
                  <a:srgbClr val="471DE1"/>
                </a:solidFill>
                <a:latin typeface="Calibri" pitchFamily="34" charset="0"/>
                <a:ea typeface="Calibri" pitchFamily="34" charset="-122"/>
                <a:cs typeface="Calibri" pitchFamily="34" charset="-120"/>
              </a:rPr>
              <a:t>Insurance</a:t>
            </a:r>
            <a:r>
              <a:rPr lang="en-US" sz="1250" b="1" dirty="0">
                <a:solidFill>
                  <a:srgbClr val="065A82"/>
                </a:solidFill>
                <a:latin typeface="Calibri" pitchFamily="34" charset="0"/>
                <a:ea typeface="Calibri" pitchFamily="34" charset="-122"/>
                <a:cs typeface="Calibri" pitchFamily="34" charset="-120"/>
              </a:rPr>
              <a:t> </a:t>
            </a:r>
            <a:r>
              <a:rPr lang="en-US" sz="1250" b="1" dirty="0">
                <a:solidFill>
                  <a:srgbClr val="471DE1"/>
                </a:solidFill>
                <a:latin typeface="Calibri" pitchFamily="34" charset="0"/>
                <a:ea typeface="Calibri" pitchFamily="34" charset="-122"/>
                <a:cs typeface="Calibri" pitchFamily="34" charset="-120"/>
              </a:rPr>
              <a:t>Plan</a:t>
            </a:r>
            <a:endParaRPr lang="en-US" sz="1250" dirty="0">
              <a:solidFill>
                <a:srgbClr val="471DE1"/>
              </a:solidFill>
            </a:endParaRPr>
          </a:p>
        </p:txBody>
      </p:sp>
      <p:sp>
        <p:nvSpPr>
          <p:cNvPr id="28" name="Text 26"/>
          <p:cNvSpPr/>
          <p:nvPr/>
        </p:nvSpPr>
        <p:spPr>
          <a:xfrm>
            <a:off x="6446520" y="5349240"/>
            <a:ext cx="5029200" cy="411480"/>
          </a:xfrm>
          <a:prstGeom prst="rect">
            <a:avLst/>
          </a:prstGeom>
          <a:noFill/>
          <a:ln/>
        </p:spPr>
        <p:txBody>
          <a:bodyPr wrap="square" lIns="0" tIns="0" rIns="0" bIns="0" rtlCol="0" anchor="ctr"/>
          <a:lstStyle/>
          <a:p>
            <a:pPr marL="0" indent="0">
              <a:buNone/>
            </a:pPr>
            <a:r>
              <a:rPr lang="en-US" sz="1100" dirty="0">
                <a:solidFill>
                  <a:srgbClr val="191A4E"/>
                </a:solidFill>
                <a:latin typeface="Calibri" pitchFamily="34" charset="0"/>
                <a:ea typeface="Calibri" pitchFamily="34" charset="-122"/>
                <a:cs typeface="Calibri" pitchFamily="34" charset="-120"/>
              </a:rPr>
              <a:t>plan type, premium, coverage, tenure</a:t>
            </a:r>
            <a:endParaRPr lang="en-US" sz="1100" dirty="0">
              <a:solidFill>
                <a:srgbClr val="191A4E"/>
              </a:solidFill>
            </a:endParaRPr>
          </a:p>
        </p:txBody>
      </p:sp>
      <p:sp>
        <p:nvSpPr>
          <p:cNvPr id="29" name="Text 27"/>
          <p:cNvSpPr/>
          <p:nvPr/>
        </p:nvSpPr>
        <p:spPr>
          <a:xfrm>
            <a:off x="457200" y="6446520"/>
            <a:ext cx="6400800" cy="274320"/>
          </a:xfrm>
          <a:prstGeom prst="rect">
            <a:avLst/>
          </a:prstGeom>
          <a:noFill/>
          <a:ln/>
        </p:spPr>
        <p:txBody>
          <a:bodyPr wrap="square" lIns="0" tIns="0" rIns="0" bIns="0" rtlCol="0" anchor="ctr"/>
          <a:lstStyle/>
          <a:p>
            <a:pPr marL="0" indent="0" algn="l">
              <a:buNone/>
            </a:pPr>
            <a:endParaRPr lang="en-US" sz="900" dirty="0"/>
          </a:p>
        </p:txBody>
      </p:sp>
      <p:sp>
        <p:nvSpPr>
          <p:cNvPr id="30" name="Text 28"/>
          <p:cNvSpPr/>
          <p:nvPr/>
        </p:nvSpPr>
        <p:spPr>
          <a:xfrm>
            <a:off x="11274552" y="6446520"/>
            <a:ext cx="457200" cy="27432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3</a:t>
            </a:r>
            <a:endParaRPr lang="en-US" sz="900" dirty="0"/>
          </a:p>
        </p:txBody>
      </p:sp>
      <p:sp>
        <p:nvSpPr>
          <p:cNvPr id="31" name="TextBox 30">
            <a:extLst>
              <a:ext uri="{FF2B5EF4-FFF2-40B4-BE49-F238E27FC236}">
                <a16:creationId xmlns:a16="http://schemas.microsoft.com/office/drawing/2014/main" id="{58AC6271-3440-86AF-3006-A9F49234E3BA}"/>
              </a:ext>
            </a:extLst>
          </p:cNvPr>
          <p:cNvSpPr txBox="1"/>
          <p:nvPr/>
        </p:nvSpPr>
        <p:spPr>
          <a:xfrm>
            <a:off x="457200" y="6066931"/>
            <a:ext cx="9642764" cy="338554"/>
          </a:xfrm>
          <a:prstGeom prst="rect">
            <a:avLst/>
          </a:prstGeom>
          <a:noFill/>
        </p:spPr>
        <p:txBody>
          <a:bodyPr wrap="square" rtlCol="1">
            <a:spAutoFit/>
          </a:bodyPr>
          <a:lstStyle/>
          <a:p>
            <a:r>
              <a:rPr lang="ar-EG" sz="1600" dirty="0"/>
              <a:t>These variables allowed us to analyze both customer behavior and medical costs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84048"/>
            <a:ext cx="7315200" cy="274320"/>
          </a:xfrm>
          <a:prstGeom prst="rect">
            <a:avLst/>
          </a:prstGeom>
          <a:noFill/>
          <a:ln/>
        </p:spPr>
        <p:txBody>
          <a:bodyPr wrap="square" lIns="0" tIns="0" rIns="0" bIns="0" rtlCol="0" anchor="ctr"/>
          <a:lstStyle/>
          <a:p>
            <a:pPr marL="0" indent="0">
              <a:buNone/>
            </a:pPr>
            <a:r>
              <a:rPr lang="en-US" sz="1200" b="1" kern="0" spc="200" dirty="0">
                <a:solidFill>
                  <a:srgbClr val="1C7293"/>
                </a:solidFill>
                <a:latin typeface="Calibri" pitchFamily="34" charset="0"/>
                <a:ea typeface="Calibri" pitchFamily="34" charset="-122"/>
                <a:cs typeface="Calibri" pitchFamily="34" charset="-120"/>
              </a:rPr>
              <a:t>BEING UPFRONT</a:t>
            </a:r>
            <a:endParaRPr lang="en-US" sz="1200" dirty="0"/>
          </a:p>
        </p:txBody>
      </p:sp>
      <p:sp>
        <p:nvSpPr>
          <p:cNvPr id="3" name="Text 1"/>
          <p:cNvSpPr/>
          <p:nvPr/>
        </p:nvSpPr>
        <p:spPr>
          <a:xfrm>
            <a:off x="548640" y="621792"/>
            <a:ext cx="10515600" cy="731520"/>
          </a:xfrm>
          <a:prstGeom prst="rect">
            <a:avLst/>
          </a:prstGeom>
          <a:noFill/>
          <a:ln/>
        </p:spPr>
        <p:txBody>
          <a:bodyPr wrap="square" lIns="0" tIns="0" rIns="0" bIns="0" rtlCol="0" anchor="ctr"/>
          <a:lstStyle/>
          <a:p>
            <a:pPr marL="0" indent="0">
              <a:buNone/>
            </a:pPr>
            <a:r>
              <a:rPr lang="en-US" sz="3200" b="1" dirty="0">
                <a:solidFill>
                  <a:srgbClr val="0B1F33"/>
                </a:solidFill>
                <a:latin typeface="Cambria" pitchFamily="34" charset="0"/>
                <a:ea typeface="Cambria" pitchFamily="34" charset="-122"/>
                <a:cs typeface="Cambria" pitchFamily="34" charset="-120"/>
              </a:rPr>
              <a:t>Challenges &amp; Limitations</a:t>
            </a:r>
            <a:endParaRPr lang="en-US" sz="3200" dirty="0"/>
          </a:p>
        </p:txBody>
      </p:sp>
      <p:sp>
        <p:nvSpPr>
          <p:cNvPr id="4" name="Shape 2"/>
          <p:cNvSpPr/>
          <p:nvPr/>
        </p:nvSpPr>
        <p:spPr>
          <a:xfrm>
            <a:off x="274320" y="1645920"/>
            <a:ext cx="5394960" cy="4114800"/>
          </a:xfrm>
          <a:prstGeom prst="roundRect">
            <a:avLst>
              <a:gd name="adj" fmla="val 1778"/>
            </a:avLst>
          </a:prstGeom>
          <a:solidFill>
            <a:srgbClr val="F1F6F8"/>
          </a:solidFill>
          <a:ln/>
          <a:effectLst>
            <a:outerShdw blurRad="101600" dist="38100" dir="2700000" algn="bl" rotWithShape="0">
              <a:srgbClr val="000000">
                <a:alpha val="12000"/>
              </a:srgbClr>
            </a:outerShdw>
          </a:effectLst>
        </p:spPr>
        <p:txBody>
          <a:bodyPr/>
          <a:lstStyle/>
          <a:p>
            <a:endParaRPr lang="en-US"/>
          </a:p>
        </p:txBody>
      </p:sp>
      <p:sp>
        <p:nvSpPr>
          <p:cNvPr id="5" name="Text 3"/>
          <p:cNvSpPr/>
          <p:nvPr/>
        </p:nvSpPr>
        <p:spPr>
          <a:xfrm>
            <a:off x="807720" y="1879092"/>
            <a:ext cx="4846320" cy="320040"/>
          </a:xfrm>
          <a:prstGeom prst="rect">
            <a:avLst/>
          </a:prstGeom>
          <a:noFill/>
          <a:ln/>
        </p:spPr>
        <p:txBody>
          <a:bodyPr wrap="square" lIns="0" tIns="0" rIns="0" bIns="0" rtlCol="0" anchor="ctr"/>
          <a:lstStyle/>
          <a:p>
            <a:pPr marL="0" indent="0">
              <a:buNone/>
            </a:pPr>
            <a:r>
              <a:rPr lang="en-US" b="1" dirty="0">
                <a:solidFill>
                  <a:srgbClr val="065A82"/>
                </a:solidFill>
                <a:latin typeface="Cambria" pitchFamily="34" charset="0"/>
                <a:ea typeface="Cambria" pitchFamily="34" charset="-122"/>
                <a:cs typeface="Cambria" pitchFamily="34" charset="-120"/>
              </a:rPr>
              <a:t>Data Challenges</a:t>
            </a:r>
            <a:endParaRPr lang="en-US" dirty="0"/>
          </a:p>
        </p:txBody>
      </p:sp>
      <p:sp>
        <p:nvSpPr>
          <p:cNvPr id="6" name="Text 4"/>
          <p:cNvSpPr/>
          <p:nvPr/>
        </p:nvSpPr>
        <p:spPr>
          <a:xfrm>
            <a:off x="548640" y="2249517"/>
            <a:ext cx="4420524" cy="2409352"/>
          </a:xfrm>
          <a:prstGeom prst="rect">
            <a:avLst/>
          </a:prstGeom>
          <a:noFill/>
          <a:ln/>
        </p:spPr>
        <p:txBody>
          <a:bodyPr wrap="square" lIns="0" tIns="0" rIns="0" bIns="0" rtlCol="0" anchor="ctr"/>
          <a:lstStyle/>
          <a:p>
            <a:pPr marL="171450" indent="-171450">
              <a:spcAft>
                <a:spcPts val="1000"/>
              </a:spcAft>
              <a:buSzPct val="100000"/>
              <a:buFont typeface="Arial" panose="020B0604020202020204" pitchFamily="34" charset="0"/>
              <a:buChar char="•"/>
            </a:pPr>
            <a:r>
              <a:rPr lang="en-US" sz="1200" dirty="0"/>
              <a:t>The Age column contained invalid values ranging from 0 to 200, </a:t>
            </a:r>
            <a:br>
              <a:rPr lang="en-US" sz="1200" dirty="0"/>
            </a:br>
            <a:r>
              <a:rPr lang="en-US" sz="1200" dirty="0"/>
              <a:t>resulting in unrealistic patient records and affecting data quality.</a:t>
            </a:r>
            <a:br>
              <a:rPr lang="en-US" sz="1200" dirty="0"/>
            </a:br>
            <a:r>
              <a:rPr lang="en-US" sz="1200" dirty="0"/>
              <a:t> </a:t>
            </a:r>
            <a:br>
              <a:rPr lang="en-US" sz="1200" dirty="0"/>
            </a:br>
            <a:r>
              <a:rPr lang="en-US" sz="1200" dirty="0"/>
              <a:t>values were cleaned and validated using predefined business rules to ensure consistency.</a:t>
            </a:r>
            <a:br>
              <a:rPr lang="en-US" sz="1200" dirty="0"/>
            </a:br>
            <a:br>
              <a:rPr lang="en-US" sz="1200" dirty="0"/>
            </a:br>
            <a:r>
              <a:rPr lang="en-US" sz="1200" dirty="0"/>
              <a:t>Minor data quality issues, such as missing and inconsistent values, were also corrected during the preprocessing stage.</a:t>
            </a:r>
          </a:p>
        </p:txBody>
      </p:sp>
      <p:sp>
        <p:nvSpPr>
          <p:cNvPr id="7" name="Shape 5"/>
          <p:cNvSpPr/>
          <p:nvPr/>
        </p:nvSpPr>
        <p:spPr>
          <a:xfrm>
            <a:off x="6187440" y="1645920"/>
            <a:ext cx="5394960" cy="4114800"/>
          </a:xfrm>
          <a:prstGeom prst="roundRect">
            <a:avLst>
              <a:gd name="adj" fmla="val 1778"/>
            </a:avLst>
          </a:prstGeom>
          <a:solidFill>
            <a:srgbClr val="F1F6F8"/>
          </a:solidFill>
          <a:ln/>
          <a:effectLst>
            <a:outerShdw blurRad="101600" dist="38100" dir="2700000" algn="bl" rotWithShape="0">
              <a:srgbClr val="000000">
                <a:alpha val="12000"/>
              </a:srgbClr>
            </a:outerShdw>
          </a:effectLst>
        </p:spPr>
        <p:txBody>
          <a:bodyPr/>
          <a:lstStyle/>
          <a:p>
            <a:endParaRPr lang="en-US" dirty="0"/>
          </a:p>
        </p:txBody>
      </p:sp>
      <p:sp>
        <p:nvSpPr>
          <p:cNvPr id="8" name="Text 6"/>
          <p:cNvSpPr/>
          <p:nvPr/>
        </p:nvSpPr>
        <p:spPr>
          <a:xfrm>
            <a:off x="6537960" y="1828800"/>
            <a:ext cx="4846320" cy="320040"/>
          </a:xfrm>
          <a:prstGeom prst="rect">
            <a:avLst/>
          </a:prstGeom>
          <a:noFill/>
          <a:ln/>
        </p:spPr>
        <p:txBody>
          <a:bodyPr wrap="square" lIns="0" tIns="0" rIns="0" bIns="0" rtlCol="0" anchor="ctr"/>
          <a:lstStyle/>
          <a:p>
            <a:pPr marL="0" indent="0">
              <a:buNone/>
            </a:pPr>
            <a:r>
              <a:rPr lang="en-US" b="1" dirty="0">
                <a:solidFill>
                  <a:srgbClr val="065A82"/>
                </a:solidFill>
                <a:latin typeface="Cambria" pitchFamily="34" charset="0"/>
                <a:ea typeface="Cambria" pitchFamily="34" charset="-122"/>
                <a:cs typeface="Cambria" pitchFamily="34" charset="-120"/>
              </a:rPr>
              <a:t>Project Limitations</a:t>
            </a:r>
          </a:p>
        </p:txBody>
      </p:sp>
      <p:sp>
        <p:nvSpPr>
          <p:cNvPr id="9" name="Text 7"/>
          <p:cNvSpPr/>
          <p:nvPr/>
        </p:nvSpPr>
        <p:spPr>
          <a:xfrm>
            <a:off x="6629400" y="2199132"/>
            <a:ext cx="4754880" cy="2465463"/>
          </a:xfrm>
          <a:prstGeom prst="rect">
            <a:avLst/>
          </a:prstGeom>
          <a:noFill/>
          <a:ln/>
        </p:spPr>
        <p:txBody>
          <a:bodyPr wrap="square" lIns="0" tIns="0" rIns="0" bIns="0" rtlCol="0" anchor="ctr"/>
          <a:lstStyle/>
          <a:p>
            <a:pPr>
              <a:buFont typeface="Arial" panose="020B0604020202020204" pitchFamily="34" charset="0"/>
              <a:buChar char="•"/>
            </a:pPr>
            <a:r>
              <a:rPr lang="ar-EG" sz="1400" dirty="0"/>
              <a:t>The analysis was based on a static historical dataset</a:t>
            </a:r>
            <a:br>
              <a:rPr lang="ar-EG" sz="1400" dirty="0"/>
            </a:br>
            <a:r>
              <a:rPr lang="ar-EG" sz="1400" dirty="0"/>
              <a:t>. </a:t>
            </a:r>
          </a:p>
          <a:p>
            <a:pPr>
              <a:buFont typeface="Arial" panose="020B0604020202020204" pitchFamily="34" charset="0"/>
              <a:buChar char="•"/>
            </a:pPr>
            <a:r>
              <a:rPr lang="ar-EG" sz="1400" dirty="0"/>
              <a:t>Results depend on the quality of the available data after preprocessing. </a:t>
            </a:r>
            <a:br>
              <a:rPr lang="ar-EG" sz="1400" dirty="0"/>
            </a:br>
            <a:endParaRPr lang="ar-EG" sz="1400" dirty="0"/>
          </a:p>
          <a:p>
            <a:pPr>
              <a:buFont typeface="Arial" panose="020B0604020202020204" pitchFamily="34" charset="0"/>
              <a:buChar char="•"/>
            </a:pPr>
            <a:r>
              <a:rPr lang="ar-EG" sz="1400" dirty="0"/>
              <a:t>The project focused on descriptive analytics and dashboard reporting rather than predictive modeling. </a:t>
            </a:r>
          </a:p>
        </p:txBody>
      </p:sp>
      <p:sp>
        <p:nvSpPr>
          <p:cNvPr id="10" name="Text 8"/>
          <p:cNvSpPr/>
          <p:nvPr/>
        </p:nvSpPr>
        <p:spPr>
          <a:xfrm>
            <a:off x="457200" y="6446520"/>
            <a:ext cx="6400800" cy="274320"/>
          </a:xfrm>
          <a:prstGeom prst="rect">
            <a:avLst/>
          </a:prstGeom>
          <a:noFill/>
          <a:ln/>
        </p:spPr>
        <p:txBody>
          <a:bodyPr wrap="square" lIns="0" tIns="0" rIns="0" bIns="0" rtlCol="0" anchor="ctr"/>
          <a:lstStyle/>
          <a:p>
            <a:pPr marL="0" indent="0" algn="l">
              <a:buNone/>
            </a:pPr>
            <a:r>
              <a:rPr lang="en-US" sz="900" dirty="0">
                <a:solidFill>
                  <a:srgbClr val="64748B"/>
                </a:solidFill>
                <a:latin typeface="Calibri" pitchFamily="34" charset="0"/>
                <a:ea typeface="Calibri" pitchFamily="34" charset="-122"/>
                <a:cs typeface="Calibri" pitchFamily="34" charset="-120"/>
              </a:rPr>
              <a:t>DEPI Capstone — Medical Insurance Analytics</a:t>
            </a:r>
            <a:endParaRPr lang="en-US" sz="900" dirty="0"/>
          </a:p>
        </p:txBody>
      </p:sp>
      <p:sp>
        <p:nvSpPr>
          <p:cNvPr id="11" name="Text 9"/>
          <p:cNvSpPr/>
          <p:nvPr/>
        </p:nvSpPr>
        <p:spPr>
          <a:xfrm>
            <a:off x="11274552" y="6446520"/>
            <a:ext cx="457200" cy="27432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84048"/>
            <a:ext cx="7315200" cy="274320"/>
          </a:xfrm>
          <a:prstGeom prst="rect">
            <a:avLst/>
          </a:prstGeom>
          <a:noFill/>
          <a:ln/>
        </p:spPr>
        <p:txBody>
          <a:bodyPr wrap="square" lIns="0" tIns="0" rIns="0" bIns="0" rtlCol="0" anchor="ctr"/>
          <a:lstStyle/>
          <a:p>
            <a:pPr marL="0" indent="0">
              <a:buNone/>
            </a:pPr>
            <a:endParaRPr lang="en-US" sz="1200" dirty="0">
              <a:solidFill>
                <a:srgbClr val="471DE1"/>
              </a:solidFill>
            </a:endParaRPr>
          </a:p>
        </p:txBody>
      </p:sp>
      <p:sp>
        <p:nvSpPr>
          <p:cNvPr id="3" name="Text 1"/>
          <p:cNvSpPr/>
          <p:nvPr/>
        </p:nvSpPr>
        <p:spPr>
          <a:xfrm>
            <a:off x="548640" y="621792"/>
            <a:ext cx="10515600" cy="731520"/>
          </a:xfrm>
          <a:prstGeom prst="rect">
            <a:avLst/>
          </a:prstGeom>
          <a:noFill/>
          <a:ln/>
        </p:spPr>
        <p:txBody>
          <a:bodyPr wrap="square" lIns="0" tIns="0" rIns="0" bIns="0" rtlCol="0" anchor="ctr"/>
          <a:lstStyle/>
          <a:p>
            <a:pPr marL="0" indent="0">
              <a:buNone/>
            </a:pPr>
            <a:r>
              <a:rPr lang="en-US" sz="3200" b="1" dirty="0">
                <a:solidFill>
                  <a:srgbClr val="0B1F33"/>
                </a:solidFill>
                <a:latin typeface="Cambria" pitchFamily="34" charset="0"/>
                <a:ea typeface="Cambria" pitchFamily="34" charset="-122"/>
                <a:cs typeface="Cambria" pitchFamily="34" charset="-120"/>
              </a:rPr>
              <a:t>The Analytics Tools</a:t>
            </a:r>
            <a:endParaRPr lang="en-US" sz="3200" dirty="0"/>
          </a:p>
        </p:txBody>
      </p:sp>
      <p:sp>
        <p:nvSpPr>
          <p:cNvPr id="25" name="Text 23"/>
          <p:cNvSpPr/>
          <p:nvPr/>
        </p:nvSpPr>
        <p:spPr>
          <a:xfrm>
            <a:off x="1280160" y="5029200"/>
            <a:ext cx="9601200" cy="731520"/>
          </a:xfrm>
          <a:prstGeom prst="rect">
            <a:avLst/>
          </a:prstGeom>
          <a:noFill/>
          <a:ln/>
        </p:spPr>
        <p:txBody>
          <a:bodyPr wrap="square" lIns="0" tIns="0" rIns="0" bIns="0" rtlCol="0" anchor="ctr"/>
          <a:lstStyle/>
          <a:p>
            <a:pPr marL="0" indent="0" algn="ctr">
              <a:buNone/>
            </a:pPr>
            <a:endParaRPr lang="en-US" sz="1250" dirty="0"/>
          </a:p>
        </p:txBody>
      </p:sp>
      <p:sp>
        <p:nvSpPr>
          <p:cNvPr id="26" name="Text 24"/>
          <p:cNvSpPr/>
          <p:nvPr/>
        </p:nvSpPr>
        <p:spPr>
          <a:xfrm>
            <a:off x="457200" y="6446520"/>
            <a:ext cx="6400800" cy="274320"/>
          </a:xfrm>
          <a:prstGeom prst="rect">
            <a:avLst/>
          </a:prstGeom>
          <a:noFill/>
          <a:ln/>
        </p:spPr>
        <p:txBody>
          <a:bodyPr wrap="square" lIns="0" tIns="0" rIns="0" bIns="0" rtlCol="0" anchor="ctr"/>
          <a:lstStyle/>
          <a:p>
            <a:pPr marL="0" indent="0" algn="l">
              <a:buNone/>
            </a:pPr>
            <a:endParaRPr lang="en-US" sz="900" dirty="0"/>
          </a:p>
        </p:txBody>
      </p:sp>
      <p:sp>
        <p:nvSpPr>
          <p:cNvPr id="27" name="Text 25"/>
          <p:cNvSpPr/>
          <p:nvPr/>
        </p:nvSpPr>
        <p:spPr>
          <a:xfrm>
            <a:off x="11274552" y="6446520"/>
            <a:ext cx="457200" cy="27432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4</a:t>
            </a:r>
            <a:endParaRPr lang="en-US" sz="900" dirty="0"/>
          </a:p>
        </p:txBody>
      </p:sp>
      <p:pic>
        <p:nvPicPr>
          <p:cNvPr id="28" name="Picture 27" descr="microsoft excel mobile apps logo 17396828 PNG">
            <a:extLst>
              <a:ext uri="{FF2B5EF4-FFF2-40B4-BE49-F238E27FC236}">
                <a16:creationId xmlns:a16="http://schemas.microsoft.com/office/drawing/2014/main" id="{7B88AF09-49AF-8353-79C1-398FADC214A1}"/>
              </a:ext>
            </a:extLst>
          </p:cNvPr>
          <p:cNvPicPr>
            <a:picLocks noChangeAspect="1"/>
          </p:cNvPicPr>
          <p:nvPr/>
        </p:nvPicPr>
        <p:blipFill>
          <a:blip r:embed="rId3"/>
          <a:srcRect l="11565" t="18739" r="19622" b="19730"/>
          <a:stretch>
            <a:fillRect/>
          </a:stretch>
        </p:blipFill>
        <p:spPr>
          <a:xfrm>
            <a:off x="1814287" y="2752557"/>
            <a:ext cx="911343" cy="764091"/>
          </a:xfrm>
          <a:prstGeom prst="rect">
            <a:avLst/>
          </a:prstGeom>
        </p:spPr>
      </p:pic>
      <p:sp>
        <p:nvSpPr>
          <p:cNvPr id="29" name="Text 7">
            <a:extLst>
              <a:ext uri="{FF2B5EF4-FFF2-40B4-BE49-F238E27FC236}">
                <a16:creationId xmlns:a16="http://schemas.microsoft.com/office/drawing/2014/main" id="{E2D89A2C-3EBD-2F5B-D9D7-BBB6C6987C56}"/>
              </a:ext>
            </a:extLst>
          </p:cNvPr>
          <p:cNvSpPr/>
          <p:nvPr/>
        </p:nvSpPr>
        <p:spPr>
          <a:xfrm>
            <a:off x="1755038" y="3481216"/>
            <a:ext cx="1234440" cy="274320"/>
          </a:xfrm>
          <a:prstGeom prst="rect">
            <a:avLst/>
          </a:prstGeom>
          <a:noFill/>
          <a:ln/>
        </p:spPr>
        <p:txBody>
          <a:bodyPr wrap="square" lIns="0" tIns="0" rIns="0" bIns="0" rtlCol="0" anchor="ctr"/>
          <a:lstStyle/>
          <a:p>
            <a:pPr marL="0" indent="0" algn="ctr">
              <a:buNone/>
            </a:pPr>
            <a:r>
              <a:rPr lang="en-US" sz="1600" dirty="0">
                <a:solidFill>
                  <a:srgbClr val="191A4E"/>
                </a:solidFill>
                <a:latin typeface="Calibri" pitchFamily="34" charset="0"/>
                <a:ea typeface="Calibri" pitchFamily="34" charset="-122"/>
                <a:cs typeface="Calibri" pitchFamily="34" charset="-120"/>
              </a:rPr>
              <a:t>Excel</a:t>
            </a:r>
            <a:endParaRPr lang="en-US" sz="1600" dirty="0">
              <a:solidFill>
                <a:srgbClr val="191A4E"/>
              </a:solidFill>
            </a:endParaRPr>
          </a:p>
        </p:txBody>
      </p:sp>
      <p:sp>
        <p:nvSpPr>
          <p:cNvPr id="30" name="Text 10">
            <a:extLst>
              <a:ext uri="{FF2B5EF4-FFF2-40B4-BE49-F238E27FC236}">
                <a16:creationId xmlns:a16="http://schemas.microsoft.com/office/drawing/2014/main" id="{7262F93E-826E-026A-72D0-E2748EED5C6B}"/>
              </a:ext>
            </a:extLst>
          </p:cNvPr>
          <p:cNvSpPr/>
          <p:nvPr/>
        </p:nvSpPr>
        <p:spPr>
          <a:xfrm>
            <a:off x="3632083" y="3481216"/>
            <a:ext cx="1234440" cy="274320"/>
          </a:xfrm>
          <a:prstGeom prst="rect">
            <a:avLst/>
          </a:prstGeom>
          <a:noFill/>
          <a:ln/>
        </p:spPr>
        <p:txBody>
          <a:bodyPr wrap="square" lIns="0" tIns="0" rIns="0" bIns="0" rtlCol="0" anchor="ctr"/>
          <a:lstStyle/>
          <a:p>
            <a:pPr marL="0" indent="0" algn="ctr">
              <a:buNone/>
            </a:pPr>
            <a:r>
              <a:rPr lang="en-US" sz="1600" dirty="0">
                <a:solidFill>
                  <a:srgbClr val="191A4E"/>
                </a:solidFill>
                <a:latin typeface="Calibri" pitchFamily="34" charset="0"/>
                <a:ea typeface="Calibri" pitchFamily="34" charset="-122"/>
                <a:cs typeface="Calibri" pitchFamily="34" charset="-120"/>
              </a:rPr>
              <a:t>Python</a:t>
            </a:r>
            <a:endParaRPr lang="en-US" sz="1600" dirty="0">
              <a:solidFill>
                <a:srgbClr val="191A4E"/>
              </a:solidFill>
            </a:endParaRPr>
          </a:p>
        </p:txBody>
      </p:sp>
      <p:sp>
        <p:nvSpPr>
          <p:cNvPr id="31" name="Text 13">
            <a:extLst>
              <a:ext uri="{FF2B5EF4-FFF2-40B4-BE49-F238E27FC236}">
                <a16:creationId xmlns:a16="http://schemas.microsoft.com/office/drawing/2014/main" id="{C8904B3F-DF06-4FD5-C855-56A964B2B13C}"/>
              </a:ext>
            </a:extLst>
          </p:cNvPr>
          <p:cNvSpPr/>
          <p:nvPr/>
        </p:nvSpPr>
        <p:spPr>
          <a:xfrm>
            <a:off x="5566251" y="3481216"/>
            <a:ext cx="1234440" cy="274320"/>
          </a:xfrm>
          <a:prstGeom prst="rect">
            <a:avLst/>
          </a:prstGeom>
          <a:noFill/>
          <a:ln/>
        </p:spPr>
        <p:txBody>
          <a:bodyPr wrap="square" lIns="0" tIns="0" rIns="0" bIns="0" rtlCol="0" anchor="ctr"/>
          <a:lstStyle/>
          <a:p>
            <a:pPr marL="0" indent="0" algn="ctr">
              <a:buNone/>
            </a:pPr>
            <a:r>
              <a:rPr lang="en-US" sz="1600" dirty="0">
                <a:solidFill>
                  <a:srgbClr val="191A4E"/>
                </a:solidFill>
                <a:latin typeface="Calibri" pitchFamily="34" charset="0"/>
                <a:ea typeface="Calibri" pitchFamily="34" charset="-122"/>
                <a:cs typeface="Calibri" pitchFamily="34" charset="-120"/>
              </a:rPr>
              <a:t>SQL</a:t>
            </a:r>
            <a:endParaRPr lang="en-US" sz="1600" dirty="0">
              <a:solidFill>
                <a:srgbClr val="191A4E"/>
              </a:solidFill>
            </a:endParaRPr>
          </a:p>
        </p:txBody>
      </p:sp>
      <p:sp>
        <p:nvSpPr>
          <p:cNvPr id="32" name="Text 16">
            <a:extLst>
              <a:ext uri="{FF2B5EF4-FFF2-40B4-BE49-F238E27FC236}">
                <a16:creationId xmlns:a16="http://schemas.microsoft.com/office/drawing/2014/main" id="{452C542F-E75A-7C7D-3204-3963612E5985}"/>
              </a:ext>
            </a:extLst>
          </p:cNvPr>
          <p:cNvSpPr/>
          <p:nvPr/>
        </p:nvSpPr>
        <p:spPr>
          <a:xfrm>
            <a:off x="7433551" y="3481216"/>
            <a:ext cx="1234440" cy="274320"/>
          </a:xfrm>
          <a:prstGeom prst="rect">
            <a:avLst/>
          </a:prstGeom>
          <a:noFill/>
          <a:ln/>
        </p:spPr>
        <p:txBody>
          <a:bodyPr wrap="square" lIns="0" tIns="0" rIns="0" bIns="0" rtlCol="0" anchor="ctr"/>
          <a:lstStyle/>
          <a:p>
            <a:pPr marL="0" indent="0" algn="ctr">
              <a:buNone/>
            </a:pPr>
            <a:r>
              <a:rPr lang="en-US" sz="1600" dirty="0">
                <a:solidFill>
                  <a:srgbClr val="191A4E"/>
                </a:solidFill>
                <a:latin typeface="Calibri" pitchFamily="34" charset="0"/>
                <a:ea typeface="Calibri" pitchFamily="34" charset="-122"/>
                <a:cs typeface="Calibri" pitchFamily="34" charset="-120"/>
              </a:rPr>
              <a:t>Power BI</a:t>
            </a:r>
            <a:endParaRPr lang="en-US" sz="1600" dirty="0">
              <a:solidFill>
                <a:srgbClr val="191A4E"/>
              </a:solidFill>
            </a:endParaRPr>
          </a:p>
        </p:txBody>
      </p:sp>
      <p:sp>
        <p:nvSpPr>
          <p:cNvPr id="33" name="Text 19">
            <a:extLst>
              <a:ext uri="{FF2B5EF4-FFF2-40B4-BE49-F238E27FC236}">
                <a16:creationId xmlns:a16="http://schemas.microsoft.com/office/drawing/2014/main" id="{5A8EB261-B5E5-C38D-A7B4-EA22F315585D}"/>
              </a:ext>
            </a:extLst>
          </p:cNvPr>
          <p:cNvSpPr/>
          <p:nvPr/>
        </p:nvSpPr>
        <p:spPr>
          <a:xfrm>
            <a:off x="9310596" y="3481216"/>
            <a:ext cx="1234440" cy="274320"/>
          </a:xfrm>
          <a:prstGeom prst="rect">
            <a:avLst/>
          </a:prstGeom>
          <a:noFill/>
          <a:ln/>
        </p:spPr>
        <p:txBody>
          <a:bodyPr wrap="square" lIns="0" tIns="0" rIns="0" bIns="0" rtlCol="0" anchor="ctr"/>
          <a:lstStyle/>
          <a:p>
            <a:pPr marL="0" indent="0" algn="ctr">
              <a:buNone/>
            </a:pPr>
            <a:r>
              <a:rPr lang="en-US" sz="1600" dirty="0">
                <a:solidFill>
                  <a:srgbClr val="191A4E"/>
                </a:solidFill>
                <a:latin typeface="Calibri" pitchFamily="34" charset="0"/>
                <a:ea typeface="Calibri" pitchFamily="34" charset="-122"/>
                <a:cs typeface="Calibri" pitchFamily="34" charset="-120"/>
              </a:rPr>
              <a:t>Tableau</a:t>
            </a:r>
            <a:endParaRPr lang="en-US" sz="1600" dirty="0">
              <a:solidFill>
                <a:srgbClr val="191A4E"/>
              </a:solidFill>
            </a:endParaRPr>
          </a:p>
        </p:txBody>
      </p:sp>
      <p:pic>
        <p:nvPicPr>
          <p:cNvPr id="34" name="Picture 33" descr="Python (programming language) - Wikipedia">
            <a:extLst>
              <a:ext uri="{FF2B5EF4-FFF2-40B4-BE49-F238E27FC236}">
                <a16:creationId xmlns:a16="http://schemas.microsoft.com/office/drawing/2014/main" id="{236830E0-5D44-13A2-2367-8D421004705C}"/>
              </a:ext>
            </a:extLst>
          </p:cNvPr>
          <p:cNvPicPr>
            <a:picLocks noChangeAspect="1"/>
          </p:cNvPicPr>
          <p:nvPr/>
        </p:nvPicPr>
        <p:blipFill>
          <a:blip r:embed="rId4"/>
          <a:stretch>
            <a:fillRect/>
          </a:stretch>
        </p:blipFill>
        <p:spPr>
          <a:xfrm>
            <a:off x="3865827" y="2749696"/>
            <a:ext cx="766952" cy="766952"/>
          </a:xfrm>
          <a:prstGeom prst="rect">
            <a:avLst/>
          </a:prstGeom>
        </p:spPr>
      </p:pic>
      <p:pic>
        <p:nvPicPr>
          <p:cNvPr id="35" name="Picture 34" descr="File:Sql data base with logo.png - Wikimedia Commons">
            <a:extLst>
              <a:ext uri="{FF2B5EF4-FFF2-40B4-BE49-F238E27FC236}">
                <a16:creationId xmlns:a16="http://schemas.microsoft.com/office/drawing/2014/main" id="{0640836F-D66F-42E2-4BC9-9238B25EEF24}"/>
              </a:ext>
            </a:extLst>
          </p:cNvPr>
          <p:cNvPicPr>
            <a:picLocks noChangeAspect="1"/>
          </p:cNvPicPr>
          <p:nvPr/>
        </p:nvPicPr>
        <p:blipFill>
          <a:blip r:embed="rId5"/>
          <a:srcRect r="53085"/>
          <a:stretch>
            <a:fillRect/>
          </a:stretch>
        </p:blipFill>
        <p:spPr>
          <a:xfrm>
            <a:off x="5772976" y="2749696"/>
            <a:ext cx="724019" cy="731520"/>
          </a:xfrm>
          <a:prstGeom prst="rect">
            <a:avLst/>
          </a:prstGeom>
        </p:spPr>
      </p:pic>
      <p:pic>
        <p:nvPicPr>
          <p:cNvPr id="36" name="Picture 35" descr="File:New Power BI Logo.svg - Wikimedia Commons">
            <a:extLst>
              <a:ext uri="{FF2B5EF4-FFF2-40B4-BE49-F238E27FC236}">
                <a16:creationId xmlns:a16="http://schemas.microsoft.com/office/drawing/2014/main" id="{CAF38691-2E11-1212-A89F-DE4E4F84EC20}"/>
              </a:ext>
            </a:extLst>
          </p:cNvPr>
          <p:cNvPicPr>
            <a:picLocks noChangeAspect="1"/>
          </p:cNvPicPr>
          <p:nvPr/>
        </p:nvPicPr>
        <p:blipFill>
          <a:blip r:embed="rId6"/>
          <a:stretch>
            <a:fillRect/>
          </a:stretch>
        </p:blipFill>
        <p:spPr>
          <a:xfrm>
            <a:off x="7637192" y="2749696"/>
            <a:ext cx="766952" cy="766952"/>
          </a:xfrm>
          <a:prstGeom prst="rect">
            <a:avLst/>
          </a:prstGeom>
        </p:spPr>
      </p:pic>
      <p:pic>
        <p:nvPicPr>
          <p:cNvPr id="37" name="Picture 36" descr="Tableau Software color icon in PNG, SVG">
            <a:extLst>
              <a:ext uri="{FF2B5EF4-FFF2-40B4-BE49-F238E27FC236}">
                <a16:creationId xmlns:a16="http://schemas.microsoft.com/office/drawing/2014/main" id="{93E98643-1EDF-BB41-F748-7A20F5862B2E}"/>
              </a:ext>
            </a:extLst>
          </p:cNvPr>
          <p:cNvPicPr>
            <a:picLocks noChangeAspect="1"/>
          </p:cNvPicPr>
          <p:nvPr/>
        </p:nvPicPr>
        <p:blipFill>
          <a:blip r:embed="rId7"/>
          <a:stretch>
            <a:fillRect/>
          </a:stretch>
        </p:blipFill>
        <p:spPr>
          <a:xfrm>
            <a:off x="9544340" y="2749696"/>
            <a:ext cx="766952" cy="766952"/>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612B58EF-479D-0DCE-9352-47988988E65A}"/>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D69153AC-AB83-EAB4-E63F-9BD093B86EEA}"/>
              </a:ext>
            </a:extLst>
          </p:cNvPr>
          <p:cNvSpPr/>
          <p:nvPr/>
        </p:nvSpPr>
        <p:spPr>
          <a:xfrm>
            <a:off x="548640" y="384048"/>
            <a:ext cx="7315200" cy="274320"/>
          </a:xfrm>
          <a:prstGeom prst="rect">
            <a:avLst/>
          </a:prstGeom>
          <a:noFill/>
          <a:ln/>
        </p:spPr>
        <p:txBody>
          <a:bodyPr wrap="square" lIns="0" tIns="0" rIns="0" bIns="0" rtlCol="0" anchor="ctr"/>
          <a:lstStyle/>
          <a:p>
            <a:pPr marL="0" indent="0">
              <a:buNone/>
            </a:pPr>
            <a:r>
              <a:rPr lang="en-US" sz="1200" b="1" kern="0" spc="200" dirty="0">
                <a:solidFill>
                  <a:srgbClr val="471DE1"/>
                </a:solidFill>
                <a:latin typeface="Calibri" pitchFamily="34" charset="0"/>
                <a:ea typeface="Calibri" pitchFamily="34" charset="-122"/>
                <a:cs typeface="Calibri" pitchFamily="34" charset="-120"/>
              </a:rPr>
              <a:t>FIRST LOOK AT THE DATA</a:t>
            </a:r>
            <a:endParaRPr lang="en-US" sz="1200" dirty="0">
              <a:solidFill>
                <a:srgbClr val="471DE1"/>
              </a:solidFill>
            </a:endParaRPr>
          </a:p>
        </p:txBody>
      </p:sp>
      <p:sp>
        <p:nvSpPr>
          <p:cNvPr id="3" name="Text 1">
            <a:extLst>
              <a:ext uri="{FF2B5EF4-FFF2-40B4-BE49-F238E27FC236}">
                <a16:creationId xmlns:a16="http://schemas.microsoft.com/office/drawing/2014/main" id="{5094C0A3-75E5-437F-C9AB-378D096F6CA4}"/>
              </a:ext>
            </a:extLst>
          </p:cNvPr>
          <p:cNvSpPr/>
          <p:nvPr/>
        </p:nvSpPr>
        <p:spPr>
          <a:xfrm>
            <a:off x="548640" y="621792"/>
            <a:ext cx="10515600" cy="731520"/>
          </a:xfrm>
          <a:prstGeom prst="rect">
            <a:avLst/>
          </a:prstGeom>
          <a:noFill/>
          <a:ln/>
        </p:spPr>
        <p:txBody>
          <a:bodyPr wrap="square" lIns="0" tIns="0" rIns="0" bIns="0" rtlCol="0" anchor="ctr"/>
          <a:lstStyle/>
          <a:p>
            <a:pPr marL="0" indent="0">
              <a:buNone/>
            </a:pPr>
            <a:r>
              <a:rPr lang="en-US" sz="3200" b="1" dirty="0">
                <a:solidFill>
                  <a:srgbClr val="191A4E"/>
                </a:solidFill>
                <a:latin typeface="Cambria" pitchFamily="34" charset="0"/>
                <a:ea typeface="Cambria" pitchFamily="34" charset="-122"/>
                <a:cs typeface="Cambria" pitchFamily="34" charset="-120"/>
              </a:rPr>
              <a:t>Excel—Data Modeling</a:t>
            </a:r>
            <a:endParaRPr lang="en-US" sz="3200" dirty="0">
              <a:solidFill>
                <a:srgbClr val="191A4E"/>
              </a:solidFill>
            </a:endParaRPr>
          </a:p>
        </p:txBody>
      </p:sp>
      <p:sp>
        <p:nvSpPr>
          <p:cNvPr id="4" name="Shape 2">
            <a:extLst>
              <a:ext uri="{FF2B5EF4-FFF2-40B4-BE49-F238E27FC236}">
                <a16:creationId xmlns:a16="http://schemas.microsoft.com/office/drawing/2014/main" id="{AB6A83F9-4ADB-0C93-B3EC-BFE9B5111159}"/>
              </a:ext>
            </a:extLst>
          </p:cNvPr>
          <p:cNvSpPr/>
          <p:nvPr/>
        </p:nvSpPr>
        <p:spPr>
          <a:xfrm>
            <a:off x="548640" y="1875806"/>
            <a:ext cx="411480" cy="411480"/>
          </a:xfrm>
          <a:prstGeom prst="ellipse">
            <a:avLst/>
          </a:prstGeom>
          <a:solidFill>
            <a:srgbClr val="471DE1"/>
          </a:solidFill>
          <a:ln/>
        </p:spPr>
        <p:txBody>
          <a:bodyPr/>
          <a:lstStyle/>
          <a:p>
            <a:endParaRPr lang="en-US"/>
          </a:p>
        </p:txBody>
      </p:sp>
      <p:sp>
        <p:nvSpPr>
          <p:cNvPr id="5" name="Text 3">
            <a:extLst>
              <a:ext uri="{FF2B5EF4-FFF2-40B4-BE49-F238E27FC236}">
                <a16:creationId xmlns:a16="http://schemas.microsoft.com/office/drawing/2014/main" id="{8172F1A1-BD3E-BB70-8B7E-A596DBE37CC4}"/>
              </a:ext>
            </a:extLst>
          </p:cNvPr>
          <p:cNvSpPr/>
          <p:nvPr/>
        </p:nvSpPr>
        <p:spPr>
          <a:xfrm>
            <a:off x="548640" y="1856483"/>
            <a:ext cx="411480" cy="411480"/>
          </a:xfrm>
          <a:prstGeom prst="rect">
            <a:avLst/>
          </a:prstGeom>
          <a:noFill/>
          <a:ln/>
        </p:spPr>
        <p:txBody>
          <a:bodyPr wrap="square" lIns="0" tIns="0" rIns="0" bIns="0" rtlCol="0" anchor="ctr"/>
          <a:lstStyle/>
          <a:p>
            <a:pPr marL="0" indent="0" algn="ctr">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6" name="Text 4">
            <a:extLst>
              <a:ext uri="{FF2B5EF4-FFF2-40B4-BE49-F238E27FC236}">
                <a16:creationId xmlns:a16="http://schemas.microsoft.com/office/drawing/2014/main" id="{82B40332-D37A-1A2C-0228-E2EFED4B740D}"/>
              </a:ext>
            </a:extLst>
          </p:cNvPr>
          <p:cNvSpPr/>
          <p:nvPr/>
        </p:nvSpPr>
        <p:spPr>
          <a:xfrm>
            <a:off x="1143000" y="1830086"/>
            <a:ext cx="4297680" cy="320040"/>
          </a:xfrm>
          <a:prstGeom prst="rect">
            <a:avLst/>
          </a:prstGeom>
          <a:noFill/>
          <a:ln/>
        </p:spPr>
        <p:txBody>
          <a:bodyPr wrap="square" lIns="0" tIns="0" rIns="0" bIns="0" rtlCol="0" anchor="ctr"/>
          <a:lstStyle/>
          <a:p>
            <a:pPr marL="0" indent="0">
              <a:buNone/>
            </a:pPr>
            <a:r>
              <a:rPr lang="en-US" sz="1400" b="1" dirty="0">
                <a:solidFill>
                  <a:srgbClr val="471DE1"/>
                </a:solidFill>
                <a:latin typeface="Cambria" pitchFamily="34" charset="0"/>
                <a:ea typeface="Cambria" pitchFamily="34" charset="-122"/>
                <a:cs typeface="Cambria" pitchFamily="34" charset="-120"/>
              </a:rPr>
              <a:t>Data Import</a:t>
            </a:r>
            <a:endParaRPr lang="en-US" sz="1400" dirty="0">
              <a:solidFill>
                <a:srgbClr val="471DE1"/>
              </a:solidFill>
            </a:endParaRPr>
          </a:p>
        </p:txBody>
      </p:sp>
      <p:sp>
        <p:nvSpPr>
          <p:cNvPr id="7" name="Text 5">
            <a:extLst>
              <a:ext uri="{FF2B5EF4-FFF2-40B4-BE49-F238E27FC236}">
                <a16:creationId xmlns:a16="http://schemas.microsoft.com/office/drawing/2014/main" id="{A3717CA4-0693-8002-808D-16A697D44539}"/>
              </a:ext>
            </a:extLst>
          </p:cNvPr>
          <p:cNvSpPr/>
          <p:nvPr/>
        </p:nvSpPr>
        <p:spPr>
          <a:xfrm>
            <a:off x="1143000" y="2150126"/>
            <a:ext cx="4297680" cy="502920"/>
          </a:xfrm>
          <a:prstGeom prst="rect">
            <a:avLst/>
          </a:prstGeom>
          <a:noFill/>
          <a:ln/>
        </p:spPr>
        <p:txBody>
          <a:bodyPr wrap="square" lIns="0" tIns="0" rIns="0" bIns="0" rtlCol="0" anchor="ctr"/>
          <a:lstStyle/>
          <a:p>
            <a:pPr marL="0" indent="0">
              <a:buNone/>
            </a:pPr>
            <a:r>
              <a:rPr lang="en-US" sz="1150" dirty="0">
                <a:solidFill>
                  <a:srgbClr val="191A4E"/>
                </a:solidFill>
                <a:latin typeface="Calibri" pitchFamily="34" charset="0"/>
                <a:ea typeface="Calibri" pitchFamily="34" charset="-122"/>
                <a:cs typeface="Calibri" pitchFamily="34" charset="-120"/>
              </a:rPr>
              <a:t>Load the dataset and verify rows, columns, and data types</a:t>
            </a:r>
            <a:endParaRPr lang="en-US" sz="1150" dirty="0">
              <a:solidFill>
                <a:srgbClr val="191A4E"/>
              </a:solidFill>
            </a:endParaRPr>
          </a:p>
        </p:txBody>
      </p:sp>
      <p:sp>
        <p:nvSpPr>
          <p:cNvPr id="8" name="Shape 6">
            <a:extLst>
              <a:ext uri="{FF2B5EF4-FFF2-40B4-BE49-F238E27FC236}">
                <a16:creationId xmlns:a16="http://schemas.microsoft.com/office/drawing/2014/main" id="{C89F6538-A3D6-AD6E-D59D-A79E70539B14}"/>
              </a:ext>
            </a:extLst>
          </p:cNvPr>
          <p:cNvSpPr/>
          <p:nvPr/>
        </p:nvSpPr>
        <p:spPr>
          <a:xfrm>
            <a:off x="548640" y="2927366"/>
            <a:ext cx="411480" cy="411480"/>
          </a:xfrm>
          <a:prstGeom prst="ellipse">
            <a:avLst/>
          </a:prstGeom>
          <a:solidFill>
            <a:srgbClr val="471DE1"/>
          </a:solidFill>
          <a:ln/>
        </p:spPr>
        <p:txBody>
          <a:bodyPr/>
          <a:lstStyle/>
          <a:p>
            <a:endParaRPr lang="en-US"/>
          </a:p>
        </p:txBody>
      </p:sp>
      <p:sp>
        <p:nvSpPr>
          <p:cNvPr id="9" name="Text 7">
            <a:extLst>
              <a:ext uri="{FF2B5EF4-FFF2-40B4-BE49-F238E27FC236}">
                <a16:creationId xmlns:a16="http://schemas.microsoft.com/office/drawing/2014/main" id="{37B1E7E2-4E8C-30CB-3182-C1356A0F51F0}"/>
              </a:ext>
            </a:extLst>
          </p:cNvPr>
          <p:cNvSpPr/>
          <p:nvPr/>
        </p:nvSpPr>
        <p:spPr>
          <a:xfrm>
            <a:off x="548640" y="2927366"/>
            <a:ext cx="411480" cy="411480"/>
          </a:xfrm>
          <a:prstGeom prst="rect">
            <a:avLst/>
          </a:prstGeom>
          <a:noFill/>
          <a:ln/>
        </p:spPr>
        <p:txBody>
          <a:bodyPr wrap="square" lIns="0" tIns="0" rIns="0" bIns="0" rtlCol="0" anchor="ctr"/>
          <a:lstStyle/>
          <a:p>
            <a:pPr marL="0" indent="0" algn="ctr">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0" name="Text 8">
            <a:extLst>
              <a:ext uri="{FF2B5EF4-FFF2-40B4-BE49-F238E27FC236}">
                <a16:creationId xmlns:a16="http://schemas.microsoft.com/office/drawing/2014/main" id="{79272B04-545B-9CE7-3A1F-2AFDE73138D6}"/>
              </a:ext>
            </a:extLst>
          </p:cNvPr>
          <p:cNvSpPr/>
          <p:nvPr/>
        </p:nvSpPr>
        <p:spPr>
          <a:xfrm>
            <a:off x="1143000" y="2881646"/>
            <a:ext cx="4297680" cy="320040"/>
          </a:xfrm>
          <a:prstGeom prst="rect">
            <a:avLst/>
          </a:prstGeom>
          <a:noFill/>
          <a:ln/>
        </p:spPr>
        <p:txBody>
          <a:bodyPr wrap="square" lIns="0" tIns="0" rIns="0" bIns="0" rtlCol="0" anchor="ctr"/>
          <a:lstStyle/>
          <a:p>
            <a:pPr marL="0" indent="0">
              <a:buNone/>
            </a:pPr>
            <a:r>
              <a:rPr lang="en-US" sz="1400" b="1" dirty="0">
                <a:solidFill>
                  <a:srgbClr val="471DE1"/>
                </a:solidFill>
                <a:latin typeface="Cambria" pitchFamily="34" charset="0"/>
                <a:ea typeface="Cambria" pitchFamily="34" charset="-122"/>
                <a:cs typeface="Cambria" pitchFamily="34" charset="-120"/>
              </a:rPr>
              <a:t>Build Relationships</a:t>
            </a:r>
            <a:endParaRPr lang="en-US" sz="1400" dirty="0">
              <a:solidFill>
                <a:srgbClr val="471DE1"/>
              </a:solidFill>
            </a:endParaRPr>
          </a:p>
        </p:txBody>
      </p:sp>
      <p:sp>
        <p:nvSpPr>
          <p:cNvPr id="11" name="Text 9">
            <a:extLst>
              <a:ext uri="{FF2B5EF4-FFF2-40B4-BE49-F238E27FC236}">
                <a16:creationId xmlns:a16="http://schemas.microsoft.com/office/drawing/2014/main" id="{BA8F8126-D8C1-E6F8-73E1-29352472D3D8}"/>
              </a:ext>
            </a:extLst>
          </p:cNvPr>
          <p:cNvSpPr/>
          <p:nvPr/>
        </p:nvSpPr>
        <p:spPr>
          <a:xfrm>
            <a:off x="1143000" y="3311414"/>
            <a:ext cx="3495474" cy="411480"/>
          </a:xfrm>
          <a:prstGeom prst="rect">
            <a:avLst/>
          </a:prstGeom>
          <a:noFill/>
          <a:ln/>
        </p:spPr>
        <p:txBody>
          <a:bodyPr wrap="square" lIns="0" tIns="0" rIns="0" bIns="0" rtlCol="0" anchor="ctr"/>
          <a:lstStyle/>
          <a:p>
            <a:pPr marL="0" indent="0">
              <a:buNone/>
            </a:pPr>
            <a:r>
              <a:rPr lang="en-US" sz="1150" dirty="0">
                <a:solidFill>
                  <a:srgbClr val="191A4E"/>
                </a:solidFill>
                <a:latin typeface="Calibri" pitchFamily="34" charset="0"/>
                <a:ea typeface="Calibri" pitchFamily="34" charset="-122"/>
                <a:cs typeface="Calibri" pitchFamily="34" charset="-120"/>
              </a:rPr>
              <a:t>Create relationships between related tables using primary and foreign keys</a:t>
            </a:r>
            <a:endParaRPr lang="en-US" sz="1150" dirty="0">
              <a:solidFill>
                <a:srgbClr val="191A4E"/>
              </a:solidFill>
            </a:endParaRPr>
          </a:p>
        </p:txBody>
      </p:sp>
      <p:sp>
        <p:nvSpPr>
          <p:cNvPr id="12" name="Shape 10">
            <a:extLst>
              <a:ext uri="{FF2B5EF4-FFF2-40B4-BE49-F238E27FC236}">
                <a16:creationId xmlns:a16="http://schemas.microsoft.com/office/drawing/2014/main" id="{901096BB-8164-3D35-27DC-E8D3D6F6DE29}"/>
              </a:ext>
            </a:extLst>
          </p:cNvPr>
          <p:cNvSpPr/>
          <p:nvPr/>
        </p:nvSpPr>
        <p:spPr>
          <a:xfrm>
            <a:off x="548640" y="3978926"/>
            <a:ext cx="411480" cy="411480"/>
          </a:xfrm>
          <a:prstGeom prst="ellipse">
            <a:avLst/>
          </a:prstGeom>
          <a:solidFill>
            <a:srgbClr val="471DE1"/>
          </a:solidFill>
          <a:ln/>
        </p:spPr>
        <p:txBody>
          <a:bodyPr/>
          <a:lstStyle/>
          <a:p>
            <a:endParaRPr lang="en-US"/>
          </a:p>
        </p:txBody>
      </p:sp>
      <p:sp>
        <p:nvSpPr>
          <p:cNvPr id="13" name="Text 11">
            <a:extLst>
              <a:ext uri="{FF2B5EF4-FFF2-40B4-BE49-F238E27FC236}">
                <a16:creationId xmlns:a16="http://schemas.microsoft.com/office/drawing/2014/main" id="{BCFBC9A5-D251-E8B1-588D-7AE980EBA9BC}"/>
              </a:ext>
            </a:extLst>
          </p:cNvPr>
          <p:cNvSpPr/>
          <p:nvPr/>
        </p:nvSpPr>
        <p:spPr>
          <a:xfrm>
            <a:off x="548640" y="3978926"/>
            <a:ext cx="411480" cy="411480"/>
          </a:xfrm>
          <a:prstGeom prst="rect">
            <a:avLst/>
          </a:prstGeom>
          <a:noFill/>
          <a:ln/>
        </p:spPr>
        <p:txBody>
          <a:bodyPr wrap="square" lIns="0" tIns="0" rIns="0" bIns="0" rtlCol="0" anchor="ctr"/>
          <a:lstStyle/>
          <a:p>
            <a:pPr marL="0" indent="0" algn="ctr">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4" name="Text 12">
            <a:extLst>
              <a:ext uri="{FF2B5EF4-FFF2-40B4-BE49-F238E27FC236}">
                <a16:creationId xmlns:a16="http://schemas.microsoft.com/office/drawing/2014/main" id="{B5CD2B75-D320-4F41-36C2-8F00C88EBF1A}"/>
              </a:ext>
            </a:extLst>
          </p:cNvPr>
          <p:cNvSpPr/>
          <p:nvPr/>
        </p:nvSpPr>
        <p:spPr>
          <a:xfrm>
            <a:off x="1143000" y="3933206"/>
            <a:ext cx="4297680" cy="320040"/>
          </a:xfrm>
          <a:prstGeom prst="rect">
            <a:avLst/>
          </a:prstGeom>
          <a:noFill/>
          <a:ln/>
        </p:spPr>
        <p:txBody>
          <a:bodyPr wrap="square" lIns="0" tIns="0" rIns="0" bIns="0" rtlCol="0" anchor="ctr"/>
          <a:lstStyle/>
          <a:p>
            <a:pPr marL="0" indent="0">
              <a:buNone/>
            </a:pPr>
            <a:r>
              <a:rPr lang="en-US" sz="1400" b="1" dirty="0">
                <a:solidFill>
                  <a:srgbClr val="471DE1"/>
                </a:solidFill>
                <a:latin typeface="Cambria" pitchFamily="34" charset="0"/>
                <a:ea typeface="Cambria" pitchFamily="34" charset="-122"/>
                <a:cs typeface="Cambria" pitchFamily="34" charset="-120"/>
              </a:rPr>
              <a:t>Validate the Mode</a:t>
            </a:r>
            <a:endParaRPr lang="en-US" sz="1400" dirty="0">
              <a:solidFill>
                <a:srgbClr val="471DE1"/>
              </a:solidFill>
            </a:endParaRPr>
          </a:p>
        </p:txBody>
      </p:sp>
      <p:sp>
        <p:nvSpPr>
          <p:cNvPr id="15" name="Text 13">
            <a:extLst>
              <a:ext uri="{FF2B5EF4-FFF2-40B4-BE49-F238E27FC236}">
                <a16:creationId xmlns:a16="http://schemas.microsoft.com/office/drawing/2014/main" id="{289B34DB-A761-A252-FDF2-B7AA8CBE20F8}"/>
              </a:ext>
            </a:extLst>
          </p:cNvPr>
          <p:cNvSpPr/>
          <p:nvPr/>
        </p:nvSpPr>
        <p:spPr>
          <a:xfrm>
            <a:off x="1143000" y="4362974"/>
            <a:ext cx="3495474" cy="411480"/>
          </a:xfrm>
          <a:prstGeom prst="rect">
            <a:avLst/>
          </a:prstGeom>
          <a:noFill/>
          <a:ln/>
        </p:spPr>
        <p:txBody>
          <a:bodyPr wrap="square" lIns="0" tIns="0" rIns="0" bIns="0" rtlCol="0" anchor="ctr"/>
          <a:lstStyle/>
          <a:p>
            <a:pPr marL="0" indent="0">
              <a:buNone/>
            </a:pPr>
            <a:r>
              <a:rPr lang="en-US" sz="1150" dirty="0">
                <a:solidFill>
                  <a:srgbClr val="191A4E"/>
                </a:solidFill>
                <a:latin typeface="Calibri" pitchFamily="34" charset="0"/>
                <a:ea typeface="Calibri" pitchFamily="34" charset="-122"/>
                <a:cs typeface="Calibri" pitchFamily="34" charset="-120"/>
              </a:rPr>
              <a:t>Verify table connections to ensure accurate analysis and reporting.</a:t>
            </a:r>
            <a:endParaRPr lang="en-US" sz="1150" dirty="0">
              <a:solidFill>
                <a:srgbClr val="191A4E"/>
              </a:solidFill>
            </a:endParaRPr>
          </a:p>
        </p:txBody>
      </p:sp>
      <p:sp>
        <p:nvSpPr>
          <p:cNvPr id="16" name="Shape 14">
            <a:extLst>
              <a:ext uri="{FF2B5EF4-FFF2-40B4-BE49-F238E27FC236}">
                <a16:creationId xmlns:a16="http://schemas.microsoft.com/office/drawing/2014/main" id="{CFCE2E4E-7743-6E73-0AAB-EB66F50207B1}"/>
              </a:ext>
            </a:extLst>
          </p:cNvPr>
          <p:cNvSpPr/>
          <p:nvPr/>
        </p:nvSpPr>
        <p:spPr>
          <a:xfrm>
            <a:off x="4821354" y="1328765"/>
            <a:ext cx="7273142" cy="3826823"/>
          </a:xfrm>
          <a:prstGeom prst="roundRect">
            <a:avLst>
              <a:gd name="adj" fmla="val 1304"/>
            </a:avLst>
          </a:prstGeom>
          <a:solidFill>
            <a:srgbClr val="F4F2FC"/>
          </a:solidFill>
          <a:ln/>
          <a:effectLst>
            <a:outerShdw blurRad="101600" dist="38100" dir="2700000" algn="bl" rotWithShape="0">
              <a:srgbClr val="000000">
                <a:alpha val="12000"/>
              </a:srgbClr>
            </a:outerShdw>
          </a:effectLst>
        </p:spPr>
        <p:txBody>
          <a:bodyPr/>
          <a:lstStyle/>
          <a:p>
            <a:endParaRPr lang="en-US"/>
          </a:p>
        </p:txBody>
      </p:sp>
      <p:sp>
        <p:nvSpPr>
          <p:cNvPr id="18" name="Text 15">
            <a:extLst>
              <a:ext uri="{FF2B5EF4-FFF2-40B4-BE49-F238E27FC236}">
                <a16:creationId xmlns:a16="http://schemas.microsoft.com/office/drawing/2014/main" id="{C4257A17-55BD-17A4-72C8-6CE6562F98BF}"/>
              </a:ext>
            </a:extLst>
          </p:cNvPr>
          <p:cNvSpPr/>
          <p:nvPr/>
        </p:nvSpPr>
        <p:spPr>
          <a:xfrm>
            <a:off x="6263640" y="4937760"/>
            <a:ext cx="5120640" cy="320040"/>
          </a:xfrm>
          <a:prstGeom prst="rect">
            <a:avLst/>
          </a:prstGeom>
          <a:noFill/>
          <a:ln/>
        </p:spPr>
        <p:txBody>
          <a:bodyPr wrap="square" lIns="0" tIns="0" rIns="0" bIns="0" rtlCol="0" anchor="ctr"/>
          <a:lstStyle/>
          <a:p>
            <a:pPr marL="0" indent="0" algn="ctr">
              <a:buNone/>
            </a:pPr>
            <a:endParaRPr lang="en-US" sz="1050" dirty="0"/>
          </a:p>
        </p:txBody>
      </p:sp>
      <p:sp>
        <p:nvSpPr>
          <p:cNvPr id="19" name="Text 16">
            <a:extLst>
              <a:ext uri="{FF2B5EF4-FFF2-40B4-BE49-F238E27FC236}">
                <a16:creationId xmlns:a16="http://schemas.microsoft.com/office/drawing/2014/main" id="{73C956EC-6FFD-E503-8EFD-93608E2D72DB}"/>
              </a:ext>
            </a:extLst>
          </p:cNvPr>
          <p:cNvSpPr/>
          <p:nvPr/>
        </p:nvSpPr>
        <p:spPr>
          <a:xfrm>
            <a:off x="457200" y="6446520"/>
            <a:ext cx="6400800" cy="274320"/>
          </a:xfrm>
          <a:prstGeom prst="rect">
            <a:avLst/>
          </a:prstGeom>
          <a:noFill/>
          <a:ln/>
        </p:spPr>
        <p:txBody>
          <a:bodyPr wrap="square" lIns="0" tIns="0" rIns="0" bIns="0" rtlCol="0" anchor="ctr"/>
          <a:lstStyle/>
          <a:p>
            <a:pPr marL="0" indent="0" algn="l">
              <a:buNone/>
            </a:pPr>
            <a:r>
              <a:rPr lang="en-US" sz="900" dirty="0">
                <a:solidFill>
                  <a:srgbClr val="64748B"/>
                </a:solidFill>
                <a:latin typeface="Calibri" pitchFamily="34" charset="0"/>
                <a:ea typeface="Calibri" pitchFamily="34" charset="-122"/>
                <a:cs typeface="Calibri" pitchFamily="34" charset="-120"/>
              </a:rPr>
              <a:t>DEPI Capstone — Medical Insurance Analytics</a:t>
            </a:r>
            <a:endParaRPr lang="en-US" sz="900" dirty="0"/>
          </a:p>
        </p:txBody>
      </p:sp>
      <p:sp>
        <p:nvSpPr>
          <p:cNvPr id="20" name="Text 17">
            <a:extLst>
              <a:ext uri="{FF2B5EF4-FFF2-40B4-BE49-F238E27FC236}">
                <a16:creationId xmlns:a16="http://schemas.microsoft.com/office/drawing/2014/main" id="{1A9ED573-50DE-C086-6167-EFD10C653DA5}"/>
              </a:ext>
            </a:extLst>
          </p:cNvPr>
          <p:cNvSpPr/>
          <p:nvPr/>
        </p:nvSpPr>
        <p:spPr>
          <a:xfrm>
            <a:off x="11274552" y="6446520"/>
            <a:ext cx="457200" cy="27432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5</a:t>
            </a:r>
            <a:endParaRPr lang="en-US" sz="900" dirty="0"/>
          </a:p>
        </p:txBody>
      </p:sp>
      <p:pic>
        <p:nvPicPr>
          <p:cNvPr id="24" name="Picture 23">
            <a:extLst>
              <a:ext uri="{FF2B5EF4-FFF2-40B4-BE49-F238E27FC236}">
                <a16:creationId xmlns:a16="http://schemas.microsoft.com/office/drawing/2014/main" id="{8929972C-C172-E642-BE75-DD6E54E6BBAC}"/>
              </a:ext>
            </a:extLst>
          </p:cNvPr>
          <p:cNvPicPr>
            <a:picLocks noChangeAspect="1"/>
          </p:cNvPicPr>
          <p:nvPr/>
        </p:nvPicPr>
        <p:blipFill>
          <a:blip r:embed="rId3"/>
          <a:stretch>
            <a:fillRect/>
          </a:stretch>
        </p:blipFill>
        <p:spPr>
          <a:xfrm>
            <a:off x="4961510" y="7141464"/>
            <a:ext cx="6992829" cy="3104527"/>
          </a:xfrm>
          <a:prstGeom prst="rect">
            <a:avLst/>
          </a:prstGeom>
        </p:spPr>
      </p:pic>
      <p:pic>
        <p:nvPicPr>
          <p:cNvPr id="26" name="Picture 25">
            <a:extLst>
              <a:ext uri="{FF2B5EF4-FFF2-40B4-BE49-F238E27FC236}">
                <a16:creationId xmlns:a16="http://schemas.microsoft.com/office/drawing/2014/main" id="{2AB6D556-5EC0-B7D7-9872-4DCDFCAFE7D2}"/>
              </a:ext>
            </a:extLst>
          </p:cNvPr>
          <p:cNvPicPr>
            <a:picLocks noChangeAspect="1"/>
          </p:cNvPicPr>
          <p:nvPr/>
        </p:nvPicPr>
        <p:blipFill>
          <a:blip r:embed="rId4"/>
          <a:stretch>
            <a:fillRect/>
          </a:stretch>
        </p:blipFill>
        <p:spPr>
          <a:xfrm>
            <a:off x="4961510" y="12372522"/>
            <a:ext cx="6992829" cy="3220354"/>
          </a:xfrm>
          <a:prstGeom prst="rect">
            <a:avLst/>
          </a:prstGeom>
        </p:spPr>
      </p:pic>
      <p:pic>
        <p:nvPicPr>
          <p:cNvPr id="17" name="Picture 16" descr="https://private-user-images.githubusercontent.com/235096874/584392199-08ef45bf-0334-4c3f-91b5-1eab679d9eaf.png?jwt=eyJ0eXAiOiJKV1QiLCJhbGciOiJIUzI1NiJ9.eyJpc3MiOiJnaXRodWIuY29tIiwiYXVkIjoicmF3LmdpdGh1YnVzZXJjb250ZW50LmNvbSIsImtleSI6ImtleTUiLCJleHAiOjE3ODMwNzEwOTEsIm5iZiI6MTc4MzA3MDc5MSwicGF0aCI6Ii8yMzUwOTY4NzQvNTg0MzkyMTk5LTA4ZWY0NWJmLTAzMzQtNGMzZi05MWI1LTFlYWI2NzlkOWVhZi5wbmc_WC1BbXotQWxnb3JpdGhtPUFXUzQtSE1BQy1TSEEyNTYmWC1BbXotQ3JlZGVudGlhbD1BS0lBVkNPRFlMU0E1M1BRSzRaQSUyRjIwMjYwNzAzJTJGdXMtZWFzdC0xJTJGczMlMkZhd3M0X3JlcXVlc3QmWC1BbXotRGF0ZT0yMDI2MDcwM1QwOTI2MzFaJlgtQW16LUV4cGlyZXM9MzAwJlgtQW16LVNpZ25hdHVyZT01ZTQ5ZWYzNzg1NmVjOTQxZGZmMTI5NmI5YjdlYWI3ZTI3NDdjM2JhNmU2YzNmMDk5OTE0NmRmN2MzNmU2Yjc5JlgtQW16LVNpZ25lZEhlYWRlcnM9aG9zdCZyZXNwb25zZS1jb250ZW50LXR5cGU9aW1hZ2UlMkZwbmcifQ.zwqujTeEUMyNmD_Ms5FC7mKPxe5lr10mbPx8_w7IilE">
            <a:extLst>
              <a:ext uri="{FF2B5EF4-FFF2-40B4-BE49-F238E27FC236}">
                <a16:creationId xmlns:a16="http://schemas.microsoft.com/office/drawing/2014/main" id="{4BDB666E-BFBC-EE77-15BC-744FF6C2FA4B}"/>
              </a:ext>
            </a:extLst>
          </p:cNvPr>
          <p:cNvPicPr>
            <a:picLocks noChangeAspect="1"/>
          </p:cNvPicPr>
          <p:nvPr/>
        </p:nvPicPr>
        <p:blipFill>
          <a:blip r:embed="rId5"/>
          <a:stretch>
            <a:fillRect/>
          </a:stretch>
        </p:blipFill>
        <p:spPr>
          <a:xfrm>
            <a:off x="5116030" y="1591056"/>
            <a:ext cx="6683788" cy="3341894"/>
          </a:xfrm>
          <a:prstGeom prst="rect">
            <a:avLst/>
          </a:prstGeom>
        </p:spPr>
      </p:pic>
      <p:sp>
        <p:nvSpPr>
          <p:cNvPr id="21" name="TextBox 20">
            <a:extLst>
              <a:ext uri="{FF2B5EF4-FFF2-40B4-BE49-F238E27FC236}">
                <a16:creationId xmlns:a16="http://schemas.microsoft.com/office/drawing/2014/main" id="{393F93F3-0B33-85D4-931C-D2A2AE0C7B5C}"/>
              </a:ext>
            </a:extLst>
          </p:cNvPr>
          <p:cNvSpPr txBox="1"/>
          <p:nvPr/>
        </p:nvSpPr>
        <p:spPr>
          <a:xfrm>
            <a:off x="190525" y="1338394"/>
            <a:ext cx="4015715" cy="307777"/>
          </a:xfrm>
          <a:prstGeom prst="rect">
            <a:avLst/>
          </a:prstGeom>
          <a:noFill/>
        </p:spPr>
        <p:txBody>
          <a:bodyPr wrap="none" rtlCol="1">
            <a:spAutoFit/>
          </a:bodyPr>
          <a:lstStyle/>
          <a:p>
            <a:r>
              <a:rPr lang="ar-EG" sz="1400" dirty="0"/>
              <a:t>We started with Excel to understand the raw dataset</a:t>
            </a:r>
          </a:p>
        </p:txBody>
      </p:sp>
      <p:pic>
        <p:nvPicPr>
          <p:cNvPr id="23" name="Picture 22">
            <a:extLst>
              <a:ext uri="{FF2B5EF4-FFF2-40B4-BE49-F238E27FC236}">
                <a16:creationId xmlns:a16="http://schemas.microsoft.com/office/drawing/2014/main" id="{89920222-D9DA-5749-91F4-77C0BDAD010C}"/>
              </a:ext>
            </a:extLst>
          </p:cNvPr>
          <p:cNvPicPr>
            <a:picLocks noChangeAspect="1"/>
          </p:cNvPicPr>
          <p:nvPr/>
        </p:nvPicPr>
        <p:blipFill>
          <a:blip r:embed="rId6"/>
          <a:stretch>
            <a:fillRect/>
          </a:stretch>
        </p:blipFill>
        <p:spPr>
          <a:xfrm>
            <a:off x="6073138" y="3417569"/>
            <a:ext cx="45724" cy="22862"/>
          </a:xfrm>
          <a:prstGeom prst="rect">
            <a:avLst/>
          </a:prstGeom>
        </p:spPr>
      </p:pic>
    </p:spTree>
    <p:extLst>
      <p:ext uri="{BB962C8B-B14F-4D97-AF65-F5344CB8AC3E}">
        <p14:creationId xmlns:p14="http://schemas.microsoft.com/office/powerpoint/2010/main" val="100826073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523EB867-74D1-41AA-8C2A-A4300104E4D4}"/>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05F40766-0A50-58B2-702C-1FA1ED85DC23}"/>
              </a:ext>
            </a:extLst>
          </p:cNvPr>
          <p:cNvSpPr/>
          <p:nvPr/>
        </p:nvSpPr>
        <p:spPr>
          <a:xfrm>
            <a:off x="548640" y="384048"/>
            <a:ext cx="7315200" cy="274320"/>
          </a:xfrm>
          <a:prstGeom prst="rect">
            <a:avLst/>
          </a:prstGeom>
          <a:noFill/>
          <a:ln/>
        </p:spPr>
        <p:txBody>
          <a:bodyPr wrap="square" lIns="0" tIns="0" rIns="0" bIns="0" rtlCol="0" anchor="ctr"/>
          <a:lstStyle/>
          <a:p>
            <a:pPr marL="0" indent="0">
              <a:buNone/>
            </a:pPr>
            <a:r>
              <a:rPr lang="en-US" sz="1200" b="1" kern="0" spc="200" dirty="0">
                <a:solidFill>
                  <a:srgbClr val="471DE1"/>
                </a:solidFill>
                <a:latin typeface="Calibri" pitchFamily="34" charset="0"/>
                <a:ea typeface="Calibri" pitchFamily="34" charset="-122"/>
                <a:cs typeface="Calibri" pitchFamily="34" charset="-120"/>
              </a:rPr>
              <a:t>FIRST LOOK AT THE DATA</a:t>
            </a:r>
            <a:endParaRPr lang="en-US" sz="1200" dirty="0">
              <a:solidFill>
                <a:srgbClr val="471DE1"/>
              </a:solidFill>
            </a:endParaRPr>
          </a:p>
        </p:txBody>
      </p:sp>
      <p:sp>
        <p:nvSpPr>
          <p:cNvPr id="3" name="Text 1">
            <a:extLst>
              <a:ext uri="{FF2B5EF4-FFF2-40B4-BE49-F238E27FC236}">
                <a16:creationId xmlns:a16="http://schemas.microsoft.com/office/drawing/2014/main" id="{47427F04-C9E4-837E-BBED-2D2A21E7D8A1}"/>
              </a:ext>
            </a:extLst>
          </p:cNvPr>
          <p:cNvSpPr/>
          <p:nvPr/>
        </p:nvSpPr>
        <p:spPr>
          <a:xfrm>
            <a:off x="548640" y="621792"/>
            <a:ext cx="10515600" cy="731520"/>
          </a:xfrm>
          <a:prstGeom prst="rect">
            <a:avLst/>
          </a:prstGeom>
          <a:noFill/>
          <a:ln/>
        </p:spPr>
        <p:txBody>
          <a:bodyPr wrap="square" lIns="0" tIns="0" rIns="0" bIns="0" rtlCol="0" anchor="ctr"/>
          <a:lstStyle/>
          <a:p>
            <a:pPr marL="0" indent="0">
              <a:buNone/>
            </a:pPr>
            <a:r>
              <a:rPr lang="en-US" sz="3200" b="1" dirty="0">
                <a:solidFill>
                  <a:srgbClr val="191A4E"/>
                </a:solidFill>
                <a:latin typeface="Cambria" pitchFamily="34" charset="0"/>
                <a:ea typeface="Cambria" pitchFamily="34" charset="-122"/>
                <a:cs typeface="Cambria" pitchFamily="34" charset="-120"/>
              </a:rPr>
              <a:t>Excel— Analysis using the Model</a:t>
            </a:r>
            <a:endParaRPr lang="en-US" sz="3200" dirty="0">
              <a:solidFill>
                <a:srgbClr val="191A4E"/>
              </a:solidFill>
            </a:endParaRPr>
          </a:p>
        </p:txBody>
      </p:sp>
      <p:sp>
        <p:nvSpPr>
          <p:cNvPr id="4" name="Shape 2">
            <a:extLst>
              <a:ext uri="{FF2B5EF4-FFF2-40B4-BE49-F238E27FC236}">
                <a16:creationId xmlns:a16="http://schemas.microsoft.com/office/drawing/2014/main" id="{924CF8FA-0226-C4F5-7742-0E6967A46537}"/>
              </a:ext>
            </a:extLst>
          </p:cNvPr>
          <p:cNvSpPr/>
          <p:nvPr/>
        </p:nvSpPr>
        <p:spPr>
          <a:xfrm>
            <a:off x="548640" y="1901464"/>
            <a:ext cx="411480" cy="411480"/>
          </a:xfrm>
          <a:prstGeom prst="ellipse">
            <a:avLst/>
          </a:prstGeom>
          <a:solidFill>
            <a:srgbClr val="471DE1"/>
          </a:solidFill>
          <a:ln/>
        </p:spPr>
        <p:txBody>
          <a:bodyPr/>
          <a:lstStyle/>
          <a:p>
            <a:endParaRPr lang="en-US"/>
          </a:p>
        </p:txBody>
      </p:sp>
      <p:sp>
        <p:nvSpPr>
          <p:cNvPr id="5" name="Text 3">
            <a:extLst>
              <a:ext uri="{FF2B5EF4-FFF2-40B4-BE49-F238E27FC236}">
                <a16:creationId xmlns:a16="http://schemas.microsoft.com/office/drawing/2014/main" id="{E5958C25-A266-905C-4724-6FB8CE02D7E2}"/>
              </a:ext>
            </a:extLst>
          </p:cNvPr>
          <p:cNvSpPr/>
          <p:nvPr/>
        </p:nvSpPr>
        <p:spPr>
          <a:xfrm>
            <a:off x="548640" y="1905620"/>
            <a:ext cx="411480" cy="411480"/>
          </a:xfrm>
          <a:prstGeom prst="rect">
            <a:avLst/>
          </a:prstGeom>
          <a:noFill/>
          <a:ln/>
        </p:spPr>
        <p:txBody>
          <a:bodyPr wrap="square" lIns="0" tIns="0" rIns="0" bIns="0" rtlCol="0" anchor="ctr"/>
          <a:lstStyle/>
          <a:p>
            <a:pPr marL="0" indent="0" algn="ctr">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6" name="Text 4">
            <a:extLst>
              <a:ext uri="{FF2B5EF4-FFF2-40B4-BE49-F238E27FC236}">
                <a16:creationId xmlns:a16="http://schemas.microsoft.com/office/drawing/2014/main" id="{796C1A90-CE6C-1070-2377-A5E56D0B1AC1}"/>
              </a:ext>
            </a:extLst>
          </p:cNvPr>
          <p:cNvSpPr/>
          <p:nvPr/>
        </p:nvSpPr>
        <p:spPr>
          <a:xfrm>
            <a:off x="1143000" y="1855744"/>
            <a:ext cx="4297680" cy="320040"/>
          </a:xfrm>
          <a:prstGeom prst="rect">
            <a:avLst/>
          </a:prstGeom>
          <a:noFill/>
          <a:ln/>
        </p:spPr>
        <p:txBody>
          <a:bodyPr wrap="square" lIns="0" tIns="0" rIns="0" bIns="0" rtlCol="0" anchor="ctr"/>
          <a:lstStyle/>
          <a:p>
            <a:pPr marL="0" indent="0">
              <a:buNone/>
            </a:pPr>
            <a:r>
              <a:rPr lang="en-US" sz="1400" b="1" dirty="0">
                <a:solidFill>
                  <a:srgbClr val="471DE1"/>
                </a:solidFill>
                <a:latin typeface="Cambria" pitchFamily="34" charset="0"/>
                <a:ea typeface="Cambria" pitchFamily="34" charset="-122"/>
                <a:cs typeface="Cambria" pitchFamily="34" charset="-120"/>
              </a:rPr>
              <a:t>Interactive Dashboard</a:t>
            </a:r>
            <a:endParaRPr lang="en-US" sz="1400" dirty="0">
              <a:solidFill>
                <a:srgbClr val="471DE1"/>
              </a:solidFill>
            </a:endParaRPr>
          </a:p>
        </p:txBody>
      </p:sp>
      <p:sp>
        <p:nvSpPr>
          <p:cNvPr id="7" name="Text 5">
            <a:extLst>
              <a:ext uri="{FF2B5EF4-FFF2-40B4-BE49-F238E27FC236}">
                <a16:creationId xmlns:a16="http://schemas.microsoft.com/office/drawing/2014/main" id="{B1C15B2F-0300-3FE3-1A7C-4C86F77BE622}"/>
              </a:ext>
            </a:extLst>
          </p:cNvPr>
          <p:cNvSpPr/>
          <p:nvPr/>
        </p:nvSpPr>
        <p:spPr>
          <a:xfrm>
            <a:off x="1143000" y="2194072"/>
            <a:ext cx="3133436" cy="502920"/>
          </a:xfrm>
          <a:prstGeom prst="rect">
            <a:avLst/>
          </a:prstGeom>
          <a:noFill/>
          <a:ln/>
        </p:spPr>
        <p:txBody>
          <a:bodyPr wrap="square" lIns="0" tIns="0" rIns="0" bIns="0" rtlCol="0" anchor="ctr"/>
          <a:lstStyle/>
          <a:p>
            <a:pPr marL="0" indent="0">
              <a:buNone/>
            </a:pPr>
            <a:r>
              <a:rPr lang="en-US" sz="1150" dirty="0">
                <a:solidFill>
                  <a:srgbClr val="191A4E"/>
                </a:solidFill>
                <a:latin typeface="Calibri" pitchFamily="34" charset="0"/>
                <a:ea typeface="Calibri" pitchFamily="34" charset="-122"/>
                <a:cs typeface="Calibri" pitchFamily="34" charset="-120"/>
              </a:rPr>
              <a:t>Build dashboards using Pivot Charts and Slicers.</a:t>
            </a:r>
            <a:endParaRPr lang="en-US" sz="1150" dirty="0">
              <a:solidFill>
                <a:srgbClr val="191A4E"/>
              </a:solidFill>
            </a:endParaRPr>
          </a:p>
        </p:txBody>
      </p:sp>
      <p:sp>
        <p:nvSpPr>
          <p:cNvPr id="8" name="Shape 6">
            <a:extLst>
              <a:ext uri="{FF2B5EF4-FFF2-40B4-BE49-F238E27FC236}">
                <a16:creationId xmlns:a16="http://schemas.microsoft.com/office/drawing/2014/main" id="{CD63BC76-9B9D-2ED1-1FB3-9E5B6FE17BFA}"/>
              </a:ext>
            </a:extLst>
          </p:cNvPr>
          <p:cNvSpPr/>
          <p:nvPr/>
        </p:nvSpPr>
        <p:spPr>
          <a:xfrm>
            <a:off x="548640" y="2953024"/>
            <a:ext cx="411480" cy="411480"/>
          </a:xfrm>
          <a:prstGeom prst="ellipse">
            <a:avLst/>
          </a:prstGeom>
          <a:solidFill>
            <a:srgbClr val="471DE1"/>
          </a:solidFill>
          <a:ln/>
        </p:spPr>
        <p:txBody>
          <a:bodyPr/>
          <a:lstStyle/>
          <a:p>
            <a:endParaRPr lang="en-US"/>
          </a:p>
        </p:txBody>
      </p:sp>
      <p:sp>
        <p:nvSpPr>
          <p:cNvPr id="9" name="Text 7">
            <a:extLst>
              <a:ext uri="{FF2B5EF4-FFF2-40B4-BE49-F238E27FC236}">
                <a16:creationId xmlns:a16="http://schemas.microsoft.com/office/drawing/2014/main" id="{578D2F97-04C9-665E-8A69-0485A3D4C7B9}"/>
              </a:ext>
            </a:extLst>
          </p:cNvPr>
          <p:cNvSpPr/>
          <p:nvPr/>
        </p:nvSpPr>
        <p:spPr>
          <a:xfrm>
            <a:off x="548640" y="2957180"/>
            <a:ext cx="411480" cy="411480"/>
          </a:xfrm>
          <a:prstGeom prst="rect">
            <a:avLst/>
          </a:prstGeom>
          <a:noFill/>
          <a:ln/>
        </p:spPr>
        <p:txBody>
          <a:bodyPr wrap="square" lIns="0" tIns="0" rIns="0" bIns="0" rtlCol="0" anchor="ctr"/>
          <a:lstStyle/>
          <a:p>
            <a:pPr marL="0" indent="0" algn="ctr">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0" name="Text 8">
            <a:extLst>
              <a:ext uri="{FF2B5EF4-FFF2-40B4-BE49-F238E27FC236}">
                <a16:creationId xmlns:a16="http://schemas.microsoft.com/office/drawing/2014/main" id="{22F2B889-4498-4606-C5A9-25CE1763395A}"/>
              </a:ext>
            </a:extLst>
          </p:cNvPr>
          <p:cNvSpPr/>
          <p:nvPr/>
        </p:nvSpPr>
        <p:spPr>
          <a:xfrm>
            <a:off x="1143000" y="2907304"/>
            <a:ext cx="4297680" cy="320040"/>
          </a:xfrm>
          <a:prstGeom prst="rect">
            <a:avLst/>
          </a:prstGeom>
          <a:noFill/>
          <a:ln/>
        </p:spPr>
        <p:txBody>
          <a:bodyPr wrap="square" lIns="0" tIns="0" rIns="0" bIns="0" rtlCol="0" anchor="ctr"/>
          <a:lstStyle/>
          <a:p>
            <a:pPr marL="0" indent="0">
              <a:buNone/>
            </a:pPr>
            <a:r>
              <a:rPr lang="en-US" sz="1400" b="1" dirty="0">
                <a:solidFill>
                  <a:srgbClr val="471DE1"/>
                </a:solidFill>
                <a:latin typeface="Cambria" pitchFamily="34" charset="0"/>
                <a:ea typeface="Cambria" pitchFamily="34" charset="-122"/>
                <a:cs typeface="Cambria" pitchFamily="34" charset="-120"/>
              </a:rPr>
              <a:t>Dynamic Filtering</a:t>
            </a:r>
            <a:endParaRPr lang="en-US" sz="1400" dirty="0">
              <a:solidFill>
                <a:srgbClr val="471DE1"/>
              </a:solidFill>
            </a:endParaRPr>
          </a:p>
        </p:txBody>
      </p:sp>
      <p:sp>
        <p:nvSpPr>
          <p:cNvPr id="11" name="Text 9">
            <a:extLst>
              <a:ext uri="{FF2B5EF4-FFF2-40B4-BE49-F238E27FC236}">
                <a16:creationId xmlns:a16="http://schemas.microsoft.com/office/drawing/2014/main" id="{37DBA89B-E50A-BC4B-5FEC-F1809B801F2B}"/>
              </a:ext>
            </a:extLst>
          </p:cNvPr>
          <p:cNvSpPr/>
          <p:nvPr/>
        </p:nvSpPr>
        <p:spPr>
          <a:xfrm>
            <a:off x="1143000" y="3245632"/>
            <a:ext cx="3538197" cy="502920"/>
          </a:xfrm>
          <a:prstGeom prst="rect">
            <a:avLst/>
          </a:prstGeom>
          <a:noFill/>
          <a:ln/>
        </p:spPr>
        <p:txBody>
          <a:bodyPr wrap="square" lIns="0" tIns="0" rIns="0" bIns="0" rtlCol="0" anchor="ctr"/>
          <a:lstStyle/>
          <a:p>
            <a:pPr marL="0" indent="0">
              <a:buNone/>
            </a:pPr>
            <a:r>
              <a:rPr lang="en-US" sz="1150" dirty="0">
                <a:solidFill>
                  <a:srgbClr val="191A4E"/>
                </a:solidFill>
                <a:latin typeface="Calibri" pitchFamily="34" charset="0"/>
                <a:ea typeface="Calibri" pitchFamily="34" charset="-122"/>
                <a:cs typeface="Calibri" pitchFamily="34" charset="-120"/>
              </a:rPr>
              <a:t>Allow users to filter data by region, age, plan, and risk level</a:t>
            </a:r>
            <a:endParaRPr lang="en-US" sz="1150" dirty="0">
              <a:solidFill>
                <a:srgbClr val="191A4E"/>
              </a:solidFill>
            </a:endParaRPr>
          </a:p>
        </p:txBody>
      </p:sp>
      <p:sp>
        <p:nvSpPr>
          <p:cNvPr id="12" name="Shape 10">
            <a:extLst>
              <a:ext uri="{FF2B5EF4-FFF2-40B4-BE49-F238E27FC236}">
                <a16:creationId xmlns:a16="http://schemas.microsoft.com/office/drawing/2014/main" id="{07CCCDBB-ABA6-AE07-1B6F-175D39C9FC4A}"/>
              </a:ext>
            </a:extLst>
          </p:cNvPr>
          <p:cNvSpPr/>
          <p:nvPr/>
        </p:nvSpPr>
        <p:spPr>
          <a:xfrm>
            <a:off x="548640" y="4004584"/>
            <a:ext cx="411480" cy="411480"/>
          </a:xfrm>
          <a:prstGeom prst="ellipse">
            <a:avLst/>
          </a:prstGeom>
          <a:solidFill>
            <a:srgbClr val="471DE1"/>
          </a:solidFill>
          <a:ln/>
        </p:spPr>
        <p:txBody>
          <a:bodyPr/>
          <a:lstStyle/>
          <a:p>
            <a:endParaRPr lang="en-US"/>
          </a:p>
        </p:txBody>
      </p:sp>
      <p:sp>
        <p:nvSpPr>
          <p:cNvPr id="13" name="Text 11">
            <a:extLst>
              <a:ext uri="{FF2B5EF4-FFF2-40B4-BE49-F238E27FC236}">
                <a16:creationId xmlns:a16="http://schemas.microsoft.com/office/drawing/2014/main" id="{309E56D6-EC32-ADB8-63AA-0D17216AEEFC}"/>
              </a:ext>
            </a:extLst>
          </p:cNvPr>
          <p:cNvSpPr/>
          <p:nvPr/>
        </p:nvSpPr>
        <p:spPr>
          <a:xfrm>
            <a:off x="548640" y="4008740"/>
            <a:ext cx="411480" cy="411480"/>
          </a:xfrm>
          <a:prstGeom prst="rect">
            <a:avLst/>
          </a:prstGeom>
          <a:noFill/>
          <a:ln/>
        </p:spPr>
        <p:txBody>
          <a:bodyPr wrap="square" lIns="0" tIns="0" rIns="0" bIns="0" rtlCol="0" anchor="ctr"/>
          <a:lstStyle/>
          <a:p>
            <a:pPr marL="0" indent="0" algn="ctr">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4" name="Text 12">
            <a:extLst>
              <a:ext uri="{FF2B5EF4-FFF2-40B4-BE49-F238E27FC236}">
                <a16:creationId xmlns:a16="http://schemas.microsoft.com/office/drawing/2014/main" id="{CB64B3AE-D757-C219-8DD2-35C238D0BD32}"/>
              </a:ext>
            </a:extLst>
          </p:cNvPr>
          <p:cNvSpPr/>
          <p:nvPr/>
        </p:nvSpPr>
        <p:spPr>
          <a:xfrm>
            <a:off x="1143000" y="3958864"/>
            <a:ext cx="4297680" cy="320040"/>
          </a:xfrm>
          <a:prstGeom prst="rect">
            <a:avLst/>
          </a:prstGeom>
          <a:noFill/>
          <a:ln/>
        </p:spPr>
        <p:txBody>
          <a:bodyPr wrap="square" lIns="0" tIns="0" rIns="0" bIns="0" rtlCol="0" anchor="ctr"/>
          <a:lstStyle/>
          <a:p>
            <a:pPr marL="0" indent="0">
              <a:buNone/>
            </a:pPr>
            <a:r>
              <a:rPr lang="en-US" sz="1400" b="1" dirty="0">
                <a:solidFill>
                  <a:srgbClr val="471DE1"/>
                </a:solidFill>
                <a:latin typeface="Cambria" pitchFamily="34" charset="0"/>
                <a:ea typeface="Cambria" pitchFamily="34" charset="-122"/>
                <a:cs typeface="Cambria" pitchFamily="34" charset="-120"/>
              </a:rPr>
              <a:t>Decision Support</a:t>
            </a:r>
            <a:endParaRPr lang="en-US" sz="1400" dirty="0">
              <a:solidFill>
                <a:srgbClr val="471DE1"/>
              </a:solidFill>
            </a:endParaRPr>
          </a:p>
        </p:txBody>
      </p:sp>
      <p:sp>
        <p:nvSpPr>
          <p:cNvPr id="15" name="Text 13">
            <a:extLst>
              <a:ext uri="{FF2B5EF4-FFF2-40B4-BE49-F238E27FC236}">
                <a16:creationId xmlns:a16="http://schemas.microsoft.com/office/drawing/2014/main" id="{F7EE502F-9AF3-5D76-8988-858E9F61AB9E}"/>
              </a:ext>
            </a:extLst>
          </p:cNvPr>
          <p:cNvSpPr/>
          <p:nvPr/>
        </p:nvSpPr>
        <p:spPr>
          <a:xfrm>
            <a:off x="1143000" y="4297192"/>
            <a:ext cx="4297680" cy="502920"/>
          </a:xfrm>
          <a:prstGeom prst="rect">
            <a:avLst/>
          </a:prstGeom>
          <a:noFill/>
          <a:ln/>
        </p:spPr>
        <p:txBody>
          <a:bodyPr wrap="square" lIns="0" tIns="0" rIns="0" bIns="0" rtlCol="0" anchor="ctr"/>
          <a:lstStyle/>
          <a:p>
            <a:pPr marL="0" indent="0">
              <a:buNone/>
            </a:pPr>
            <a:r>
              <a:rPr lang="en-US" sz="1150" dirty="0">
                <a:solidFill>
                  <a:srgbClr val="191A4E"/>
                </a:solidFill>
                <a:latin typeface="Calibri" pitchFamily="34" charset="0"/>
                <a:ea typeface="Calibri" pitchFamily="34" charset="-122"/>
                <a:cs typeface="Calibri" pitchFamily="34" charset="-120"/>
              </a:rPr>
              <a:t>Present business insights for faster decision-making.</a:t>
            </a:r>
            <a:endParaRPr lang="en-US" sz="1150" dirty="0">
              <a:solidFill>
                <a:srgbClr val="191A4E"/>
              </a:solidFill>
            </a:endParaRPr>
          </a:p>
        </p:txBody>
      </p:sp>
      <p:sp>
        <p:nvSpPr>
          <p:cNvPr id="16" name="Shape 14">
            <a:extLst>
              <a:ext uri="{FF2B5EF4-FFF2-40B4-BE49-F238E27FC236}">
                <a16:creationId xmlns:a16="http://schemas.microsoft.com/office/drawing/2014/main" id="{EF93FC85-636B-5AE3-7343-7DB58302C942}"/>
              </a:ext>
            </a:extLst>
          </p:cNvPr>
          <p:cNvSpPr/>
          <p:nvPr/>
        </p:nvSpPr>
        <p:spPr>
          <a:xfrm>
            <a:off x="4918858" y="1353312"/>
            <a:ext cx="7273142" cy="4521015"/>
          </a:xfrm>
          <a:prstGeom prst="roundRect">
            <a:avLst>
              <a:gd name="adj" fmla="val 1304"/>
            </a:avLst>
          </a:prstGeom>
          <a:solidFill>
            <a:srgbClr val="F4F2FC"/>
          </a:solidFill>
          <a:ln/>
          <a:effectLst>
            <a:outerShdw blurRad="101600" dist="38100" dir="2700000" algn="bl" rotWithShape="0">
              <a:srgbClr val="000000">
                <a:alpha val="12000"/>
              </a:srgbClr>
            </a:outerShdw>
          </a:effectLst>
        </p:spPr>
        <p:txBody>
          <a:bodyPr/>
          <a:lstStyle/>
          <a:p>
            <a:endParaRPr lang="en-US"/>
          </a:p>
        </p:txBody>
      </p:sp>
      <p:sp>
        <p:nvSpPr>
          <p:cNvPr id="18" name="Text 15">
            <a:extLst>
              <a:ext uri="{FF2B5EF4-FFF2-40B4-BE49-F238E27FC236}">
                <a16:creationId xmlns:a16="http://schemas.microsoft.com/office/drawing/2014/main" id="{5329E889-0B1B-B660-2177-DCAE10F5988C}"/>
              </a:ext>
            </a:extLst>
          </p:cNvPr>
          <p:cNvSpPr/>
          <p:nvPr/>
        </p:nvSpPr>
        <p:spPr>
          <a:xfrm>
            <a:off x="6263640" y="4937760"/>
            <a:ext cx="5120640" cy="320040"/>
          </a:xfrm>
          <a:prstGeom prst="rect">
            <a:avLst/>
          </a:prstGeom>
          <a:noFill/>
          <a:ln/>
        </p:spPr>
        <p:txBody>
          <a:bodyPr wrap="square" lIns="0" tIns="0" rIns="0" bIns="0" rtlCol="0" anchor="ctr"/>
          <a:lstStyle/>
          <a:p>
            <a:pPr marL="0" indent="0" algn="ctr">
              <a:buNone/>
            </a:pPr>
            <a:endParaRPr lang="en-US" sz="1050" dirty="0"/>
          </a:p>
        </p:txBody>
      </p:sp>
      <p:sp>
        <p:nvSpPr>
          <p:cNvPr id="19" name="Text 16">
            <a:extLst>
              <a:ext uri="{FF2B5EF4-FFF2-40B4-BE49-F238E27FC236}">
                <a16:creationId xmlns:a16="http://schemas.microsoft.com/office/drawing/2014/main" id="{79BE1A17-1DB4-F5CE-3E15-1202B6E6B029}"/>
              </a:ext>
            </a:extLst>
          </p:cNvPr>
          <p:cNvSpPr/>
          <p:nvPr/>
        </p:nvSpPr>
        <p:spPr>
          <a:xfrm>
            <a:off x="457200" y="6446520"/>
            <a:ext cx="6400800" cy="274320"/>
          </a:xfrm>
          <a:prstGeom prst="rect">
            <a:avLst/>
          </a:prstGeom>
          <a:noFill/>
          <a:ln/>
        </p:spPr>
        <p:txBody>
          <a:bodyPr wrap="square" lIns="0" tIns="0" rIns="0" bIns="0" rtlCol="0" anchor="ctr"/>
          <a:lstStyle/>
          <a:p>
            <a:pPr marL="0" indent="0" algn="l">
              <a:buNone/>
            </a:pPr>
            <a:r>
              <a:rPr lang="en-US" sz="900" dirty="0">
                <a:solidFill>
                  <a:srgbClr val="64748B"/>
                </a:solidFill>
                <a:latin typeface="Calibri" pitchFamily="34" charset="0"/>
                <a:ea typeface="Calibri" pitchFamily="34" charset="-122"/>
                <a:cs typeface="Calibri" pitchFamily="34" charset="-120"/>
              </a:rPr>
              <a:t>DEPI Capstone — Medical Insurance Analytics</a:t>
            </a:r>
            <a:endParaRPr lang="en-US" sz="900" dirty="0"/>
          </a:p>
        </p:txBody>
      </p:sp>
      <p:sp>
        <p:nvSpPr>
          <p:cNvPr id="20" name="Text 17">
            <a:extLst>
              <a:ext uri="{FF2B5EF4-FFF2-40B4-BE49-F238E27FC236}">
                <a16:creationId xmlns:a16="http://schemas.microsoft.com/office/drawing/2014/main" id="{4DDCA6A2-352B-6FEE-2AD8-8F9CF6AB2446}"/>
              </a:ext>
            </a:extLst>
          </p:cNvPr>
          <p:cNvSpPr/>
          <p:nvPr/>
        </p:nvSpPr>
        <p:spPr>
          <a:xfrm>
            <a:off x="11274552" y="6446520"/>
            <a:ext cx="457200" cy="27432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5</a:t>
            </a:r>
            <a:endParaRPr lang="en-US" sz="900" dirty="0"/>
          </a:p>
        </p:txBody>
      </p:sp>
      <p:pic>
        <p:nvPicPr>
          <p:cNvPr id="26" name="Picture 25">
            <a:extLst>
              <a:ext uri="{FF2B5EF4-FFF2-40B4-BE49-F238E27FC236}">
                <a16:creationId xmlns:a16="http://schemas.microsoft.com/office/drawing/2014/main" id="{909B7359-BB4A-9F4F-E9DC-7677A1D09E14}"/>
              </a:ext>
            </a:extLst>
          </p:cNvPr>
          <p:cNvPicPr>
            <a:picLocks noChangeAspect="1"/>
          </p:cNvPicPr>
          <p:nvPr/>
        </p:nvPicPr>
        <p:blipFill>
          <a:blip r:embed="rId3"/>
          <a:stretch>
            <a:fillRect/>
          </a:stretch>
        </p:blipFill>
        <p:spPr>
          <a:xfrm>
            <a:off x="4961510" y="-3797604"/>
            <a:ext cx="6992829" cy="3220354"/>
          </a:xfrm>
          <a:prstGeom prst="rect">
            <a:avLst/>
          </a:prstGeom>
        </p:spPr>
      </p:pic>
      <p:pic>
        <p:nvPicPr>
          <p:cNvPr id="28" name="Picture 27">
            <a:extLst>
              <a:ext uri="{FF2B5EF4-FFF2-40B4-BE49-F238E27FC236}">
                <a16:creationId xmlns:a16="http://schemas.microsoft.com/office/drawing/2014/main" id="{876B294B-ABAB-EDB6-9471-900AB8859E99}"/>
              </a:ext>
            </a:extLst>
          </p:cNvPr>
          <p:cNvPicPr>
            <a:picLocks noChangeAspect="1"/>
          </p:cNvPicPr>
          <p:nvPr/>
        </p:nvPicPr>
        <p:blipFill>
          <a:blip r:embed="rId4"/>
          <a:stretch>
            <a:fillRect/>
          </a:stretch>
        </p:blipFill>
        <p:spPr>
          <a:xfrm>
            <a:off x="2023886" y="-750622"/>
            <a:ext cx="1015312" cy="484632"/>
          </a:xfrm>
          <a:prstGeom prst="rect">
            <a:avLst/>
          </a:prstGeom>
        </p:spPr>
      </p:pic>
      <p:pic>
        <p:nvPicPr>
          <p:cNvPr id="21" name="Picture 20">
            <a:extLst>
              <a:ext uri="{FF2B5EF4-FFF2-40B4-BE49-F238E27FC236}">
                <a16:creationId xmlns:a16="http://schemas.microsoft.com/office/drawing/2014/main" id="{4E5B083A-CF7F-EE77-8044-ED570A5CBD57}"/>
              </a:ext>
            </a:extLst>
          </p:cNvPr>
          <p:cNvPicPr>
            <a:picLocks noChangeAspect="1"/>
          </p:cNvPicPr>
          <p:nvPr/>
        </p:nvPicPr>
        <p:blipFill>
          <a:blip r:embed="rId5"/>
          <a:stretch>
            <a:fillRect/>
          </a:stretch>
        </p:blipFill>
        <p:spPr>
          <a:xfrm>
            <a:off x="5351677" y="1576578"/>
            <a:ext cx="6498577" cy="4174998"/>
          </a:xfrm>
          <a:prstGeom prst="rect">
            <a:avLst/>
          </a:prstGeom>
        </p:spPr>
      </p:pic>
    </p:spTree>
    <p:extLst>
      <p:ext uri="{BB962C8B-B14F-4D97-AF65-F5344CB8AC3E}">
        <p14:creationId xmlns:p14="http://schemas.microsoft.com/office/powerpoint/2010/main" val="1627413559"/>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84048"/>
            <a:ext cx="7315200" cy="274320"/>
          </a:xfrm>
          <a:prstGeom prst="rect">
            <a:avLst/>
          </a:prstGeom>
          <a:noFill/>
          <a:ln/>
        </p:spPr>
        <p:txBody>
          <a:bodyPr wrap="square" lIns="0" tIns="0" rIns="0" bIns="0" rtlCol="0" anchor="ctr"/>
          <a:lstStyle/>
          <a:p>
            <a:pPr marL="0" indent="0">
              <a:buNone/>
            </a:pPr>
            <a:r>
              <a:rPr lang="en-US" sz="1200" b="1" kern="0" spc="200" dirty="0">
                <a:solidFill>
                  <a:srgbClr val="471DE1"/>
                </a:solidFill>
                <a:latin typeface="Calibri" pitchFamily="34" charset="0"/>
                <a:ea typeface="Calibri" pitchFamily="34" charset="-122"/>
                <a:cs typeface="Calibri" pitchFamily="34" charset="-120"/>
              </a:rPr>
              <a:t>FIRST LOOK AT THE DATA</a:t>
            </a:r>
            <a:endParaRPr lang="en-US" sz="1200" dirty="0">
              <a:solidFill>
                <a:srgbClr val="471DE1"/>
              </a:solidFill>
            </a:endParaRPr>
          </a:p>
        </p:txBody>
      </p:sp>
      <p:sp>
        <p:nvSpPr>
          <p:cNvPr id="3" name="Text 1"/>
          <p:cNvSpPr/>
          <p:nvPr/>
        </p:nvSpPr>
        <p:spPr>
          <a:xfrm>
            <a:off x="548640" y="621792"/>
            <a:ext cx="10515600" cy="731520"/>
          </a:xfrm>
          <a:prstGeom prst="rect">
            <a:avLst/>
          </a:prstGeom>
          <a:noFill/>
          <a:ln/>
        </p:spPr>
        <p:txBody>
          <a:bodyPr wrap="square" lIns="0" tIns="0" rIns="0" bIns="0" rtlCol="0" anchor="ctr"/>
          <a:lstStyle/>
          <a:p>
            <a:pPr marL="0" indent="0">
              <a:buNone/>
            </a:pPr>
            <a:r>
              <a:rPr lang="en-US" sz="3200" b="1" dirty="0">
                <a:solidFill>
                  <a:srgbClr val="191A4E"/>
                </a:solidFill>
                <a:latin typeface="Cambria" pitchFamily="34" charset="0"/>
                <a:ea typeface="Cambria" pitchFamily="34" charset="-122"/>
                <a:cs typeface="Cambria" pitchFamily="34" charset="-120"/>
              </a:rPr>
              <a:t>Excel— Dashboard</a:t>
            </a:r>
            <a:endParaRPr lang="en-US" sz="3200" dirty="0">
              <a:solidFill>
                <a:srgbClr val="191A4E"/>
              </a:solidFill>
            </a:endParaRPr>
          </a:p>
        </p:txBody>
      </p:sp>
      <p:sp>
        <p:nvSpPr>
          <p:cNvPr id="4" name="Shape 2"/>
          <p:cNvSpPr/>
          <p:nvPr/>
        </p:nvSpPr>
        <p:spPr>
          <a:xfrm>
            <a:off x="548640" y="1874520"/>
            <a:ext cx="411480" cy="411480"/>
          </a:xfrm>
          <a:prstGeom prst="ellipse">
            <a:avLst/>
          </a:prstGeom>
          <a:solidFill>
            <a:srgbClr val="471DE1"/>
          </a:solidFill>
          <a:ln/>
        </p:spPr>
        <p:txBody>
          <a:bodyPr/>
          <a:lstStyle/>
          <a:p>
            <a:endParaRPr lang="en-US"/>
          </a:p>
        </p:txBody>
      </p:sp>
      <p:sp>
        <p:nvSpPr>
          <p:cNvPr id="5" name="Text 3"/>
          <p:cNvSpPr/>
          <p:nvPr/>
        </p:nvSpPr>
        <p:spPr>
          <a:xfrm>
            <a:off x="548640" y="1874520"/>
            <a:ext cx="411480" cy="411480"/>
          </a:xfrm>
          <a:prstGeom prst="rect">
            <a:avLst/>
          </a:prstGeom>
          <a:noFill/>
          <a:ln/>
        </p:spPr>
        <p:txBody>
          <a:bodyPr wrap="square" lIns="0" tIns="0" rIns="0" bIns="0" rtlCol="0" anchor="ctr"/>
          <a:lstStyle/>
          <a:p>
            <a:pPr marL="0" indent="0" algn="ctr">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6" name="Text 4"/>
          <p:cNvSpPr/>
          <p:nvPr/>
        </p:nvSpPr>
        <p:spPr>
          <a:xfrm>
            <a:off x="1143000" y="1828800"/>
            <a:ext cx="4297680" cy="320040"/>
          </a:xfrm>
          <a:prstGeom prst="rect">
            <a:avLst/>
          </a:prstGeom>
          <a:noFill/>
          <a:ln/>
        </p:spPr>
        <p:txBody>
          <a:bodyPr wrap="square" lIns="0" tIns="0" rIns="0" bIns="0" rtlCol="0" anchor="ctr"/>
          <a:lstStyle/>
          <a:p>
            <a:pPr marL="0" indent="0">
              <a:buNone/>
            </a:pPr>
            <a:r>
              <a:rPr lang="en-US" sz="1400" b="1" dirty="0">
                <a:solidFill>
                  <a:srgbClr val="471DE1"/>
                </a:solidFill>
                <a:latin typeface="Cambria" pitchFamily="34" charset="0"/>
                <a:ea typeface="Cambria" pitchFamily="34" charset="-122"/>
                <a:cs typeface="Cambria" pitchFamily="34" charset="-120"/>
              </a:rPr>
              <a:t>Interactive Dashboard</a:t>
            </a:r>
            <a:endParaRPr lang="en-US" sz="1400" dirty="0">
              <a:solidFill>
                <a:srgbClr val="471DE1"/>
              </a:solidFill>
            </a:endParaRPr>
          </a:p>
        </p:txBody>
      </p:sp>
      <p:sp>
        <p:nvSpPr>
          <p:cNvPr id="7" name="Text 5"/>
          <p:cNvSpPr/>
          <p:nvPr/>
        </p:nvSpPr>
        <p:spPr>
          <a:xfrm>
            <a:off x="1143000" y="2167128"/>
            <a:ext cx="4297680" cy="502920"/>
          </a:xfrm>
          <a:prstGeom prst="rect">
            <a:avLst/>
          </a:prstGeom>
          <a:noFill/>
          <a:ln/>
        </p:spPr>
        <p:txBody>
          <a:bodyPr wrap="square" lIns="0" tIns="0" rIns="0" bIns="0" rtlCol="0" anchor="ctr"/>
          <a:lstStyle/>
          <a:p>
            <a:pPr marL="0" indent="0">
              <a:buNone/>
            </a:pPr>
            <a:r>
              <a:rPr lang="en-US" sz="1150" dirty="0">
                <a:solidFill>
                  <a:srgbClr val="191A4E"/>
                </a:solidFill>
                <a:latin typeface="Calibri" pitchFamily="34" charset="0"/>
                <a:ea typeface="Calibri" pitchFamily="34" charset="-122"/>
                <a:cs typeface="Calibri" pitchFamily="34" charset="-120"/>
              </a:rPr>
              <a:t>Row/column counts, data types, obvious gaps</a:t>
            </a:r>
            <a:endParaRPr lang="en-US" sz="1150" dirty="0">
              <a:solidFill>
                <a:srgbClr val="191A4E"/>
              </a:solidFill>
            </a:endParaRPr>
          </a:p>
        </p:txBody>
      </p:sp>
      <p:sp>
        <p:nvSpPr>
          <p:cNvPr id="8" name="Shape 6"/>
          <p:cNvSpPr/>
          <p:nvPr/>
        </p:nvSpPr>
        <p:spPr>
          <a:xfrm>
            <a:off x="548640" y="2948049"/>
            <a:ext cx="411480" cy="411480"/>
          </a:xfrm>
          <a:prstGeom prst="ellipse">
            <a:avLst/>
          </a:prstGeom>
          <a:solidFill>
            <a:srgbClr val="471DE1"/>
          </a:solidFill>
          <a:ln/>
        </p:spPr>
        <p:txBody>
          <a:bodyPr/>
          <a:lstStyle/>
          <a:p>
            <a:endParaRPr lang="en-US"/>
          </a:p>
        </p:txBody>
      </p:sp>
      <p:sp>
        <p:nvSpPr>
          <p:cNvPr id="9" name="Text 7"/>
          <p:cNvSpPr/>
          <p:nvPr/>
        </p:nvSpPr>
        <p:spPr>
          <a:xfrm>
            <a:off x="548640" y="2926080"/>
            <a:ext cx="411480" cy="411480"/>
          </a:xfrm>
          <a:prstGeom prst="rect">
            <a:avLst/>
          </a:prstGeom>
          <a:noFill/>
          <a:ln/>
        </p:spPr>
        <p:txBody>
          <a:bodyPr wrap="square" lIns="0" tIns="0" rIns="0" bIns="0" rtlCol="0" anchor="ctr"/>
          <a:lstStyle/>
          <a:p>
            <a:pPr marL="0" indent="0" algn="ctr">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0" name="Text 8"/>
          <p:cNvSpPr/>
          <p:nvPr/>
        </p:nvSpPr>
        <p:spPr>
          <a:xfrm>
            <a:off x="1143000" y="2880360"/>
            <a:ext cx="4297680" cy="320040"/>
          </a:xfrm>
          <a:prstGeom prst="rect">
            <a:avLst/>
          </a:prstGeom>
          <a:noFill/>
          <a:ln/>
        </p:spPr>
        <p:txBody>
          <a:bodyPr wrap="square" lIns="0" tIns="0" rIns="0" bIns="0" rtlCol="0" anchor="ctr"/>
          <a:lstStyle/>
          <a:p>
            <a:pPr marL="0" indent="0">
              <a:buNone/>
            </a:pPr>
            <a:r>
              <a:rPr lang="en-US" sz="1400" b="1" dirty="0">
                <a:solidFill>
                  <a:srgbClr val="471DE1"/>
                </a:solidFill>
                <a:latin typeface="Cambria" pitchFamily="34" charset="0"/>
                <a:ea typeface="Cambria" pitchFamily="34" charset="-122"/>
                <a:cs typeface="Cambria" pitchFamily="34" charset="-120"/>
              </a:rPr>
              <a:t>Pivot</a:t>
            </a:r>
            <a:r>
              <a:rPr lang="en-US" sz="1400" b="1" dirty="0">
                <a:solidFill>
                  <a:srgbClr val="0B1F33"/>
                </a:solidFill>
                <a:latin typeface="Cambria" pitchFamily="34" charset="0"/>
                <a:ea typeface="Cambria" pitchFamily="34" charset="-122"/>
                <a:cs typeface="Cambria" pitchFamily="34" charset="-120"/>
              </a:rPr>
              <a:t> </a:t>
            </a:r>
            <a:r>
              <a:rPr lang="en-US" sz="1400" b="1" dirty="0">
                <a:solidFill>
                  <a:srgbClr val="471DE1"/>
                </a:solidFill>
                <a:latin typeface="Cambria" pitchFamily="34" charset="0"/>
                <a:ea typeface="Cambria" pitchFamily="34" charset="-122"/>
                <a:cs typeface="Cambria" pitchFamily="34" charset="-120"/>
              </a:rPr>
              <a:t>Tables</a:t>
            </a:r>
            <a:endParaRPr lang="en-US" sz="1400" dirty="0">
              <a:solidFill>
                <a:srgbClr val="471DE1"/>
              </a:solidFill>
            </a:endParaRPr>
          </a:p>
        </p:txBody>
      </p:sp>
      <p:sp>
        <p:nvSpPr>
          <p:cNvPr id="11" name="Text 9"/>
          <p:cNvSpPr/>
          <p:nvPr/>
        </p:nvSpPr>
        <p:spPr>
          <a:xfrm>
            <a:off x="1143000" y="3218688"/>
            <a:ext cx="4297680" cy="502920"/>
          </a:xfrm>
          <a:prstGeom prst="rect">
            <a:avLst/>
          </a:prstGeom>
          <a:noFill/>
          <a:ln/>
        </p:spPr>
        <p:txBody>
          <a:bodyPr wrap="square" lIns="0" tIns="0" rIns="0" bIns="0" rtlCol="0" anchor="ctr"/>
          <a:lstStyle/>
          <a:p>
            <a:pPr marL="0" indent="0">
              <a:buNone/>
            </a:pPr>
            <a:r>
              <a:rPr lang="en-US" sz="1150" dirty="0">
                <a:solidFill>
                  <a:srgbClr val="191A4E"/>
                </a:solidFill>
                <a:latin typeface="Calibri" pitchFamily="34" charset="0"/>
                <a:ea typeface="Calibri" pitchFamily="34" charset="-122"/>
                <a:cs typeface="Calibri" pitchFamily="34" charset="-120"/>
              </a:rPr>
              <a:t>Quick cuts by region, plan type, age band</a:t>
            </a:r>
            <a:endParaRPr lang="en-US" sz="1150" dirty="0">
              <a:solidFill>
                <a:srgbClr val="191A4E"/>
              </a:solidFill>
            </a:endParaRPr>
          </a:p>
        </p:txBody>
      </p:sp>
      <p:sp>
        <p:nvSpPr>
          <p:cNvPr id="12" name="Shape 10"/>
          <p:cNvSpPr/>
          <p:nvPr/>
        </p:nvSpPr>
        <p:spPr>
          <a:xfrm>
            <a:off x="548640" y="3999609"/>
            <a:ext cx="411480" cy="411480"/>
          </a:xfrm>
          <a:prstGeom prst="ellipse">
            <a:avLst/>
          </a:prstGeom>
          <a:solidFill>
            <a:srgbClr val="471DE1"/>
          </a:solidFill>
          <a:ln/>
        </p:spPr>
        <p:txBody>
          <a:bodyPr/>
          <a:lstStyle/>
          <a:p>
            <a:endParaRPr lang="en-US"/>
          </a:p>
        </p:txBody>
      </p:sp>
      <p:sp>
        <p:nvSpPr>
          <p:cNvPr id="13" name="Text 11"/>
          <p:cNvSpPr/>
          <p:nvPr/>
        </p:nvSpPr>
        <p:spPr>
          <a:xfrm>
            <a:off x="548640" y="3977640"/>
            <a:ext cx="411480" cy="411480"/>
          </a:xfrm>
          <a:prstGeom prst="rect">
            <a:avLst/>
          </a:prstGeom>
          <a:noFill/>
          <a:ln/>
        </p:spPr>
        <p:txBody>
          <a:bodyPr wrap="square" lIns="0" tIns="0" rIns="0" bIns="0" rtlCol="0" anchor="ctr"/>
          <a:lstStyle/>
          <a:p>
            <a:pPr marL="0" indent="0" algn="ctr">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4" name="Text 12"/>
          <p:cNvSpPr/>
          <p:nvPr/>
        </p:nvSpPr>
        <p:spPr>
          <a:xfrm>
            <a:off x="1143000" y="3931920"/>
            <a:ext cx="4297680" cy="320040"/>
          </a:xfrm>
          <a:prstGeom prst="rect">
            <a:avLst/>
          </a:prstGeom>
          <a:noFill/>
          <a:ln/>
        </p:spPr>
        <p:txBody>
          <a:bodyPr wrap="square" lIns="0" tIns="0" rIns="0" bIns="0" rtlCol="0" anchor="ctr"/>
          <a:lstStyle/>
          <a:p>
            <a:pPr marL="0" indent="0">
              <a:buNone/>
            </a:pPr>
            <a:r>
              <a:rPr lang="en-US" sz="1400" b="1" dirty="0">
                <a:solidFill>
                  <a:srgbClr val="471DE1"/>
                </a:solidFill>
                <a:latin typeface="Cambria" pitchFamily="34" charset="0"/>
                <a:ea typeface="Cambria" pitchFamily="34" charset="-122"/>
                <a:cs typeface="Cambria" pitchFamily="34" charset="-120"/>
              </a:rPr>
              <a:t>Spot-Checks</a:t>
            </a:r>
            <a:endParaRPr lang="en-US" sz="1400" dirty="0">
              <a:solidFill>
                <a:srgbClr val="471DE1"/>
              </a:solidFill>
            </a:endParaRPr>
          </a:p>
        </p:txBody>
      </p:sp>
      <p:sp>
        <p:nvSpPr>
          <p:cNvPr id="15" name="Text 13"/>
          <p:cNvSpPr/>
          <p:nvPr/>
        </p:nvSpPr>
        <p:spPr>
          <a:xfrm>
            <a:off x="1143000" y="4270248"/>
            <a:ext cx="4297680" cy="502920"/>
          </a:xfrm>
          <a:prstGeom prst="rect">
            <a:avLst/>
          </a:prstGeom>
          <a:noFill/>
          <a:ln/>
        </p:spPr>
        <p:txBody>
          <a:bodyPr wrap="square" lIns="0" tIns="0" rIns="0" bIns="0" rtlCol="0" anchor="ctr"/>
          <a:lstStyle/>
          <a:p>
            <a:pPr marL="0" indent="0">
              <a:buNone/>
            </a:pPr>
            <a:r>
              <a:rPr lang="en-US" sz="1150" dirty="0">
                <a:solidFill>
                  <a:srgbClr val="191A4E"/>
                </a:solidFill>
                <a:latin typeface="Calibri" pitchFamily="34" charset="0"/>
                <a:ea typeface="Calibri" pitchFamily="34" charset="-122"/>
                <a:cs typeface="Calibri" pitchFamily="34" charset="-120"/>
              </a:rPr>
              <a:t>Flag nulls, duplicates, and outlier values before scripting</a:t>
            </a:r>
            <a:endParaRPr lang="en-US" sz="1150" dirty="0">
              <a:solidFill>
                <a:srgbClr val="191A4E"/>
              </a:solidFill>
            </a:endParaRPr>
          </a:p>
        </p:txBody>
      </p:sp>
      <p:sp>
        <p:nvSpPr>
          <p:cNvPr id="16" name="Shape 14"/>
          <p:cNvSpPr/>
          <p:nvPr/>
        </p:nvSpPr>
        <p:spPr>
          <a:xfrm>
            <a:off x="4681197" y="987552"/>
            <a:ext cx="7273142" cy="4597012"/>
          </a:xfrm>
          <a:prstGeom prst="roundRect">
            <a:avLst>
              <a:gd name="adj" fmla="val 1304"/>
            </a:avLst>
          </a:prstGeom>
          <a:solidFill>
            <a:srgbClr val="F4F2FC"/>
          </a:solidFill>
          <a:ln/>
          <a:effectLst>
            <a:outerShdw blurRad="101600" dist="38100" dir="2700000" algn="bl" rotWithShape="0">
              <a:srgbClr val="000000">
                <a:alpha val="12000"/>
              </a:srgbClr>
            </a:outerShdw>
          </a:effectLst>
        </p:spPr>
        <p:txBody>
          <a:bodyPr/>
          <a:lstStyle/>
          <a:p>
            <a:endParaRPr lang="en-US"/>
          </a:p>
        </p:txBody>
      </p:sp>
      <p:sp>
        <p:nvSpPr>
          <p:cNvPr id="18" name="Text 15"/>
          <p:cNvSpPr/>
          <p:nvPr/>
        </p:nvSpPr>
        <p:spPr>
          <a:xfrm>
            <a:off x="6263640" y="4937760"/>
            <a:ext cx="5120640" cy="320040"/>
          </a:xfrm>
          <a:prstGeom prst="rect">
            <a:avLst/>
          </a:prstGeom>
          <a:noFill/>
          <a:ln/>
        </p:spPr>
        <p:txBody>
          <a:bodyPr wrap="square" lIns="0" tIns="0" rIns="0" bIns="0" rtlCol="0" anchor="ctr"/>
          <a:lstStyle/>
          <a:p>
            <a:pPr marL="0" indent="0" algn="ctr">
              <a:buNone/>
            </a:pPr>
            <a:endParaRPr lang="en-US" sz="1050" dirty="0"/>
          </a:p>
        </p:txBody>
      </p:sp>
      <p:sp>
        <p:nvSpPr>
          <p:cNvPr id="19" name="Text 16"/>
          <p:cNvSpPr/>
          <p:nvPr/>
        </p:nvSpPr>
        <p:spPr>
          <a:xfrm>
            <a:off x="457200" y="6446520"/>
            <a:ext cx="6400800" cy="274320"/>
          </a:xfrm>
          <a:prstGeom prst="rect">
            <a:avLst/>
          </a:prstGeom>
          <a:noFill/>
          <a:ln/>
        </p:spPr>
        <p:txBody>
          <a:bodyPr wrap="square" lIns="0" tIns="0" rIns="0" bIns="0" rtlCol="0" anchor="ctr"/>
          <a:lstStyle/>
          <a:p>
            <a:pPr marL="0" indent="0" algn="l">
              <a:buNone/>
            </a:pPr>
            <a:r>
              <a:rPr lang="en-US" sz="900" dirty="0">
                <a:solidFill>
                  <a:srgbClr val="64748B"/>
                </a:solidFill>
                <a:latin typeface="Calibri" pitchFamily="34" charset="0"/>
                <a:ea typeface="Calibri" pitchFamily="34" charset="-122"/>
                <a:cs typeface="Calibri" pitchFamily="34" charset="-120"/>
              </a:rPr>
              <a:t>DEPI Capstone — Medical Insurance Analytics</a:t>
            </a:r>
            <a:endParaRPr lang="en-US" sz="900" dirty="0"/>
          </a:p>
        </p:txBody>
      </p:sp>
      <p:sp>
        <p:nvSpPr>
          <p:cNvPr id="20" name="Text 17"/>
          <p:cNvSpPr/>
          <p:nvPr/>
        </p:nvSpPr>
        <p:spPr>
          <a:xfrm>
            <a:off x="11274552" y="6446520"/>
            <a:ext cx="457200" cy="27432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5</a:t>
            </a:r>
            <a:endParaRPr lang="en-US" sz="900" dirty="0"/>
          </a:p>
        </p:txBody>
      </p:sp>
      <p:pic>
        <p:nvPicPr>
          <p:cNvPr id="24" name="Picture 23">
            <a:extLst>
              <a:ext uri="{FF2B5EF4-FFF2-40B4-BE49-F238E27FC236}">
                <a16:creationId xmlns:a16="http://schemas.microsoft.com/office/drawing/2014/main" id="{95A589C9-E80F-4702-6547-2CE1DF0FF0FB}"/>
              </a:ext>
            </a:extLst>
          </p:cNvPr>
          <p:cNvPicPr>
            <a:picLocks noChangeAspect="1"/>
          </p:cNvPicPr>
          <p:nvPr/>
        </p:nvPicPr>
        <p:blipFill>
          <a:blip r:embed="rId3"/>
          <a:stretch>
            <a:fillRect/>
          </a:stretch>
        </p:blipFill>
        <p:spPr>
          <a:xfrm>
            <a:off x="4961510" y="-3578350"/>
            <a:ext cx="6992829" cy="3104527"/>
          </a:xfrm>
          <a:prstGeom prst="rect">
            <a:avLst/>
          </a:prstGeom>
        </p:spPr>
      </p:pic>
      <p:pic>
        <p:nvPicPr>
          <p:cNvPr id="26" name="Picture 25">
            <a:extLst>
              <a:ext uri="{FF2B5EF4-FFF2-40B4-BE49-F238E27FC236}">
                <a16:creationId xmlns:a16="http://schemas.microsoft.com/office/drawing/2014/main" id="{4BBFC84F-2840-7600-5B84-03B98BE3E2F1}"/>
              </a:ext>
            </a:extLst>
          </p:cNvPr>
          <p:cNvPicPr>
            <a:picLocks noChangeAspect="1"/>
          </p:cNvPicPr>
          <p:nvPr/>
        </p:nvPicPr>
        <p:blipFill>
          <a:blip r:embed="rId4"/>
          <a:stretch>
            <a:fillRect/>
          </a:stretch>
        </p:blipFill>
        <p:spPr>
          <a:xfrm>
            <a:off x="2282965" y="-1188720"/>
            <a:ext cx="783507" cy="360822"/>
          </a:xfrm>
          <a:prstGeom prst="rect">
            <a:avLst/>
          </a:prstGeom>
        </p:spPr>
      </p:pic>
      <p:pic>
        <p:nvPicPr>
          <p:cNvPr id="28" name="Picture 27">
            <a:extLst>
              <a:ext uri="{FF2B5EF4-FFF2-40B4-BE49-F238E27FC236}">
                <a16:creationId xmlns:a16="http://schemas.microsoft.com/office/drawing/2014/main" id="{1DD8F7D2-1AF8-9B51-5A7D-75BF547FBA48}"/>
              </a:ext>
            </a:extLst>
          </p:cNvPr>
          <p:cNvPicPr>
            <a:picLocks noChangeAspect="1"/>
          </p:cNvPicPr>
          <p:nvPr/>
        </p:nvPicPr>
        <p:blipFill>
          <a:blip r:embed="rId5"/>
          <a:stretch>
            <a:fillRect/>
          </a:stretch>
        </p:blipFill>
        <p:spPr>
          <a:xfrm>
            <a:off x="4961510" y="7013167"/>
            <a:ext cx="6992829" cy="3337841"/>
          </a:xfrm>
          <a:prstGeom prst="rect">
            <a:avLst/>
          </a:prstGeom>
        </p:spPr>
      </p:pic>
      <p:pic>
        <p:nvPicPr>
          <p:cNvPr id="21" name="Picture 20">
            <a:extLst>
              <a:ext uri="{FF2B5EF4-FFF2-40B4-BE49-F238E27FC236}">
                <a16:creationId xmlns:a16="http://schemas.microsoft.com/office/drawing/2014/main" id="{0E328568-BA29-8D24-C6EE-D2720C2D96D6}"/>
              </a:ext>
            </a:extLst>
          </p:cNvPr>
          <p:cNvPicPr>
            <a:picLocks noChangeAspect="1"/>
          </p:cNvPicPr>
          <p:nvPr/>
        </p:nvPicPr>
        <p:blipFill>
          <a:blip r:embed="rId6"/>
          <a:stretch>
            <a:fillRect/>
          </a:stretch>
        </p:blipFill>
        <p:spPr>
          <a:xfrm>
            <a:off x="4891868" y="1353312"/>
            <a:ext cx="7132112" cy="377647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499AEF72-299A-A625-C0B8-3A14BFDA2AA9}"/>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B30D1ED4-645A-FDF8-AC60-F1EE75B682E5}"/>
              </a:ext>
            </a:extLst>
          </p:cNvPr>
          <p:cNvSpPr/>
          <p:nvPr/>
        </p:nvSpPr>
        <p:spPr>
          <a:xfrm>
            <a:off x="548640" y="384048"/>
            <a:ext cx="7315200" cy="274320"/>
          </a:xfrm>
          <a:prstGeom prst="rect">
            <a:avLst/>
          </a:prstGeom>
          <a:noFill/>
          <a:ln/>
        </p:spPr>
        <p:txBody>
          <a:bodyPr wrap="square" lIns="0" tIns="0" rIns="0" bIns="0" rtlCol="0" anchor="ctr"/>
          <a:lstStyle/>
          <a:p>
            <a:pPr marL="0" indent="0">
              <a:buNone/>
            </a:pPr>
            <a:r>
              <a:rPr lang="en-US" sz="1200" b="1" kern="0" spc="200" dirty="0">
                <a:solidFill>
                  <a:srgbClr val="1C7293"/>
                </a:solidFill>
                <a:latin typeface="Calibri" pitchFamily="34" charset="0"/>
                <a:ea typeface="Calibri" pitchFamily="34" charset="-122"/>
                <a:cs typeface="Calibri" pitchFamily="34" charset="-120"/>
              </a:rPr>
              <a:t>MODELING &amp; KPI QUERIES</a:t>
            </a:r>
            <a:endParaRPr lang="en-US" sz="1200" dirty="0"/>
          </a:p>
        </p:txBody>
      </p:sp>
      <p:sp>
        <p:nvSpPr>
          <p:cNvPr id="3" name="Text 1">
            <a:extLst>
              <a:ext uri="{FF2B5EF4-FFF2-40B4-BE49-F238E27FC236}">
                <a16:creationId xmlns:a16="http://schemas.microsoft.com/office/drawing/2014/main" id="{3D8B7E22-85F5-8F97-B67E-154115A47C19}"/>
              </a:ext>
            </a:extLst>
          </p:cNvPr>
          <p:cNvSpPr/>
          <p:nvPr/>
        </p:nvSpPr>
        <p:spPr>
          <a:xfrm>
            <a:off x="548640" y="621792"/>
            <a:ext cx="10515600" cy="731520"/>
          </a:xfrm>
          <a:prstGeom prst="rect">
            <a:avLst/>
          </a:prstGeom>
          <a:noFill/>
          <a:ln/>
        </p:spPr>
        <p:txBody>
          <a:bodyPr wrap="square" lIns="0" tIns="0" rIns="0" bIns="0" rtlCol="0" anchor="ctr"/>
          <a:lstStyle/>
          <a:p>
            <a:pPr marL="0" indent="0">
              <a:buNone/>
            </a:pPr>
            <a:r>
              <a:rPr lang="en-US" sz="3200" b="1" dirty="0">
                <a:solidFill>
                  <a:srgbClr val="0B1F33"/>
                </a:solidFill>
                <a:latin typeface="Cambria" pitchFamily="34" charset="0"/>
                <a:ea typeface="Cambria" pitchFamily="34" charset="-122"/>
                <a:cs typeface="Cambria" pitchFamily="34" charset="-120"/>
              </a:rPr>
              <a:t>SQL— cleaning</a:t>
            </a:r>
            <a:endParaRPr lang="en-US" sz="3200" dirty="0"/>
          </a:p>
        </p:txBody>
      </p:sp>
      <p:sp>
        <p:nvSpPr>
          <p:cNvPr id="4" name="Text 2">
            <a:extLst>
              <a:ext uri="{FF2B5EF4-FFF2-40B4-BE49-F238E27FC236}">
                <a16:creationId xmlns:a16="http://schemas.microsoft.com/office/drawing/2014/main" id="{1F7D9BAD-6FAA-1AAE-932E-A2E8E6A4064D}"/>
              </a:ext>
            </a:extLst>
          </p:cNvPr>
          <p:cNvSpPr/>
          <p:nvPr/>
        </p:nvSpPr>
        <p:spPr>
          <a:xfrm>
            <a:off x="252753" y="1637547"/>
            <a:ext cx="4572000" cy="320040"/>
          </a:xfrm>
          <a:prstGeom prst="rect">
            <a:avLst/>
          </a:prstGeom>
          <a:noFill/>
          <a:ln/>
        </p:spPr>
        <p:txBody>
          <a:bodyPr wrap="square" lIns="0" tIns="0" rIns="0" bIns="0" rtlCol="0" anchor="ctr"/>
          <a:lstStyle/>
          <a:p>
            <a:pPr marL="0" indent="0">
              <a:buNone/>
            </a:pPr>
            <a:r>
              <a:rPr lang="en-US" b="1" dirty="0">
                <a:solidFill>
                  <a:srgbClr val="0B1F33"/>
                </a:solidFill>
                <a:latin typeface="Cambria" pitchFamily="34" charset="0"/>
                <a:ea typeface="Cambria" pitchFamily="34" charset="-122"/>
                <a:cs typeface="Cambria" pitchFamily="34" charset="-120"/>
              </a:rPr>
              <a:t>Data Cleaning</a:t>
            </a:r>
            <a:r>
              <a:rPr lang="en-US" sz="1400" b="1" dirty="0">
                <a:solidFill>
                  <a:srgbClr val="0B1F33"/>
                </a:solidFill>
                <a:latin typeface="Cambria" pitchFamily="34" charset="0"/>
                <a:ea typeface="Cambria" pitchFamily="34" charset="-122"/>
                <a:cs typeface="Cambria" pitchFamily="34" charset="-120"/>
              </a:rPr>
              <a:t> </a:t>
            </a:r>
            <a:r>
              <a:rPr lang="en-US" b="1" dirty="0">
                <a:solidFill>
                  <a:srgbClr val="0B1F33"/>
                </a:solidFill>
                <a:latin typeface="Cambria" pitchFamily="34" charset="0"/>
                <a:ea typeface="Cambria" pitchFamily="34" charset="-122"/>
                <a:cs typeface="Cambria" pitchFamily="34" charset="-120"/>
              </a:rPr>
              <a:t>Process</a:t>
            </a:r>
            <a:endParaRPr lang="en-US" dirty="0"/>
          </a:p>
        </p:txBody>
      </p:sp>
      <p:graphicFrame>
        <p:nvGraphicFramePr>
          <p:cNvPr id="9" name="Table 0">
            <a:extLst>
              <a:ext uri="{FF2B5EF4-FFF2-40B4-BE49-F238E27FC236}">
                <a16:creationId xmlns:a16="http://schemas.microsoft.com/office/drawing/2014/main" id="{DB939789-1623-270B-9A4A-1BEE0DC0DBEE}"/>
              </a:ext>
            </a:extLst>
          </p:cNvPr>
          <p:cNvGraphicFramePr>
            <a:graphicFrameLocks noGrp="1"/>
          </p:cNvGraphicFramePr>
          <p:nvPr>
            <p:extLst>
              <p:ext uri="{D42A27DB-BD31-4B8C-83A1-F6EECF244321}">
                <p14:modId xmlns:p14="http://schemas.microsoft.com/office/powerpoint/2010/main" val="1601735929"/>
              </p:ext>
            </p:extLst>
          </p:nvPr>
        </p:nvGraphicFramePr>
        <p:xfrm>
          <a:off x="2250209" y="7141464"/>
          <a:ext cx="1241136" cy="7483352"/>
        </p:xfrm>
        <a:graphic>
          <a:graphicData uri="http://schemas.openxmlformats.org/drawingml/2006/table">
            <a:tbl>
              <a:tblPr/>
              <a:tblGrid>
                <a:gridCol w="702529">
                  <a:extLst>
                    <a:ext uri="{9D8B030D-6E8A-4147-A177-3AD203B41FA5}">
                      <a16:colId xmlns:a16="http://schemas.microsoft.com/office/drawing/2014/main" val="20000"/>
                    </a:ext>
                  </a:extLst>
                </a:gridCol>
                <a:gridCol w="538607">
                  <a:extLst>
                    <a:ext uri="{9D8B030D-6E8A-4147-A177-3AD203B41FA5}">
                      <a16:colId xmlns:a16="http://schemas.microsoft.com/office/drawing/2014/main" val="20001"/>
                    </a:ext>
                  </a:extLst>
                </a:gridCol>
              </a:tblGrid>
              <a:tr h="3787652">
                <a:tc>
                  <a:txBody>
                    <a:bodyPr/>
                    <a:lstStyle/>
                    <a:p>
                      <a:pPr marL="0" indent="0">
                        <a:buNone/>
                      </a:pPr>
                      <a:endParaRPr lang="en-US" sz="1150" dirty="0">
                        <a:latin typeface="Calibri" charset="0"/>
                        <a:ea typeface="Calibri" charset="0"/>
                        <a:cs typeface="Calibri" charset="0"/>
                      </a:endParaRPr>
                    </a:p>
                  </a:txBody>
                  <a:tcPr>
                    <a:lnL w="9525" cap="flat" cmpd="sng" algn="ctr">
                      <a:solidFill>
                        <a:srgbClr val="D6E2E8"/>
                      </a:solidFill>
                      <a:prstDash val="solid"/>
                      <a:round/>
                      <a:headEnd type="none" w="med" len="med"/>
                      <a:tailEnd type="none" w="med" len="med"/>
                    </a:lnL>
                    <a:lnR w="9525" cap="flat" cmpd="sng" algn="ctr">
                      <a:solidFill>
                        <a:srgbClr val="D6E2E8"/>
                      </a:solidFill>
                      <a:prstDash val="solid"/>
                      <a:round/>
                      <a:headEnd type="none" w="med" len="med"/>
                      <a:tailEnd type="none" w="med" len="med"/>
                    </a:lnR>
                    <a:lnT w="9525" cap="flat" cmpd="sng" algn="ctr">
                      <a:solidFill>
                        <a:srgbClr val="D6E2E8"/>
                      </a:solidFill>
                      <a:prstDash val="solid"/>
                      <a:round/>
                      <a:headEnd type="none" w="med" len="med"/>
                      <a:tailEnd type="none" w="med" len="med"/>
                    </a:lnT>
                    <a:lnB w="9525" cap="flat" cmpd="sng" algn="ctr">
                      <a:solidFill>
                        <a:srgbClr val="D6E2E8"/>
                      </a:solidFill>
                      <a:prstDash val="solid"/>
                      <a:round/>
                      <a:headEnd type="none" w="med" len="med"/>
                      <a:tailEnd type="none" w="med" len="med"/>
                    </a:lnB>
                    <a:solidFill>
                      <a:srgbClr val="065A82"/>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Role</a:t>
                      </a:r>
                      <a:endParaRPr lang="en-US" sz="1150" dirty="0">
                        <a:latin typeface="Calibri" charset="0"/>
                        <a:ea typeface="Calibri" charset="0"/>
                        <a:cs typeface="Calibri" charset="0"/>
                      </a:endParaRPr>
                    </a:p>
                  </a:txBody>
                  <a:tcPr>
                    <a:lnL w="9525" cap="flat" cmpd="sng" algn="ctr">
                      <a:solidFill>
                        <a:srgbClr val="D6E2E8"/>
                      </a:solidFill>
                      <a:prstDash val="solid"/>
                      <a:round/>
                      <a:headEnd type="none" w="med" len="med"/>
                      <a:tailEnd type="none" w="med" len="med"/>
                    </a:lnL>
                    <a:lnR w="9525" cap="flat" cmpd="sng" algn="ctr">
                      <a:solidFill>
                        <a:srgbClr val="D6E2E8"/>
                      </a:solidFill>
                      <a:prstDash val="solid"/>
                      <a:round/>
                      <a:headEnd type="none" w="med" len="med"/>
                      <a:tailEnd type="none" w="med" len="med"/>
                    </a:lnR>
                    <a:lnT w="9525" cap="flat" cmpd="sng" algn="ctr">
                      <a:solidFill>
                        <a:srgbClr val="D6E2E8"/>
                      </a:solidFill>
                      <a:prstDash val="solid"/>
                      <a:round/>
                      <a:headEnd type="none" w="med" len="med"/>
                      <a:tailEnd type="none" w="med" len="med"/>
                    </a:lnT>
                    <a:lnB w="9525" cap="flat" cmpd="sng" algn="ctr">
                      <a:solidFill>
                        <a:srgbClr val="D6E2E8"/>
                      </a:solidFill>
                      <a:prstDash val="solid"/>
                      <a:round/>
                      <a:headEnd type="none" w="med" len="med"/>
                      <a:tailEnd type="none" w="med" len="med"/>
                    </a:lnB>
                    <a:solidFill>
                      <a:srgbClr val="065A82"/>
                    </a:solidFill>
                  </a:tcPr>
                </a:tc>
                <a:extLst>
                  <a:ext uri="{0D108BD9-81ED-4DB2-BD59-A6C34878D82A}">
                    <a16:rowId xmlns:a16="http://schemas.microsoft.com/office/drawing/2014/main" val="10000"/>
                  </a:ext>
                </a:extLst>
              </a:tr>
              <a:tr h="314106">
                <a:tc>
                  <a:txBody>
                    <a:bodyPr/>
                    <a:lstStyle/>
                    <a:p>
                      <a:pPr marL="0" indent="0">
                        <a:buNone/>
                      </a:pPr>
                      <a:r>
                        <a:rPr lang="en-US" sz="1150" dirty="0">
                          <a:solidFill>
                            <a:srgbClr val="1E293B"/>
                          </a:solidFill>
                          <a:latin typeface="Calibri" pitchFamily="34" charset="0"/>
                          <a:ea typeface="Calibri" pitchFamily="34" charset="-122"/>
                          <a:cs typeface="Calibri" pitchFamily="34" charset="-120"/>
                        </a:rPr>
                        <a:t>fact_claims</a:t>
                      </a:r>
                      <a:endParaRPr lang="en-US" sz="1150" dirty="0">
                        <a:latin typeface="Calibri" charset="0"/>
                        <a:ea typeface="Calibri" charset="0"/>
                        <a:cs typeface="Calibri" charset="0"/>
                      </a:endParaRPr>
                    </a:p>
                  </a:txBody>
                  <a:tcPr>
                    <a:lnL w="9525" cap="flat" cmpd="sng" algn="ctr">
                      <a:solidFill>
                        <a:srgbClr val="D6E2E8"/>
                      </a:solidFill>
                      <a:prstDash val="solid"/>
                      <a:round/>
                      <a:headEnd type="none" w="med" len="med"/>
                      <a:tailEnd type="none" w="med" len="med"/>
                    </a:lnL>
                    <a:lnR w="9525" cap="flat" cmpd="sng" algn="ctr">
                      <a:solidFill>
                        <a:srgbClr val="D6E2E8"/>
                      </a:solidFill>
                      <a:prstDash val="solid"/>
                      <a:round/>
                      <a:headEnd type="none" w="med" len="med"/>
                      <a:tailEnd type="none" w="med" len="med"/>
                    </a:lnR>
                    <a:lnT w="9525" cap="flat" cmpd="sng" algn="ctr">
                      <a:solidFill>
                        <a:srgbClr val="D6E2E8"/>
                      </a:solidFill>
                      <a:prstDash val="solid"/>
                      <a:round/>
                      <a:headEnd type="none" w="med" len="med"/>
                      <a:tailEnd type="none" w="med" len="med"/>
                    </a:lnT>
                    <a:lnB w="9525" cap="flat" cmpd="sng" algn="ctr">
                      <a:solidFill>
                        <a:srgbClr val="D6E2E8"/>
                      </a:solidFill>
                      <a:prstDash val="solid"/>
                      <a:round/>
                      <a:headEnd type="none" w="med" len="med"/>
                      <a:tailEnd type="none" w="med" len="med"/>
                    </a:lnB>
                  </a:tcPr>
                </a:tc>
                <a:tc>
                  <a:txBody>
                    <a:bodyPr/>
                    <a:lstStyle/>
                    <a:p>
                      <a:pPr marL="0" indent="0">
                        <a:buNone/>
                      </a:pPr>
                      <a:r>
                        <a:rPr lang="en-US" sz="1150" dirty="0">
                          <a:solidFill>
                            <a:srgbClr val="1E293B"/>
                          </a:solidFill>
                          <a:latin typeface="Calibri" pitchFamily="34" charset="0"/>
                          <a:ea typeface="Calibri" pitchFamily="34" charset="-122"/>
                          <a:cs typeface="Calibri" pitchFamily="34" charset="-120"/>
                        </a:rPr>
                        <a:t>Grain: one claim per row</a:t>
                      </a:r>
                      <a:endParaRPr lang="en-US" sz="1150" dirty="0">
                        <a:latin typeface="Calibri" charset="0"/>
                        <a:ea typeface="Calibri" charset="0"/>
                        <a:cs typeface="Calibri" charset="0"/>
                      </a:endParaRPr>
                    </a:p>
                  </a:txBody>
                  <a:tcPr>
                    <a:lnL w="9525" cap="flat" cmpd="sng" algn="ctr">
                      <a:solidFill>
                        <a:srgbClr val="D6E2E8"/>
                      </a:solidFill>
                      <a:prstDash val="solid"/>
                      <a:round/>
                      <a:headEnd type="none" w="med" len="med"/>
                      <a:tailEnd type="none" w="med" len="med"/>
                    </a:lnL>
                    <a:lnR w="9525" cap="flat" cmpd="sng" algn="ctr">
                      <a:solidFill>
                        <a:srgbClr val="D6E2E8"/>
                      </a:solidFill>
                      <a:prstDash val="solid"/>
                      <a:round/>
                      <a:headEnd type="none" w="med" len="med"/>
                      <a:tailEnd type="none" w="med" len="med"/>
                    </a:lnR>
                    <a:lnT w="9525" cap="flat" cmpd="sng" algn="ctr">
                      <a:solidFill>
                        <a:srgbClr val="D6E2E8"/>
                      </a:solidFill>
                      <a:prstDash val="solid"/>
                      <a:round/>
                      <a:headEnd type="none" w="med" len="med"/>
                      <a:tailEnd type="none" w="med" len="med"/>
                    </a:lnT>
                    <a:lnB w="9525" cap="flat" cmpd="sng" algn="ctr">
                      <a:solidFill>
                        <a:srgbClr val="D6E2E8"/>
                      </a:solidFill>
                      <a:prstDash val="solid"/>
                      <a:round/>
                      <a:headEnd type="none" w="med" len="med"/>
                      <a:tailEnd type="none" w="med" len="med"/>
                    </a:lnB>
                  </a:tcPr>
                </a:tc>
                <a:extLst>
                  <a:ext uri="{0D108BD9-81ED-4DB2-BD59-A6C34878D82A}">
                    <a16:rowId xmlns:a16="http://schemas.microsoft.com/office/drawing/2014/main" val="10001"/>
                  </a:ext>
                </a:extLst>
              </a:tr>
              <a:tr h="222460">
                <a:tc>
                  <a:txBody>
                    <a:bodyPr/>
                    <a:lstStyle/>
                    <a:p>
                      <a:pPr marL="0" indent="0">
                        <a:buNone/>
                      </a:pPr>
                      <a:r>
                        <a:rPr lang="en-US" sz="1150" dirty="0">
                          <a:solidFill>
                            <a:srgbClr val="1E293B"/>
                          </a:solidFill>
                          <a:latin typeface="Calibri" pitchFamily="34" charset="0"/>
                          <a:ea typeface="Calibri" pitchFamily="34" charset="-122"/>
                          <a:cs typeface="Calibri" pitchFamily="34" charset="-120"/>
                        </a:rPr>
                        <a:t>dim_patient</a:t>
                      </a:r>
                      <a:endParaRPr lang="en-US" sz="1150" dirty="0">
                        <a:latin typeface="Calibri" charset="0"/>
                        <a:ea typeface="Calibri" charset="0"/>
                        <a:cs typeface="Calibri" charset="0"/>
                      </a:endParaRPr>
                    </a:p>
                  </a:txBody>
                  <a:tcPr>
                    <a:lnL w="9525" cap="flat" cmpd="sng" algn="ctr">
                      <a:solidFill>
                        <a:srgbClr val="D6E2E8"/>
                      </a:solidFill>
                      <a:prstDash val="solid"/>
                      <a:round/>
                      <a:headEnd type="none" w="med" len="med"/>
                      <a:tailEnd type="none" w="med" len="med"/>
                    </a:lnL>
                    <a:lnR w="9525" cap="flat" cmpd="sng" algn="ctr">
                      <a:solidFill>
                        <a:srgbClr val="D6E2E8"/>
                      </a:solidFill>
                      <a:prstDash val="solid"/>
                      <a:round/>
                      <a:headEnd type="none" w="med" len="med"/>
                      <a:tailEnd type="none" w="med" len="med"/>
                    </a:lnR>
                    <a:lnT w="9525" cap="flat" cmpd="sng" algn="ctr">
                      <a:solidFill>
                        <a:srgbClr val="D6E2E8"/>
                      </a:solidFill>
                      <a:prstDash val="solid"/>
                      <a:round/>
                      <a:headEnd type="none" w="med" len="med"/>
                      <a:tailEnd type="none" w="med" len="med"/>
                    </a:lnT>
                    <a:lnB w="9525" cap="flat" cmpd="sng" algn="ctr">
                      <a:solidFill>
                        <a:srgbClr val="D6E2E8"/>
                      </a:solidFill>
                      <a:prstDash val="solid"/>
                      <a:round/>
                      <a:headEnd type="none" w="med" len="med"/>
                      <a:tailEnd type="none" w="med" len="med"/>
                    </a:lnB>
                  </a:tcPr>
                </a:tc>
                <a:tc>
                  <a:txBody>
                    <a:bodyPr/>
                    <a:lstStyle/>
                    <a:p>
                      <a:pPr marL="0" indent="0">
                        <a:buNone/>
                      </a:pPr>
                      <a:endParaRPr lang="en-US" sz="1150" dirty="0">
                        <a:latin typeface="Calibri" charset="0"/>
                        <a:ea typeface="Calibri" charset="0"/>
                        <a:cs typeface="Calibri" charset="0"/>
                      </a:endParaRPr>
                    </a:p>
                  </a:txBody>
                  <a:tcPr>
                    <a:lnL w="9525" cap="flat" cmpd="sng" algn="ctr">
                      <a:solidFill>
                        <a:srgbClr val="D6E2E8"/>
                      </a:solidFill>
                      <a:prstDash val="solid"/>
                      <a:round/>
                      <a:headEnd type="none" w="med" len="med"/>
                      <a:tailEnd type="none" w="med" len="med"/>
                    </a:lnL>
                    <a:lnR w="9525" cap="flat" cmpd="sng" algn="ctr">
                      <a:solidFill>
                        <a:srgbClr val="D6E2E8"/>
                      </a:solidFill>
                      <a:prstDash val="solid"/>
                      <a:round/>
                      <a:headEnd type="none" w="med" len="med"/>
                      <a:tailEnd type="none" w="med" len="med"/>
                    </a:lnR>
                    <a:lnT w="9525" cap="flat" cmpd="sng" algn="ctr">
                      <a:solidFill>
                        <a:srgbClr val="D6E2E8"/>
                      </a:solidFill>
                      <a:prstDash val="solid"/>
                      <a:round/>
                      <a:headEnd type="none" w="med" len="med"/>
                      <a:tailEnd type="none" w="med" len="med"/>
                    </a:lnT>
                    <a:lnB w="9525" cap="flat" cmpd="sng" algn="ctr">
                      <a:solidFill>
                        <a:srgbClr val="D6E2E8"/>
                      </a:solidFill>
                      <a:prstDash val="solid"/>
                      <a:round/>
                      <a:headEnd type="none" w="med" len="med"/>
                      <a:tailEnd type="none" w="med" len="med"/>
                    </a:lnB>
                  </a:tcPr>
                </a:tc>
                <a:extLst>
                  <a:ext uri="{0D108BD9-81ED-4DB2-BD59-A6C34878D82A}">
                    <a16:rowId xmlns:a16="http://schemas.microsoft.com/office/drawing/2014/main" val="10002"/>
                  </a:ext>
                </a:extLst>
              </a:tr>
              <a:tr h="438665">
                <a:tc>
                  <a:txBody>
                    <a:bodyPr/>
                    <a:lstStyle/>
                    <a:p>
                      <a:pPr marL="0" indent="0">
                        <a:buNone/>
                      </a:pPr>
                      <a:r>
                        <a:rPr lang="en-US" sz="1150" dirty="0">
                          <a:solidFill>
                            <a:srgbClr val="1E293B"/>
                          </a:solidFill>
                          <a:latin typeface="Calibri" pitchFamily="34" charset="0"/>
                          <a:ea typeface="Calibri" pitchFamily="34" charset="-122"/>
                          <a:cs typeface="Calibri" pitchFamily="34" charset="-120"/>
                        </a:rPr>
                        <a:t>dim_plan</a:t>
                      </a:r>
                      <a:endParaRPr lang="en-US" sz="1150" dirty="0">
                        <a:latin typeface="Calibri" charset="0"/>
                        <a:ea typeface="Calibri" charset="0"/>
                        <a:cs typeface="Calibri" charset="0"/>
                      </a:endParaRPr>
                    </a:p>
                  </a:txBody>
                  <a:tcPr>
                    <a:lnL w="9525" cap="flat" cmpd="sng" algn="ctr">
                      <a:solidFill>
                        <a:srgbClr val="D6E2E8"/>
                      </a:solidFill>
                      <a:prstDash val="solid"/>
                      <a:round/>
                      <a:headEnd type="none" w="med" len="med"/>
                      <a:tailEnd type="none" w="med" len="med"/>
                    </a:lnL>
                    <a:lnR w="9525" cap="flat" cmpd="sng" algn="ctr">
                      <a:solidFill>
                        <a:srgbClr val="D6E2E8"/>
                      </a:solidFill>
                      <a:prstDash val="solid"/>
                      <a:round/>
                      <a:headEnd type="none" w="med" len="med"/>
                      <a:tailEnd type="none" w="med" len="med"/>
                    </a:lnR>
                    <a:lnT w="9525" cap="flat" cmpd="sng" algn="ctr">
                      <a:solidFill>
                        <a:srgbClr val="D6E2E8"/>
                      </a:solidFill>
                      <a:prstDash val="solid"/>
                      <a:round/>
                      <a:headEnd type="none" w="med" len="med"/>
                      <a:tailEnd type="none" w="med" len="med"/>
                    </a:lnT>
                    <a:lnB w="9525" cap="flat" cmpd="sng" algn="ctr">
                      <a:solidFill>
                        <a:srgbClr val="D6E2E8"/>
                      </a:solidFill>
                      <a:prstDash val="solid"/>
                      <a:round/>
                      <a:headEnd type="none" w="med" len="med"/>
                      <a:tailEnd type="none" w="med" len="med"/>
                    </a:lnB>
                  </a:tcPr>
                </a:tc>
                <a:tc>
                  <a:txBody>
                    <a:bodyPr/>
                    <a:lstStyle/>
                    <a:p>
                      <a:pPr marL="0" indent="0">
                        <a:buNone/>
                      </a:pPr>
                      <a:r>
                        <a:rPr lang="en-US" sz="1150" dirty="0">
                          <a:solidFill>
                            <a:srgbClr val="1E293B"/>
                          </a:solidFill>
                          <a:latin typeface="Calibri" pitchFamily="34" charset="0"/>
                          <a:ea typeface="Calibri" pitchFamily="34" charset="-122"/>
                          <a:cs typeface="Calibri" pitchFamily="34" charset="-120"/>
                        </a:rPr>
                        <a:t>Plan type, premium, coverage</a:t>
                      </a:r>
                      <a:endParaRPr lang="en-US" sz="1150" dirty="0">
                        <a:latin typeface="Calibri" charset="0"/>
                        <a:ea typeface="Calibri" charset="0"/>
                        <a:cs typeface="Calibri" charset="0"/>
                      </a:endParaRPr>
                    </a:p>
                  </a:txBody>
                  <a:tcPr>
                    <a:lnL w="9525" cap="flat" cmpd="sng" algn="ctr">
                      <a:solidFill>
                        <a:srgbClr val="D6E2E8"/>
                      </a:solidFill>
                      <a:prstDash val="solid"/>
                      <a:round/>
                      <a:headEnd type="none" w="med" len="med"/>
                      <a:tailEnd type="none" w="med" len="med"/>
                    </a:lnL>
                    <a:lnR w="9525" cap="flat" cmpd="sng" algn="ctr">
                      <a:solidFill>
                        <a:srgbClr val="D6E2E8"/>
                      </a:solidFill>
                      <a:prstDash val="solid"/>
                      <a:round/>
                      <a:headEnd type="none" w="med" len="med"/>
                      <a:tailEnd type="none" w="med" len="med"/>
                    </a:lnR>
                    <a:lnT w="9525" cap="flat" cmpd="sng" algn="ctr">
                      <a:solidFill>
                        <a:srgbClr val="D6E2E8"/>
                      </a:solidFill>
                      <a:prstDash val="solid"/>
                      <a:round/>
                      <a:headEnd type="none" w="med" len="med"/>
                      <a:tailEnd type="none" w="med" len="med"/>
                    </a:lnT>
                    <a:lnB w="9525" cap="flat" cmpd="sng" algn="ctr">
                      <a:solidFill>
                        <a:srgbClr val="D6E2E8"/>
                      </a:solidFill>
                      <a:prstDash val="solid"/>
                      <a:round/>
                      <a:headEnd type="none" w="med" len="med"/>
                      <a:tailEnd type="none" w="med" len="med"/>
                    </a:lnB>
                  </a:tcPr>
                </a:tc>
                <a:extLst>
                  <a:ext uri="{0D108BD9-81ED-4DB2-BD59-A6C34878D82A}">
                    <a16:rowId xmlns:a16="http://schemas.microsoft.com/office/drawing/2014/main" val="10003"/>
                  </a:ext>
                </a:extLst>
              </a:tr>
              <a:tr h="314106">
                <a:tc>
                  <a:txBody>
                    <a:bodyPr/>
                    <a:lstStyle/>
                    <a:p>
                      <a:pPr marL="0" indent="0">
                        <a:buNone/>
                      </a:pPr>
                      <a:r>
                        <a:rPr lang="en-US" sz="1150" dirty="0">
                          <a:solidFill>
                            <a:srgbClr val="1E293B"/>
                          </a:solidFill>
                          <a:latin typeface="Calibri" pitchFamily="34" charset="0"/>
                          <a:ea typeface="Calibri" pitchFamily="34" charset="-122"/>
                          <a:cs typeface="Calibri" pitchFamily="34" charset="-120"/>
                        </a:rPr>
                        <a:t>dim_date</a:t>
                      </a:r>
                      <a:endParaRPr lang="en-US" sz="1150" dirty="0">
                        <a:latin typeface="Calibri" charset="0"/>
                        <a:ea typeface="Calibri" charset="0"/>
                        <a:cs typeface="Calibri" charset="0"/>
                      </a:endParaRPr>
                    </a:p>
                  </a:txBody>
                  <a:tcPr>
                    <a:lnL w="9525" cap="flat" cmpd="sng" algn="ctr">
                      <a:solidFill>
                        <a:srgbClr val="D6E2E8"/>
                      </a:solidFill>
                      <a:prstDash val="solid"/>
                      <a:round/>
                      <a:headEnd type="none" w="med" len="med"/>
                      <a:tailEnd type="none" w="med" len="med"/>
                    </a:lnL>
                    <a:lnR w="9525" cap="flat" cmpd="sng" algn="ctr">
                      <a:solidFill>
                        <a:srgbClr val="D6E2E8"/>
                      </a:solidFill>
                      <a:prstDash val="solid"/>
                      <a:round/>
                      <a:headEnd type="none" w="med" len="med"/>
                      <a:tailEnd type="none" w="med" len="med"/>
                    </a:lnR>
                    <a:lnT w="9525" cap="flat" cmpd="sng" algn="ctr">
                      <a:solidFill>
                        <a:srgbClr val="D6E2E8"/>
                      </a:solidFill>
                      <a:prstDash val="solid"/>
                      <a:round/>
                      <a:headEnd type="none" w="med" len="med"/>
                      <a:tailEnd type="none" w="med" len="med"/>
                    </a:lnT>
                    <a:lnB w="9525" cap="flat" cmpd="sng" algn="ctr">
                      <a:solidFill>
                        <a:srgbClr val="D6E2E8"/>
                      </a:solidFill>
                      <a:prstDash val="solid"/>
                      <a:round/>
                      <a:headEnd type="none" w="med" len="med"/>
                      <a:tailEnd type="none" w="med" len="med"/>
                    </a:lnB>
                  </a:tcPr>
                </a:tc>
                <a:tc>
                  <a:txBody>
                    <a:bodyPr/>
                    <a:lstStyle/>
                    <a:p>
                      <a:pPr marL="0" indent="0">
                        <a:buNone/>
                      </a:pPr>
                      <a:r>
                        <a:rPr lang="en-US" sz="1150" dirty="0">
                          <a:solidFill>
                            <a:srgbClr val="1E293B"/>
                          </a:solidFill>
                          <a:latin typeface="Calibri" pitchFamily="34" charset="0"/>
                          <a:ea typeface="Calibri" pitchFamily="34" charset="-122"/>
                          <a:cs typeface="Calibri" pitchFamily="34" charset="-120"/>
                        </a:rPr>
                        <a:t>Time attributes for trending</a:t>
                      </a:r>
                      <a:endParaRPr lang="en-US" sz="1150" dirty="0">
                        <a:latin typeface="Calibri" charset="0"/>
                        <a:ea typeface="Calibri" charset="0"/>
                        <a:cs typeface="Calibri" charset="0"/>
                      </a:endParaRPr>
                    </a:p>
                  </a:txBody>
                  <a:tcPr>
                    <a:lnL w="9525" cap="flat" cmpd="sng" algn="ctr">
                      <a:solidFill>
                        <a:srgbClr val="D6E2E8"/>
                      </a:solidFill>
                      <a:prstDash val="solid"/>
                      <a:round/>
                      <a:headEnd type="none" w="med" len="med"/>
                      <a:tailEnd type="none" w="med" len="med"/>
                    </a:lnL>
                    <a:lnR w="9525" cap="flat" cmpd="sng" algn="ctr">
                      <a:solidFill>
                        <a:srgbClr val="D6E2E8"/>
                      </a:solidFill>
                      <a:prstDash val="solid"/>
                      <a:round/>
                      <a:headEnd type="none" w="med" len="med"/>
                      <a:tailEnd type="none" w="med" len="med"/>
                    </a:lnR>
                    <a:lnT w="9525" cap="flat" cmpd="sng" algn="ctr">
                      <a:solidFill>
                        <a:srgbClr val="D6E2E8"/>
                      </a:solidFill>
                      <a:prstDash val="solid"/>
                      <a:round/>
                      <a:headEnd type="none" w="med" len="med"/>
                      <a:tailEnd type="none" w="med" len="med"/>
                    </a:lnT>
                    <a:lnB w="9525" cap="flat" cmpd="sng" algn="ctr">
                      <a:solidFill>
                        <a:srgbClr val="D6E2E8"/>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6" name="Text 3">
            <a:extLst>
              <a:ext uri="{FF2B5EF4-FFF2-40B4-BE49-F238E27FC236}">
                <a16:creationId xmlns:a16="http://schemas.microsoft.com/office/drawing/2014/main" id="{1CC06B51-46A0-5E48-444D-80E50CE316C4}"/>
              </a:ext>
            </a:extLst>
          </p:cNvPr>
          <p:cNvSpPr/>
          <p:nvPr/>
        </p:nvSpPr>
        <p:spPr>
          <a:xfrm>
            <a:off x="252753" y="2921294"/>
            <a:ext cx="4572000" cy="320040"/>
          </a:xfrm>
          <a:prstGeom prst="rect">
            <a:avLst/>
          </a:prstGeom>
          <a:noFill/>
          <a:ln/>
        </p:spPr>
        <p:txBody>
          <a:bodyPr wrap="square" lIns="0" tIns="0" rIns="0" bIns="0" rtlCol="0" anchor="ctr"/>
          <a:lstStyle/>
          <a:p>
            <a:pPr marL="0" indent="0">
              <a:buNone/>
            </a:pPr>
            <a:r>
              <a:rPr lang="en-US" b="1" dirty="0">
                <a:solidFill>
                  <a:srgbClr val="0B1F33"/>
                </a:solidFill>
                <a:latin typeface="Cambria" pitchFamily="34" charset="0"/>
                <a:ea typeface="Cambria" pitchFamily="34" charset="-122"/>
                <a:cs typeface="Cambria" pitchFamily="34" charset="-120"/>
              </a:rPr>
              <a:t>Cleaning Tasks</a:t>
            </a:r>
            <a:endParaRPr lang="en-US" dirty="0"/>
          </a:p>
        </p:txBody>
      </p:sp>
      <p:sp>
        <p:nvSpPr>
          <p:cNvPr id="7" name="Text 4">
            <a:extLst>
              <a:ext uri="{FF2B5EF4-FFF2-40B4-BE49-F238E27FC236}">
                <a16:creationId xmlns:a16="http://schemas.microsoft.com/office/drawing/2014/main" id="{150F611C-1116-86CE-3FB3-EC038514B291}"/>
              </a:ext>
            </a:extLst>
          </p:cNvPr>
          <p:cNvSpPr/>
          <p:nvPr/>
        </p:nvSpPr>
        <p:spPr>
          <a:xfrm>
            <a:off x="408165" y="3314499"/>
            <a:ext cx="3193473" cy="1188720"/>
          </a:xfrm>
          <a:prstGeom prst="rect">
            <a:avLst/>
          </a:prstGeom>
          <a:noFill/>
          <a:ln/>
        </p:spPr>
        <p:txBody>
          <a:bodyPr wrap="square" lIns="0" tIns="0" rIns="0" bIns="0" rtlCol="0" anchor="ctr"/>
          <a:lstStyle/>
          <a:p>
            <a:pPr>
              <a:spcAft>
                <a:spcPts val="600"/>
              </a:spcAft>
              <a:buSzPct val="100000"/>
            </a:pPr>
            <a:endParaRPr lang="en-US" sz="1200" dirty="0"/>
          </a:p>
        </p:txBody>
      </p:sp>
      <p:sp>
        <p:nvSpPr>
          <p:cNvPr id="8" name="Shape 5">
            <a:extLst>
              <a:ext uri="{FF2B5EF4-FFF2-40B4-BE49-F238E27FC236}">
                <a16:creationId xmlns:a16="http://schemas.microsoft.com/office/drawing/2014/main" id="{6E0C08BC-8C6A-0383-5BC7-08C26BAE014E}"/>
              </a:ext>
            </a:extLst>
          </p:cNvPr>
          <p:cNvSpPr/>
          <p:nvPr/>
        </p:nvSpPr>
        <p:spPr>
          <a:xfrm>
            <a:off x="5232399" y="278892"/>
            <a:ext cx="6842762" cy="5957316"/>
          </a:xfrm>
          <a:prstGeom prst="roundRect">
            <a:avLst>
              <a:gd name="adj" fmla="val 1739"/>
            </a:avLst>
          </a:prstGeom>
          <a:solidFill>
            <a:srgbClr val="0B1F33"/>
          </a:solidFill>
          <a:ln/>
          <a:effectLst>
            <a:outerShdw blurRad="101600" dist="38100" dir="2700000" algn="bl" rotWithShape="0">
              <a:srgbClr val="000000">
                <a:alpha val="12000"/>
              </a:srgbClr>
            </a:outerShdw>
          </a:effectLst>
        </p:spPr>
        <p:txBody>
          <a:bodyPr/>
          <a:lstStyle/>
          <a:p>
            <a:endParaRPr lang="en-US"/>
          </a:p>
        </p:txBody>
      </p:sp>
      <p:sp>
        <p:nvSpPr>
          <p:cNvPr id="5" name="Text 6">
            <a:extLst>
              <a:ext uri="{FF2B5EF4-FFF2-40B4-BE49-F238E27FC236}">
                <a16:creationId xmlns:a16="http://schemas.microsoft.com/office/drawing/2014/main" id="{96DE6144-3E3C-1C29-CB6F-C7BEDE109764}"/>
              </a:ext>
            </a:extLst>
          </p:cNvPr>
          <p:cNvSpPr/>
          <p:nvPr/>
        </p:nvSpPr>
        <p:spPr>
          <a:xfrm>
            <a:off x="6583680" y="1920240"/>
            <a:ext cx="4846320" cy="3566160"/>
          </a:xfrm>
          <a:prstGeom prst="rect">
            <a:avLst/>
          </a:prstGeom>
          <a:noFill/>
          <a:ln/>
        </p:spPr>
        <p:txBody>
          <a:bodyPr wrap="square" lIns="0" tIns="0" rIns="0" bIns="0" rtlCol="0" anchor="t"/>
          <a:lstStyle/>
          <a:p>
            <a:pPr marL="0" indent="0">
              <a:lnSpc>
                <a:spcPct val="135000"/>
              </a:lnSpc>
              <a:buNone/>
            </a:pPr>
            <a:endParaRPr lang="en-US" sz="1250" dirty="0"/>
          </a:p>
        </p:txBody>
      </p:sp>
      <p:sp>
        <p:nvSpPr>
          <p:cNvPr id="10" name="Text 7">
            <a:extLst>
              <a:ext uri="{FF2B5EF4-FFF2-40B4-BE49-F238E27FC236}">
                <a16:creationId xmlns:a16="http://schemas.microsoft.com/office/drawing/2014/main" id="{4283223B-79BB-53BE-373F-E0AC168DDB48}"/>
              </a:ext>
            </a:extLst>
          </p:cNvPr>
          <p:cNvSpPr/>
          <p:nvPr/>
        </p:nvSpPr>
        <p:spPr>
          <a:xfrm>
            <a:off x="457200" y="6446520"/>
            <a:ext cx="6400800" cy="274320"/>
          </a:xfrm>
          <a:prstGeom prst="rect">
            <a:avLst/>
          </a:prstGeom>
          <a:noFill/>
          <a:ln/>
        </p:spPr>
        <p:txBody>
          <a:bodyPr wrap="square" lIns="0" tIns="0" rIns="0" bIns="0" rtlCol="0" anchor="ctr"/>
          <a:lstStyle/>
          <a:p>
            <a:pPr marL="0" indent="0" algn="l">
              <a:buNone/>
            </a:pPr>
            <a:r>
              <a:rPr lang="en-US" sz="900" dirty="0">
                <a:solidFill>
                  <a:srgbClr val="64748B"/>
                </a:solidFill>
                <a:latin typeface="Calibri" pitchFamily="34" charset="0"/>
                <a:ea typeface="Calibri" pitchFamily="34" charset="-122"/>
                <a:cs typeface="Calibri" pitchFamily="34" charset="-120"/>
              </a:rPr>
              <a:t>DEPI Capstone — Medical Insurance Analytics</a:t>
            </a:r>
            <a:endParaRPr lang="en-US" sz="900" dirty="0"/>
          </a:p>
        </p:txBody>
      </p:sp>
      <p:sp>
        <p:nvSpPr>
          <p:cNvPr id="11" name="Text 8">
            <a:extLst>
              <a:ext uri="{FF2B5EF4-FFF2-40B4-BE49-F238E27FC236}">
                <a16:creationId xmlns:a16="http://schemas.microsoft.com/office/drawing/2014/main" id="{389C7A50-CAAC-4129-2FB4-167AD94DF456}"/>
              </a:ext>
            </a:extLst>
          </p:cNvPr>
          <p:cNvSpPr/>
          <p:nvPr/>
        </p:nvSpPr>
        <p:spPr>
          <a:xfrm>
            <a:off x="11274552" y="6446520"/>
            <a:ext cx="457200" cy="27432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8</a:t>
            </a:r>
            <a:endParaRPr lang="en-US" sz="900" dirty="0"/>
          </a:p>
        </p:txBody>
      </p:sp>
      <p:pic>
        <p:nvPicPr>
          <p:cNvPr id="12" name="Picture 11" descr="https://private-user-images.githubusercontent.com/235096874/610861744-f6d3643c-9522-401c-b15d-5f4a7f5a3aea.png?jwt=eyJ0eXAiOiJKV1QiLCJhbGciOiJIUzI1NiJ9.eyJpc3MiOiJnaXRodWIuY29tIiwiYXVkIjoicmF3LmdpdGh1YnVzZXJjb250ZW50LmNvbSIsImtleSI6ImtleTUiLCJleHAiOjE3ODMwNzA5ODcsIm5iZiI6MTc4MzA3MDY4NywicGF0aCI6Ii8yMzUwOTY4NzQvNjEwODYxNzQ0LWY2ZDM2NDNjLTk1MjItNDAxYy1iMTVkLTVmNGE3ZjVhM2FlYS5wbmc_WC1BbXotQWxnb3JpdGhtPUFXUzQtSE1BQy1TSEEyNTYmWC1BbXotQ3JlZGVudGlhbD1BS0lBVkNPRFlMU0E1M1BRSzRaQSUyRjIwMjYwNzAzJTJGdXMtZWFzdC0xJTJGczMlMkZhd3M0X3JlcXVlc3QmWC1BbXotRGF0ZT0yMDI2MDcwM1QwOTI0NDdaJlgtQW16LUV4cGlyZXM9MzAwJlgtQW16LVNpZ25hdHVyZT1hNWY3MTk4ODYxNjVmMDc5YTdlMTE1N2I0ZGExZWEwMzg4ZTY5YzIwYTVhODBjNzUxODdmMDFmOTdkOWI4OTg3JlgtQW16LVNpZ25lZEhlYWRlcnM9aG9zdCZyZXNwb25zZS1jb250ZW50LXR5cGU9aW1hZ2UlMkZwbmcifQ.meVRIkoSY-skL6hXAsKc18bY47wr100pqs-rus-m-JE">
            <a:extLst>
              <a:ext uri="{FF2B5EF4-FFF2-40B4-BE49-F238E27FC236}">
                <a16:creationId xmlns:a16="http://schemas.microsoft.com/office/drawing/2014/main" id="{F58EBB0C-E5A5-7A4B-A1D7-9DAEDA9D5B00}"/>
              </a:ext>
            </a:extLst>
          </p:cNvPr>
          <p:cNvPicPr>
            <a:picLocks noChangeAspect="1"/>
          </p:cNvPicPr>
          <p:nvPr/>
        </p:nvPicPr>
        <p:blipFill>
          <a:blip r:embed="rId3"/>
          <a:srcRect l="-2" r="12959"/>
          <a:stretch>
            <a:fillRect/>
          </a:stretch>
        </p:blipFill>
        <p:spPr>
          <a:xfrm>
            <a:off x="1863054" y="7352145"/>
            <a:ext cx="2758444" cy="2316639"/>
          </a:xfrm>
          <a:prstGeom prst="rect">
            <a:avLst/>
          </a:prstGeom>
        </p:spPr>
      </p:pic>
      <p:sp>
        <p:nvSpPr>
          <p:cNvPr id="14" name="TextBox 13">
            <a:extLst>
              <a:ext uri="{FF2B5EF4-FFF2-40B4-BE49-F238E27FC236}">
                <a16:creationId xmlns:a16="http://schemas.microsoft.com/office/drawing/2014/main" id="{2E58D491-C7FE-F049-D778-1D1DA3F6AB01}"/>
              </a:ext>
            </a:extLst>
          </p:cNvPr>
          <p:cNvSpPr txBox="1"/>
          <p:nvPr/>
        </p:nvSpPr>
        <p:spPr>
          <a:xfrm>
            <a:off x="173384" y="2025967"/>
            <a:ext cx="4988097" cy="738664"/>
          </a:xfrm>
          <a:prstGeom prst="rect">
            <a:avLst/>
          </a:prstGeom>
          <a:noFill/>
        </p:spPr>
        <p:txBody>
          <a:bodyPr wrap="square" rtlCol="1">
            <a:spAutoFit/>
          </a:bodyPr>
          <a:lstStyle/>
          <a:p>
            <a:r>
              <a:rPr lang="ar-EG" sz="1400" dirty="0"/>
              <a:t>Prepared the medical insurance dataset by identifying and correcting data quality issues to ensure reliable analysis and reporting.</a:t>
            </a:r>
          </a:p>
        </p:txBody>
      </p:sp>
      <p:sp>
        <p:nvSpPr>
          <p:cNvPr id="16" name="TextBox 15">
            <a:extLst>
              <a:ext uri="{FF2B5EF4-FFF2-40B4-BE49-F238E27FC236}">
                <a16:creationId xmlns:a16="http://schemas.microsoft.com/office/drawing/2014/main" id="{2297551E-AF7C-4B3F-0C30-56C9ADD7ECA7}"/>
              </a:ext>
            </a:extLst>
          </p:cNvPr>
          <p:cNvSpPr txBox="1"/>
          <p:nvPr/>
        </p:nvSpPr>
        <p:spPr>
          <a:xfrm>
            <a:off x="287238" y="3278765"/>
            <a:ext cx="5003801" cy="1169551"/>
          </a:xfrm>
          <a:prstGeom prst="rect">
            <a:avLst/>
          </a:prstGeom>
          <a:noFill/>
        </p:spPr>
        <p:txBody>
          <a:bodyPr wrap="square">
            <a:spAutoFit/>
          </a:bodyPr>
          <a:lstStyle/>
          <a:p>
            <a:pPr>
              <a:buFont typeface="Arial" panose="020B0604020202020204" pitchFamily="34" charset="0"/>
              <a:buChar char="•"/>
            </a:pPr>
            <a:r>
              <a:rPr lang="ar-EG" sz="1400" dirty="0"/>
              <a:t>Removed duplicate records. </a:t>
            </a:r>
          </a:p>
          <a:p>
            <a:pPr>
              <a:buFont typeface="Arial" panose="020B0604020202020204" pitchFamily="34" charset="0"/>
              <a:buChar char="•"/>
            </a:pPr>
            <a:r>
              <a:rPr lang="ar-EG" sz="1400" dirty="0"/>
              <a:t>Handled missing values. </a:t>
            </a:r>
          </a:p>
          <a:p>
            <a:pPr>
              <a:buFont typeface="Arial" panose="020B0604020202020204" pitchFamily="34" charset="0"/>
              <a:buChar char="•"/>
            </a:pPr>
            <a:r>
              <a:rPr lang="ar-EG" sz="1400" dirty="0"/>
              <a:t>Corrected invalid data entries. </a:t>
            </a:r>
          </a:p>
          <a:p>
            <a:pPr>
              <a:buFont typeface="Arial" panose="020B0604020202020204" pitchFamily="34" charset="0"/>
              <a:buChar char="•"/>
            </a:pPr>
            <a:r>
              <a:rPr lang="ar-EG" sz="1400" dirty="0"/>
              <a:t>Standardized data formats and categories. </a:t>
            </a:r>
          </a:p>
          <a:p>
            <a:pPr>
              <a:buFont typeface="Arial" panose="020B0604020202020204" pitchFamily="34" charset="0"/>
              <a:buChar char="•"/>
            </a:pPr>
            <a:r>
              <a:rPr lang="ar-EG" sz="1400" dirty="0"/>
              <a:t>Validated data consistency across related fields. </a:t>
            </a:r>
          </a:p>
        </p:txBody>
      </p:sp>
      <p:sp>
        <p:nvSpPr>
          <p:cNvPr id="17" name="TextBox 16">
            <a:extLst>
              <a:ext uri="{FF2B5EF4-FFF2-40B4-BE49-F238E27FC236}">
                <a16:creationId xmlns:a16="http://schemas.microsoft.com/office/drawing/2014/main" id="{8B7363CC-47BB-3C21-316F-EC54135D8DAE}"/>
              </a:ext>
            </a:extLst>
          </p:cNvPr>
          <p:cNvSpPr txBox="1"/>
          <p:nvPr/>
        </p:nvSpPr>
        <p:spPr>
          <a:xfrm>
            <a:off x="173384" y="4783369"/>
            <a:ext cx="4695975" cy="1200329"/>
          </a:xfrm>
          <a:prstGeom prst="rect">
            <a:avLst/>
          </a:prstGeom>
          <a:noFill/>
        </p:spPr>
        <p:txBody>
          <a:bodyPr wrap="square" rtlCol="1">
            <a:spAutoFit/>
          </a:bodyPr>
          <a:lstStyle/>
          <a:p>
            <a:br>
              <a:rPr lang="en-US" dirty="0"/>
            </a:br>
            <a:r>
              <a:rPr lang="en-US" dirty="0"/>
              <a:t>A clean, consistent, and analysis-ready dataset used for SQL modeling, Python analysis, and Power BI dashboards.</a:t>
            </a:r>
            <a:endParaRPr lang="ar-EG" dirty="0"/>
          </a:p>
        </p:txBody>
      </p:sp>
      <p:sp>
        <p:nvSpPr>
          <p:cNvPr id="18" name="TextBox 17">
            <a:extLst>
              <a:ext uri="{FF2B5EF4-FFF2-40B4-BE49-F238E27FC236}">
                <a16:creationId xmlns:a16="http://schemas.microsoft.com/office/drawing/2014/main" id="{3E0C4691-0AA5-A9F8-1E39-006E7FF2A5FC}"/>
              </a:ext>
            </a:extLst>
          </p:cNvPr>
          <p:cNvSpPr txBox="1"/>
          <p:nvPr/>
        </p:nvSpPr>
        <p:spPr>
          <a:xfrm>
            <a:off x="173384" y="4651575"/>
            <a:ext cx="1542472" cy="369332"/>
          </a:xfrm>
          <a:prstGeom prst="rect">
            <a:avLst/>
          </a:prstGeom>
          <a:noFill/>
        </p:spPr>
        <p:txBody>
          <a:bodyPr wrap="square" rtlCol="1">
            <a:spAutoFit/>
          </a:bodyPr>
          <a:lstStyle/>
          <a:p>
            <a:r>
              <a:rPr lang="en-GB" b="1" dirty="0"/>
              <a:t>Outcome</a:t>
            </a:r>
            <a:endParaRPr lang="ar-EG" b="1" dirty="0"/>
          </a:p>
        </p:txBody>
      </p:sp>
      <p:pic>
        <p:nvPicPr>
          <p:cNvPr id="22" name="Picture 21">
            <a:extLst>
              <a:ext uri="{FF2B5EF4-FFF2-40B4-BE49-F238E27FC236}">
                <a16:creationId xmlns:a16="http://schemas.microsoft.com/office/drawing/2014/main" id="{DCFAA7AB-A69D-D23B-C427-C519CB011EB8}"/>
              </a:ext>
            </a:extLst>
          </p:cNvPr>
          <p:cNvPicPr>
            <a:picLocks noChangeAspect="1"/>
          </p:cNvPicPr>
          <p:nvPr/>
        </p:nvPicPr>
        <p:blipFill>
          <a:blip r:embed="rId4"/>
          <a:stretch>
            <a:fillRect/>
          </a:stretch>
        </p:blipFill>
        <p:spPr>
          <a:xfrm>
            <a:off x="5715416" y="621792"/>
            <a:ext cx="5787736" cy="5217072"/>
          </a:xfrm>
          <a:prstGeom prst="rect">
            <a:avLst/>
          </a:prstGeom>
        </p:spPr>
      </p:pic>
    </p:spTree>
    <p:extLst>
      <p:ext uri="{BB962C8B-B14F-4D97-AF65-F5344CB8AC3E}">
        <p14:creationId xmlns:p14="http://schemas.microsoft.com/office/powerpoint/2010/main" val="260568551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84048"/>
            <a:ext cx="7315200" cy="274320"/>
          </a:xfrm>
          <a:prstGeom prst="rect">
            <a:avLst/>
          </a:prstGeom>
          <a:noFill/>
          <a:ln/>
        </p:spPr>
        <p:txBody>
          <a:bodyPr wrap="square" lIns="0" tIns="0" rIns="0" bIns="0" rtlCol="0" anchor="ctr"/>
          <a:lstStyle/>
          <a:p>
            <a:pPr marL="0" indent="0">
              <a:buNone/>
            </a:pPr>
            <a:r>
              <a:rPr lang="en-US" sz="1200" b="1" kern="0" spc="200" dirty="0">
                <a:solidFill>
                  <a:srgbClr val="1C7293"/>
                </a:solidFill>
                <a:latin typeface="Calibri" pitchFamily="34" charset="0"/>
                <a:ea typeface="Calibri" pitchFamily="34" charset="-122"/>
                <a:cs typeface="Calibri" pitchFamily="34" charset="-120"/>
              </a:rPr>
              <a:t>MODELING &amp; KPI QUERIES</a:t>
            </a:r>
            <a:endParaRPr lang="en-US" sz="1200" dirty="0"/>
          </a:p>
        </p:txBody>
      </p:sp>
      <p:sp>
        <p:nvSpPr>
          <p:cNvPr id="3" name="Text 1"/>
          <p:cNvSpPr/>
          <p:nvPr/>
        </p:nvSpPr>
        <p:spPr>
          <a:xfrm>
            <a:off x="548640" y="621792"/>
            <a:ext cx="10515600" cy="731520"/>
          </a:xfrm>
          <a:prstGeom prst="rect">
            <a:avLst/>
          </a:prstGeom>
          <a:noFill/>
          <a:ln/>
        </p:spPr>
        <p:txBody>
          <a:bodyPr wrap="square" lIns="0" tIns="0" rIns="0" bIns="0" rtlCol="0" anchor="ctr"/>
          <a:lstStyle/>
          <a:p>
            <a:pPr marL="0" indent="0">
              <a:buNone/>
            </a:pPr>
            <a:r>
              <a:rPr lang="en-US" sz="3200" b="1" dirty="0">
                <a:solidFill>
                  <a:srgbClr val="0B1F33"/>
                </a:solidFill>
                <a:latin typeface="Cambria" pitchFamily="34" charset="0"/>
                <a:ea typeface="Cambria" pitchFamily="34" charset="-122"/>
                <a:cs typeface="Cambria" pitchFamily="34" charset="-120"/>
              </a:rPr>
              <a:t>SQL— Modeiling</a:t>
            </a:r>
            <a:endParaRPr lang="en-US" sz="3200" dirty="0"/>
          </a:p>
        </p:txBody>
      </p:sp>
      <p:sp>
        <p:nvSpPr>
          <p:cNvPr id="4" name="Text 2"/>
          <p:cNvSpPr/>
          <p:nvPr/>
        </p:nvSpPr>
        <p:spPr>
          <a:xfrm>
            <a:off x="548640" y="1600200"/>
            <a:ext cx="4572000" cy="320040"/>
          </a:xfrm>
          <a:prstGeom prst="rect">
            <a:avLst/>
          </a:prstGeom>
          <a:noFill/>
          <a:ln/>
        </p:spPr>
        <p:txBody>
          <a:bodyPr wrap="square" lIns="0" tIns="0" rIns="0" bIns="0" rtlCol="0" anchor="ctr"/>
          <a:lstStyle/>
          <a:p>
            <a:pPr marL="0" indent="0">
              <a:buNone/>
            </a:pPr>
            <a:r>
              <a:rPr lang="en-US" sz="1400" b="1" dirty="0">
                <a:solidFill>
                  <a:srgbClr val="0B1F33"/>
                </a:solidFill>
                <a:latin typeface="Cambria" pitchFamily="34" charset="0"/>
                <a:ea typeface="Cambria" pitchFamily="34" charset="-122"/>
                <a:cs typeface="Cambria" pitchFamily="34" charset="-120"/>
              </a:rPr>
              <a:t>Star Schema</a:t>
            </a:r>
            <a:endParaRPr lang="en-US" sz="1400" dirty="0"/>
          </a:p>
        </p:txBody>
      </p:sp>
      <p:graphicFrame>
        <p:nvGraphicFramePr>
          <p:cNvPr id="9" name="Table 0"/>
          <p:cNvGraphicFramePr>
            <a:graphicFrameLocks noGrp="1"/>
          </p:cNvGraphicFramePr>
          <p:nvPr>
            <p:extLst>
              <p:ext uri="{D42A27DB-BD31-4B8C-83A1-F6EECF244321}">
                <p14:modId xmlns:p14="http://schemas.microsoft.com/office/powerpoint/2010/main" val="1884148586"/>
              </p:ext>
            </p:extLst>
          </p:nvPr>
        </p:nvGraphicFramePr>
        <p:xfrm>
          <a:off x="548640" y="2011680"/>
          <a:ext cx="4455160" cy="1920240"/>
        </p:xfrm>
        <a:graphic>
          <a:graphicData uri="http://schemas.openxmlformats.org/drawingml/2006/table">
            <a:tbl>
              <a:tblPr/>
              <a:tblGrid>
                <a:gridCol w="2227580">
                  <a:extLst>
                    <a:ext uri="{9D8B030D-6E8A-4147-A177-3AD203B41FA5}">
                      <a16:colId xmlns:a16="http://schemas.microsoft.com/office/drawing/2014/main" val="20000"/>
                    </a:ext>
                  </a:extLst>
                </a:gridCol>
                <a:gridCol w="2227580">
                  <a:extLst>
                    <a:ext uri="{9D8B030D-6E8A-4147-A177-3AD203B41FA5}">
                      <a16:colId xmlns:a16="http://schemas.microsoft.com/office/drawing/2014/main" val="20001"/>
                    </a:ext>
                  </a:extLst>
                </a:gridCol>
              </a:tblGrid>
              <a:tr h="38404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Table</a:t>
                      </a:r>
                      <a:endParaRPr lang="en-US" sz="1150" dirty="0">
                        <a:latin typeface="Calibri" charset="0"/>
                        <a:ea typeface="Calibri" charset="0"/>
                        <a:cs typeface="Calibri" charset="0"/>
                      </a:endParaRPr>
                    </a:p>
                  </a:txBody>
                  <a:tcPr>
                    <a:lnL w="9525" cap="flat" cmpd="sng" algn="ctr">
                      <a:solidFill>
                        <a:srgbClr val="D6E2E8"/>
                      </a:solidFill>
                      <a:prstDash val="solid"/>
                      <a:round/>
                      <a:headEnd type="none" w="med" len="med"/>
                      <a:tailEnd type="none" w="med" len="med"/>
                    </a:lnL>
                    <a:lnR w="9525" cap="flat" cmpd="sng" algn="ctr">
                      <a:solidFill>
                        <a:srgbClr val="D6E2E8"/>
                      </a:solidFill>
                      <a:prstDash val="solid"/>
                      <a:round/>
                      <a:headEnd type="none" w="med" len="med"/>
                      <a:tailEnd type="none" w="med" len="med"/>
                    </a:lnR>
                    <a:lnT w="9525" cap="flat" cmpd="sng" algn="ctr">
                      <a:solidFill>
                        <a:srgbClr val="D6E2E8"/>
                      </a:solidFill>
                      <a:prstDash val="solid"/>
                      <a:round/>
                      <a:headEnd type="none" w="med" len="med"/>
                      <a:tailEnd type="none" w="med" len="med"/>
                    </a:lnT>
                    <a:lnB w="9525" cap="flat" cmpd="sng" algn="ctr">
                      <a:solidFill>
                        <a:srgbClr val="D6E2E8"/>
                      </a:solidFill>
                      <a:prstDash val="solid"/>
                      <a:round/>
                      <a:headEnd type="none" w="med" len="med"/>
                      <a:tailEnd type="none" w="med" len="med"/>
                    </a:lnB>
                    <a:solidFill>
                      <a:srgbClr val="065A82"/>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Role</a:t>
                      </a:r>
                      <a:endParaRPr lang="en-US" sz="1150" dirty="0">
                        <a:latin typeface="Calibri" charset="0"/>
                        <a:ea typeface="Calibri" charset="0"/>
                        <a:cs typeface="Calibri" charset="0"/>
                      </a:endParaRPr>
                    </a:p>
                  </a:txBody>
                  <a:tcPr>
                    <a:lnL w="9525" cap="flat" cmpd="sng" algn="ctr">
                      <a:solidFill>
                        <a:srgbClr val="D6E2E8"/>
                      </a:solidFill>
                      <a:prstDash val="solid"/>
                      <a:round/>
                      <a:headEnd type="none" w="med" len="med"/>
                      <a:tailEnd type="none" w="med" len="med"/>
                    </a:lnL>
                    <a:lnR w="9525" cap="flat" cmpd="sng" algn="ctr">
                      <a:solidFill>
                        <a:srgbClr val="D6E2E8"/>
                      </a:solidFill>
                      <a:prstDash val="solid"/>
                      <a:round/>
                      <a:headEnd type="none" w="med" len="med"/>
                      <a:tailEnd type="none" w="med" len="med"/>
                    </a:lnR>
                    <a:lnT w="9525" cap="flat" cmpd="sng" algn="ctr">
                      <a:solidFill>
                        <a:srgbClr val="D6E2E8"/>
                      </a:solidFill>
                      <a:prstDash val="solid"/>
                      <a:round/>
                      <a:headEnd type="none" w="med" len="med"/>
                      <a:tailEnd type="none" w="med" len="med"/>
                    </a:lnT>
                    <a:lnB w="9525" cap="flat" cmpd="sng" algn="ctr">
                      <a:solidFill>
                        <a:srgbClr val="D6E2E8"/>
                      </a:solidFill>
                      <a:prstDash val="solid"/>
                      <a:round/>
                      <a:headEnd type="none" w="med" len="med"/>
                      <a:tailEnd type="none" w="med" len="med"/>
                    </a:lnB>
                    <a:solidFill>
                      <a:srgbClr val="065A82"/>
                    </a:solidFill>
                  </a:tcPr>
                </a:tc>
                <a:extLst>
                  <a:ext uri="{0D108BD9-81ED-4DB2-BD59-A6C34878D82A}">
                    <a16:rowId xmlns:a16="http://schemas.microsoft.com/office/drawing/2014/main" val="10000"/>
                  </a:ext>
                </a:extLst>
              </a:tr>
              <a:tr h="384048">
                <a:tc>
                  <a:txBody>
                    <a:bodyPr/>
                    <a:lstStyle/>
                    <a:p>
                      <a:pPr marL="0" indent="0">
                        <a:buNone/>
                      </a:pPr>
                      <a:r>
                        <a:rPr lang="en-US" sz="1150" dirty="0">
                          <a:solidFill>
                            <a:srgbClr val="1E293B"/>
                          </a:solidFill>
                          <a:latin typeface="Calibri" pitchFamily="34" charset="0"/>
                          <a:ea typeface="Calibri" pitchFamily="34" charset="-122"/>
                          <a:cs typeface="Calibri" pitchFamily="34" charset="-120"/>
                        </a:rPr>
                        <a:t>fact_claims</a:t>
                      </a:r>
                      <a:endParaRPr lang="en-US" sz="1150" dirty="0">
                        <a:latin typeface="Calibri" charset="0"/>
                        <a:ea typeface="Calibri" charset="0"/>
                        <a:cs typeface="Calibri" charset="0"/>
                      </a:endParaRPr>
                    </a:p>
                  </a:txBody>
                  <a:tcPr>
                    <a:lnL w="9525" cap="flat" cmpd="sng" algn="ctr">
                      <a:solidFill>
                        <a:srgbClr val="D6E2E8"/>
                      </a:solidFill>
                      <a:prstDash val="solid"/>
                      <a:round/>
                      <a:headEnd type="none" w="med" len="med"/>
                      <a:tailEnd type="none" w="med" len="med"/>
                    </a:lnL>
                    <a:lnR w="9525" cap="flat" cmpd="sng" algn="ctr">
                      <a:solidFill>
                        <a:srgbClr val="D6E2E8"/>
                      </a:solidFill>
                      <a:prstDash val="solid"/>
                      <a:round/>
                      <a:headEnd type="none" w="med" len="med"/>
                      <a:tailEnd type="none" w="med" len="med"/>
                    </a:lnR>
                    <a:lnT w="9525" cap="flat" cmpd="sng" algn="ctr">
                      <a:solidFill>
                        <a:srgbClr val="D6E2E8"/>
                      </a:solidFill>
                      <a:prstDash val="solid"/>
                      <a:round/>
                      <a:headEnd type="none" w="med" len="med"/>
                      <a:tailEnd type="none" w="med" len="med"/>
                    </a:lnT>
                    <a:lnB w="9525" cap="flat" cmpd="sng" algn="ctr">
                      <a:solidFill>
                        <a:srgbClr val="D6E2E8"/>
                      </a:solidFill>
                      <a:prstDash val="solid"/>
                      <a:round/>
                      <a:headEnd type="none" w="med" len="med"/>
                      <a:tailEnd type="none" w="med" len="med"/>
                    </a:lnB>
                  </a:tcPr>
                </a:tc>
                <a:tc>
                  <a:txBody>
                    <a:bodyPr/>
                    <a:lstStyle/>
                    <a:p>
                      <a:pPr marL="0" indent="0">
                        <a:buNone/>
                      </a:pPr>
                      <a:r>
                        <a:rPr lang="en-US" sz="1150" dirty="0">
                          <a:solidFill>
                            <a:srgbClr val="1E293B"/>
                          </a:solidFill>
                          <a:latin typeface="Calibri" pitchFamily="34" charset="0"/>
                          <a:ea typeface="Calibri" pitchFamily="34" charset="-122"/>
                          <a:cs typeface="Calibri" pitchFamily="34" charset="-120"/>
                        </a:rPr>
                        <a:t>Grain: one claim per row</a:t>
                      </a:r>
                      <a:endParaRPr lang="en-US" sz="1150" dirty="0">
                        <a:latin typeface="Calibri" charset="0"/>
                        <a:ea typeface="Calibri" charset="0"/>
                        <a:cs typeface="Calibri" charset="0"/>
                      </a:endParaRPr>
                    </a:p>
                  </a:txBody>
                  <a:tcPr>
                    <a:lnL w="9525" cap="flat" cmpd="sng" algn="ctr">
                      <a:solidFill>
                        <a:srgbClr val="D6E2E8"/>
                      </a:solidFill>
                      <a:prstDash val="solid"/>
                      <a:round/>
                      <a:headEnd type="none" w="med" len="med"/>
                      <a:tailEnd type="none" w="med" len="med"/>
                    </a:lnL>
                    <a:lnR w="9525" cap="flat" cmpd="sng" algn="ctr">
                      <a:solidFill>
                        <a:srgbClr val="D6E2E8"/>
                      </a:solidFill>
                      <a:prstDash val="solid"/>
                      <a:round/>
                      <a:headEnd type="none" w="med" len="med"/>
                      <a:tailEnd type="none" w="med" len="med"/>
                    </a:lnR>
                    <a:lnT w="9525" cap="flat" cmpd="sng" algn="ctr">
                      <a:solidFill>
                        <a:srgbClr val="D6E2E8"/>
                      </a:solidFill>
                      <a:prstDash val="solid"/>
                      <a:round/>
                      <a:headEnd type="none" w="med" len="med"/>
                      <a:tailEnd type="none" w="med" len="med"/>
                    </a:lnT>
                    <a:lnB w="9525" cap="flat" cmpd="sng" algn="ctr">
                      <a:solidFill>
                        <a:srgbClr val="D6E2E8"/>
                      </a:solidFill>
                      <a:prstDash val="solid"/>
                      <a:round/>
                      <a:headEnd type="none" w="med" len="med"/>
                      <a:tailEnd type="none" w="med" len="med"/>
                    </a:lnB>
                  </a:tcPr>
                </a:tc>
                <a:extLst>
                  <a:ext uri="{0D108BD9-81ED-4DB2-BD59-A6C34878D82A}">
                    <a16:rowId xmlns:a16="http://schemas.microsoft.com/office/drawing/2014/main" val="10001"/>
                  </a:ext>
                </a:extLst>
              </a:tr>
              <a:tr h="384048">
                <a:tc>
                  <a:txBody>
                    <a:bodyPr/>
                    <a:lstStyle/>
                    <a:p>
                      <a:pPr marL="0" indent="0">
                        <a:buNone/>
                      </a:pPr>
                      <a:r>
                        <a:rPr lang="en-US" sz="1150" dirty="0">
                          <a:solidFill>
                            <a:srgbClr val="1E293B"/>
                          </a:solidFill>
                          <a:latin typeface="Calibri" pitchFamily="34" charset="0"/>
                          <a:ea typeface="Calibri" pitchFamily="34" charset="-122"/>
                          <a:cs typeface="Calibri" pitchFamily="34" charset="-120"/>
                        </a:rPr>
                        <a:t>dim_patient</a:t>
                      </a:r>
                      <a:endParaRPr lang="en-US" sz="1150" dirty="0">
                        <a:latin typeface="Calibri" charset="0"/>
                        <a:ea typeface="Calibri" charset="0"/>
                        <a:cs typeface="Calibri" charset="0"/>
                      </a:endParaRPr>
                    </a:p>
                  </a:txBody>
                  <a:tcPr>
                    <a:lnL w="9525" cap="flat" cmpd="sng" algn="ctr">
                      <a:solidFill>
                        <a:srgbClr val="D6E2E8"/>
                      </a:solidFill>
                      <a:prstDash val="solid"/>
                      <a:round/>
                      <a:headEnd type="none" w="med" len="med"/>
                      <a:tailEnd type="none" w="med" len="med"/>
                    </a:lnL>
                    <a:lnR w="9525" cap="flat" cmpd="sng" algn="ctr">
                      <a:solidFill>
                        <a:srgbClr val="D6E2E8"/>
                      </a:solidFill>
                      <a:prstDash val="solid"/>
                      <a:round/>
                      <a:headEnd type="none" w="med" len="med"/>
                      <a:tailEnd type="none" w="med" len="med"/>
                    </a:lnR>
                    <a:lnT w="9525" cap="flat" cmpd="sng" algn="ctr">
                      <a:solidFill>
                        <a:srgbClr val="D6E2E8"/>
                      </a:solidFill>
                      <a:prstDash val="solid"/>
                      <a:round/>
                      <a:headEnd type="none" w="med" len="med"/>
                      <a:tailEnd type="none" w="med" len="med"/>
                    </a:lnT>
                    <a:lnB w="9525" cap="flat" cmpd="sng" algn="ctr">
                      <a:solidFill>
                        <a:srgbClr val="D6E2E8"/>
                      </a:solidFill>
                      <a:prstDash val="solid"/>
                      <a:round/>
                      <a:headEnd type="none" w="med" len="med"/>
                      <a:tailEnd type="none" w="med" len="med"/>
                    </a:lnB>
                  </a:tcPr>
                </a:tc>
                <a:tc>
                  <a:txBody>
                    <a:bodyPr/>
                    <a:lstStyle/>
                    <a:p>
                      <a:pPr marL="0" indent="0">
                        <a:buNone/>
                      </a:pPr>
                      <a:r>
                        <a:rPr lang="en-US" sz="1150" dirty="0">
                          <a:solidFill>
                            <a:srgbClr val="1E293B"/>
                          </a:solidFill>
                          <a:latin typeface="Calibri" pitchFamily="34" charset="0"/>
                          <a:ea typeface="Calibri" pitchFamily="34" charset="-122"/>
                          <a:cs typeface="Calibri" pitchFamily="34" charset="-120"/>
                        </a:rPr>
                        <a:t>Demographics &amp; health indicators</a:t>
                      </a:r>
                      <a:endParaRPr lang="en-US" sz="1150" dirty="0">
                        <a:latin typeface="Calibri" charset="0"/>
                        <a:ea typeface="Calibri" charset="0"/>
                        <a:cs typeface="Calibri" charset="0"/>
                      </a:endParaRPr>
                    </a:p>
                  </a:txBody>
                  <a:tcPr>
                    <a:lnL w="9525" cap="flat" cmpd="sng" algn="ctr">
                      <a:solidFill>
                        <a:srgbClr val="D6E2E8"/>
                      </a:solidFill>
                      <a:prstDash val="solid"/>
                      <a:round/>
                      <a:headEnd type="none" w="med" len="med"/>
                      <a:tailEnd type="none" w="med" len="med"/>
                    </a:lnL>
                    <a:lnR w="9525" cap="flat" cmpd="sng" algn="ctr">
                      <a:solidFill>
                        <a:srgbClr val="D6E2E8"/>
                      </a:solidFill>
                      <a:prstDash val="solid"/>
                      <a:round/>
                      <a:headEnd type="none" w="med" len="med"/>
                      <a:tailEnd type="none" w="med" len="med"/>
                    </a:lnR>
                    <a:lnT w="9525" cap="flat" cmpd="sng" algn="ctr">
                      <a:solidFill>
                        <a:srgbClr val="D6E2E8"/>
                      </a:solidFill>
                      <a:prstDash val="solid"/>
                      <a:round/>
                      <a:headEnd type="none" w="med" len="med"/>
                      <a:tailEnd type="none" w="med" len="med"/>
                    </a:lnT>
                    <a:lnB w="9525" cap="flat" cmpd="sng" algn="ctr">
                      <a:solidFill>
                        <a:srgbClr val="D6E2E8"/>
                      </a:solidFill>
                      <a:prstDash val="solid"/>
                      <a:round/>
                      <a:headEnd type="none" w="med" len="med"/>
                      <a:tailEnd type="none" w="med" len="med"/>
                    </a:lnB>
                  </a:tcPr>
                </a:tc>
                <a:extLst>
                  <a:ext uri="{0D108BD9-81ED-4DB2-BD59-A6C34878D82A}">
                    <a16:rowId xmlns:a16="http://schemas.microsoft.com/office/drawing/2014/main" val="10002"/>
                  </a:ext>
                </a:extLst>
              </a:tr>
              <a:tr h="384048">
                <a:tc>
                  <a:txBody>
                    <a:bodyPr/>
                    <a:lstStyle/>
                    <a:p>
                      <a:pPr marL="0" indent="0">
                        <a:buNone/>
                      </a:pPr>
                      <a:r>
                        <a:rPr lang="en-US" sz="1150" dirty="0">
                          <a:solidFill>
                            <a:srgbClr val="1E293B"/>
                          </a:solidFill>
                          <a:latin typeface="Calibri" pitchFamily="34" charset="0"/>
                          <a:ea typeface="Calibri" pitchFamily="34" charset="-122"/>
                          <a:cs typeface="Calibri" pitchFamily="34" charset="-120"/>
                        </a:rPr>
                        <a:t>dim_plan</a:t>
                      </a:r>
                      <a:endParaRPr lang="en-US" sz="1150" dirty="0">
                        <a:latin typeface="Calibri" charset="0"/>
                        <a:ea typeface="Calibri" charset="0"/>
                        <a:cs typeface="Calibri" charset="0"/>
                      </a:endParaRPr>
                    </a:p>
                  </a:txBody>
                  <a:tcPr>
                    <a:lnL w="9525" cap="flat" cmpd="sng" algn="ctr">
                      <a:solidFill>
                        <a:srgbClr val="D6E2E8"/>
                      </a:solidFill>
                      <a:prstDash val="solid"/>
                      <a:round/>
                      <a:headEnd type="none" w="med" len="med"/>
                      <a:tailEnd type="none" w="med" len="med"/>
                    </a:lnL>
                    <a:lnR w="9525" cap="flat" cmpd="sng" algn="ctr">
                      <a:solidFill>
                        <a:srgbClr val="D6E2E8"/>
                      </a:solidFill>
                      <a:prstDash val="solid"/>
                      <a:round/>
                      <a:headEnd type="none" w="med" len="med"/>
                      <a:tailEnd type="none" w="med" len="med"/>
                    </a:lnR>
                    <a:lnT w="9525" cap="flat" cmpd="sng" algn="ctr">
                      <a:solidFill>
                        <a:srgbClr val="D6E2E8"/>
                      </a:solidFill>
                      <a:prstDash val="solid"/>
                      <a:round/>
                      <a:headEnd type="none" w="med" len="med"/>
                      <a:tailEnd type="none" w="med" len="med"/>
                    </a:lnT>
                    <a:lnB w="9525" cap="flat" cmpd="sng" algn="ctr">
                      <a:solidFill>
                        <a:srgbClr val="D6E2E8"/>
                      </a:solidFill>
                      <a:prstDash val="solid"/>
                      <a:round/>
                      <a:headEnd type="none" w="med" len="med"/>
                      <a:tailEnd type="none" w="med" len="med"/>
                    </a:lnB>
                  </a:tcPr>
                </a:tc>
                <a:tc>
                  <a:txBody>
                    <a:bodyPr/>
                    <a:lstStyle/>
                    <a:p>
                      <a:pPr marL="0" indent="0">
                        <a:buNone/>
                      </a:pPr>
                      <a:r>
                        <a:rPr lang="en-US" sz="1150" dirty="0">
                          <a:solidFill>
                            <a:srgbClr val="1E293B"/>
                          </a:solidFill>
                          <a:latin typeface="Calibri" pitchFamily="34" charset="0"/>
                          <a:ea typeface="Calibri" pitchFamily="34" charset="-122"/>
                          <a:cs typeface="Calibri" pitchFamily="34" charset="-120"/>
                        </a:rPr>
                        <a:t>Plan type, premium, coverage</a:t>
                      </a:r>
                      <a:endParaRPr lang="en-US" sz="1150" dirty="0">
                        <a:latin typeface="Calibri" charset="0"/>
                        <a:ea typeface="Calibri" charset="0"/>
                        <a:cs typeface="Calibri" charset="0"/>
                      </a:endParaRPr>
                    </a:p>
                  </a:txBody>
                  <a:tcPr>
                    <a:lnL w="9525" cap="flat" cmpd="sng" algn="ctr">
                      <a:solidFill>
                        <a:srgbClr val="D6E2E8"/>
                      </a:solidFill>
                      <a:prstDash val="solid"/>
                      <a:round/>
                      <a:headEnd type="none" w="med" len="med"/>
                      <a:tailEnd type="none" w="med" len="med"/>
                    </a:lnL>
                    <a:lnR w="9525" cap="flat" cmpd="sng" algn="ctr">
                      <a:solidFill>
                        <a:srgbClr val="D6E2E8"/>
                      </a:solidFill>
                      <a:prstDash val="solid"/>
                      <a:round/>
                      <a:headEnd type="none" w="med" len="med"/>
                      <a:tailEnd type="none" w="med" len="med"/>
                    </a:lnR>
                    <a:lnT w="9525" cap="flat" cmpd="sng" algn="ctr">
                      <a:solidFill>
                        <a:srgbClr val="D6E2E8"/>
                      </a:solidFill>
                      <a:prstDash val="solid"/>
                      <a:round/>
                      <a:headEnd type="none" w="med" len="med"/>
                      <a:tailEnd type="none" w="med" len="med"/>
                    </a:lnT>
                    <a:lnB w="9525" cap="flat" cmpd="sng" algn="ctr">
                      <a:solidFill>
                        <a:srgbClr val="D6E2E8"/>
                      </a:solidFill>
                      <a:prstDash val="solid"/>
                      <a:round/>
                      <a:headEnd type="none" w="med" len="med"/>
                      <a:tailEnd type="none" w="med" len="med"/>
                    </a:lnB>
                  </a:tcPr>
                </a:tc>
                <a:extLst>
                  <a:ext uri="{0D108BD9-81ED-4DB2-BD59-A6C34878D82A}">
                    <a16:rowId xmlns:a16="http://schemas.microsoft.com/office/drawing/2014/main" val="10003"/>
                  </a:ext>
                </a:extLst>
              </a:tr>
              <a:tr h="384048">
                <a:tc>
                  <a:txBody>
                    <a:bodyPr/>
                    <a:lstStyle/>
                    <a:p>
                      <a:pPr marL="0" indent="0">
                        <a:buNone/>
                      </a:pPr>
                      <a:r>
                        <a:rPr lang="en-US" sz="1150" dirty="0">
                          <a:solidFill>
                            <a:srgbClr val="1E293B"/>
                          </a:solidFill>
                          <a:latin typeface="Calibri" pitchFamily="34" charset="0"/>
                          <a:ea typeface="Calibri" pitchFamily="34" charset="-122"/>
                          <a:cs typeface="Calibri" pitchFamily="34" charset="-120"/>
                        </a:rPr>
                        <a:t>dim_date</a:t>
                      </a:r>
                      <a:endParaRPr lang="en-US" sz="1150" dirty="0">
                        <a:latin typeface="Calibri" charset="0"/>
                        <a:ea typeface="Calibri" charset="0"/>
                        <a:cs typeface="Calibri" charset="0"/>
                      </a:endParaRPr>
                    </a:p>
                  </a:txBody>
                  <a:tcPr>
                    <a:lnL w="9525" cap="flat" cmpd="sng" algn="ctr">
                      <a:solidFill>
                        <a:srgbClr val="D6E2E8"/>
                      </a:solidFill>
                      <a:prstDash val="solid"/>
                      <a:round/>
                      <a:headEnd type="none" w="med" len="med"/>
                      <a:tailEnd type="none" w="med" len="med"/>
                    </a:lnL>
                    <a:lnR w="9525" cap="flat" cmpd="sng" algn="ctr">
                      <a:solidFill>
                        <a:srgbClr val="D6E2E8"/>
                      </a:solidFill>
                      <a:prstDash val="solid"/>
                      <a:round/>
                      <a:headEnd type="none" w="med" len="med"/>
                      <a:tailEnd type="none" w="med" len="med"/>
                    </a:lnR>
                    <a:lnT w="9525" cap="flat" cmpd="sng" algn="ctr">
                      <a:solidFill>
                        <a:srgbClr val="D6E2E8"/>
                      </a:solidFill>
                      <a:prstDash val="solid"/>
                      <a:round/>
                      <a:headEnd type="none" w="med" len="med"/>
                      <a:tailEnd type="none" w="med" len="med"/>
                    </a:lnT>
                    <a:lnB w="9525" cap="flat" cmpd="sng" algn="ctr">
                      <a:solidFill>
                        <a:srgbClr val="D6E2E8"/>
                      </a:solidFill>
                      <a:prstDash val="solid"/>
                      <a:round/>
                      <a:headEnd type="none" w="med" len="med"/>
                      <a:tailEnd type="none" w="med" len="med"/>
                    </a:lnB>
                  </a:tcPr>
                </a:tc>
                <a:tc>
                  <a:txBody>
                    <a:bodyPr/>
                    <a:lstStyle/>
                    <a:p>
                      <a:pPr marL="0" indent="0">
                        <a:buNone/>
                      </a:pPr>
                      <a:r>
                        <a:rPr lang="en-US" sz="1150" dirty="0">
                          <a:solidFill>
                            <a:srgbClr val="1E293B"/>
                          </a:solidFill>
                          <a:latin typeface="Calibri" pitchFamily="34" charset="0"/>
                          <a:ea typeface="Calibri" pitchFamily="34" charset="-122"/>
                          <a:cs typeface="Calibri" pitchFamily="34" charset="-120"/>
                        </a:rPr>
                        <a:t>Time attributes for trending</a:t>
                      </a:r>
                      <a:endParaRPr lang="en-US" sz="1150" dirty="0">
                        <a:latin typeface="Calibri" charset="0"/>
                        <a:ea typeface="Calibri" charset="0"/>
                        <a:cs typeface="Calibri" charset="0"/>
                      </a:endParaRPr>
                    </a:p>
                  </a:txBody>
                  <a:tcPr>
                    <a:lnL w="9525" cap="flat" cmpd="sng" algn="ctr">
                      <a:solidFill>
                        <a:srgbClr val="D6E2E8"/>
                      </a:solidFill>
                      <a:prstDash val="solid"/>
                      <a:round/>
                      <a:headEnd type="none" w="med" len="med"/>
                      <a:tailEnd type="none" w="med" len="med"/>
                    </a:lnL>
                    <a:lnR w="9525" cap="flat" cmpd="sng" algn="ctr">
                      <a:solidFill>
                        <a:srgbClr val="D6E2E8"/>
                      </a:solidFill>
                      <a:prstDash val="solid"/>
                      <a:round/>
                      <a:headEnd type="none" w="med" len="med"/>
                      <a:tailEnd type="none" w="med" len="med"/>
                    </a:lnR>
                    <a:lnT w="9525" cap="flat" cmpd="sng" algn="ctr">
                      <a:solidFill>
                        <a:srgbClr val="D6E2E8"/>
                      </a:solidFill>
                      <a:prstDash val="solid"/>
                      <a:round/>
                      <a:headEnd type="none" w="med" len="med"/>
                      <a:tailEnd type="none" w="med" len="med"/>
                    </a:lnT>
                    <a:lnB w="9525" cap="flat" cmpd="sng" algn="ctr">
                      <a:solidFill>
                        <a:srgbClr val="D6E2E8"/>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6" name="Text 3"/>
          <p:cNvSpPr/>
          <p:nvPr/>
        </p:nvSpPr>
        <p:spPr>
          <a:xfrm>
            <a:off x="548640" y="4114800"/>
            <a:ext cx="4572000" cy="320040"/>
          </a:xfrm>
          <a:prstGeom prst="rect">
            <a:avLst/>
          </a:prstGeom>
          <a:noFill/>
          <a:ln/>
        </p:spPr>
        <p:txBody>
          <a:bodyPr wrap="square" lIns="0" tIns="0" rIns="0" bIns="0" rtlCol="0" anchor="ctr"/>
          <a:lstStyle/>
          <a:p>
            <a:pPr marL="0" indent="0">
              <a:buNone/>
            </a:pPr>
            <a:r>
              <a:rPr lang="en-US" sz="1400" b="1" dirty="0">
                <a:solidFill>
                  <a:srgbClr val="0B1F33"/>
                </a:solidFill>
                <a:latin typeface="Cambria" pitchFamily="34" charset="0"/>
                <a:ea typeface="Cambria" pitchFamily="34" charset="-122"/>
                <a:cs typeface="Cambria" pitchFamily="34" charset="-120"/>
              </a:rPr>
              <a:t>Sample KPI Queries</a:t>
            </a:r>
            <a:endParaRPr lang="en-US" sz="1400" dirty="0"/>
          </a:p>
        </p:txBody>
      </p:sp>
      <p:sp>
        <p:nvSpPr>
          <p:cNvPr id="7" name="Text 4"/>
          <p:cNvSpPr/>
          <p:nvPr/>
        </p:nvSpPr>
        <p:spPr>
          <a:xfrm>
            <a:off x="685800" y="4480560"/>
            <a:ext cx="5120640" cy="1188720"/>
          </a:xfrm>
          <a:prstGeom prst="rect">
            <a:avLst/>
          </a:prstGeom>
          <a:noFill/>
          <a:ln/>
        </p:spPr>
        <p:txBody>
          <a:bodyPr wrap="square" lIns="0" tIns="0" rIns="0" bIns="0" rtlCol="0" anchor="ctr"/>
          <a:lstStyle/>
          <a:p>
            <a:pPr marL="342900" indent="-342900">
              <a:spcAft>
                <a:spcPts val="600"/>
              </a:spcAft>
              <a:buSzPct val="100000"/>
              <a:buChar char="•"/>
            </a:pPr>
            <a:r>
              <a:rPr lang="en-US" sz="1200" dirty="0">
                <a:solidFill>
                  <a:srgbClr val="1E293B"/>
                </a:solidFill>
                <a:latin typeface="Calibri" pitchFamily="34" charset="0"/>
                <a:ea typeface="Calibri" pitchFamily="34" charset="-122"/>
                <a:cs typeface="Calibri" pitchFamily="34" charset="-120"/>
              </a:rPr>
              <a:t>Avg. claim cost by region &amp; plan type</a:t>
            </a:r>
            <a:endParaRPr lang="en-US" sz="1200" dirty="0"/>
          </a:p>
          <a:p>
            <a:pPr marL="342900" indent="-342900">
              <a:spcAft>
                <a:spcPts val="600"/>
              </a:spcAft>
              <a:buSzPct val="100000"/>
              <a:buChar char="•"/>
            </a:pPr>
            <a:r>
              <a:rPr lang="en-US" sz="1200" dirty="0">
                <a:solidFill>
                  <a:srgbClr val="1E293B"/>
                </a:solidFill>
                <a:latin typeface="Calibri" pitchFamily="34" charset="0"/>
                <a:ea typeface="Calibri" pitchFamily="34" charset="-122"/>
                <a:cs typeface="Calibri" pitchFamily="34" charset="-120"/>
              </a:rPr>
              <a:t>High-risk segment share of total cost</a:t>
            </a:r>
            <a:endParaRPr lang="en-US" sz="1200" dirty="0"/>
          </a:p>
          <a:p>
            <a:pPr marL="342900" indent="-342900">
              <a:spcAft>
                <a:spcPts val="600"/>
              </a:spcAft>
              <a:buSzPct val="100000"/>
              <a:buChar char="•"/>
            </a:pPr>
            <a:r>
              <a:rPr lang="en-US" sz="1200" dirty="0">
                <a:solidFill>
                  <a:srgbClr val="1E293B"/>
                </a:solidFill>
                <a:latin typeface="Calibri" pitchFamily="34" charset="0"/>
                <a:ea typeface="Calibri" pitchFamily="34" charset="-122"/>
                <a:cs typeface="Calibri" pitchFamily="34" charset="-120"/>
              </a:rPr>
              <a:t>Utilization rate by age band</a:t>
            </a:r>
            <a:endParaRPr lang="en-US" sz="1200" dirty="0"/>
          </a:p>
        </p:txBody>
      </p:sp>
      <p:sp>
        <p:nvSpPr>
          <p:cNvPr id="8" name="Shape 5"/>
          <p:cNvSpPr/>
          <p:nvPr/>
        </p:nvSpPr>
        <p:spPr>
          <a:xfrm>
            <a:off x="5232399" y="278892"/>
            <a:ext cx="6842762" cy="5957316"/>
          </a:xfrm>
          <a:prstGeom prst="roundRect">
            <a:avLst>
              <a:gd name="adj" fmla="val 1739"/>
            </a:avLst>
          </a:prstGeom>
          <a:solidFill>
            <a:srgbClr val="0B1F33"/>
          </a:solidFill>
          <a:ln/>
          <a:effectLst>
            <a:outerShdw blurRad="101600" dist="38100" dir="2700000" algn="bl" rotWithShape="0">
              <a:srgbClr val="000000">
                <a:alpha val="12000"/>
              </a:srgbClr>
            </a:outerShdw>
          </a:effectLst>
        </p:spPr>
        <p:txBody>
          <a:bodyPr/>
          <a:lstStyle/>
          <a:p>
            <a:endParaRPr lang="en-US"/>
          </a:p>
        </p:txBody>
      </p:sp>
      <p:sp>
        <p:nvSpPr>
          <p:cNvPr id="5" name="Text 6"/>
          <p:cNvSpPr/>
          <p:nvPr/>
        </p:nvSpPr>
        <p:spPr>
          <a:xfrm>
            <a:off x="6583680" y="1920240"/>
            <a:ext cx="4846320" cy="3566160"/>
          </a:xfrm>
          <a:prstGeom prst="rect">
            <a:avLst/>
          </a:prstGeom>
          <a:noFill/>
          <a:ln/>
        </p:spPr>
        <p:txBody>
          <a:bodyPr wrap="square" lIns="0" tIns="0" rIns="0" bIns="0" rtlCol="0" anchor="t"/>
          <a:lstStyle/>
          <a:p>
            <a:pPr marL="0" indent="0">
              <a:lnSpc>
                <a:spcPct val="135000"/>
              </a:lnSpc>
              <a:buNone/>
            </a:pPr>
            <a:endParaRPr lang="en-US" sz="1250" dirty="0"/>
          </a:p>
        </p:txBody>
      </p:sp>
      <p:sp>
        <p:nvSpPr>
          <p:cNvPr id="10" name="Text 7"/>
          <p:cNvSpPr/>
          <p:nvPr/>
        </p:nvSpPr>
        <p:spPr>
          <a:xfrm>
            <a:off x="457200" y="6446520"/>
            <a:ext cx="6400800" cy="274320"/>
          </a:xfrm>
          <a:prstGeom prst="rect">
            <a:avLst/>
          </a:prstGeom>
          <a:noFill/>
          <a:ln/>
        </p:spPr>
        <p:txBody>
          <a:bodyPr wrap="square" lIns="0" tIns="0" rIns="0" bIns="0" rtlCol="0" anchor="ctr"/>
          <a:lstStyle/>
          <a:p>
            <a:pPr marL="0" indent="0" algn="l">
              <a:buNone/>
            </a:pPr>
            <a:r>
              <a:rPr lang="en-US" sz="900" dirty="0">
                <a:solidFill>
                  <a:srgbClr val="64748B"/>
                </a:solidFill>
                <a:latin typeface="Calibri" pitchFamily="34" charset="0"/>
                <a:ea typeface="Calibri" pitchFamily="34" charset="-122"/>
                <a:cs typeface="Calibri" pitchFamily="34" charset="-120"/>
              </a:rPr>
              <a:t>DEPI Capstone — Medical Insurance Analytics</a:t>
            </a:r>
            <a:endParaRPr lang="en-US" sz="900" dirty="0"/>
          </a:p>
        </p:txBody>
      </p:sp>
      <p:sp>
        <p:nvSpPr>
          <p:cNvPr id="11" name="Text 8"/>
          <p:cNvSpPr/>
          <p:nvPr/>
        </p:nvSpPr>
        <p:spPr>
          <a:xfrm>
            <a:off x="11274552" y="6446520"/>
            <a:ext cx="457200" cy="27432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8</a:t>
            </a:r>
            <a:endParaRPr lang="en-US" sz="900" dirty="0"/>
          </a:p>
        </p:txBody>
      </p:sp>
      <p:pic>
        <p:nvPicPr>
          <p:cNvPr id="12" name="Picture 11" descr="https://private-user-images.githubusercontent.com/235096874/610861744-f6d3643c-9522-401c-b15d-5f4a7f5a3aea.png?jwt=eyJ0eXAiOiJKV1QiLCJhbGciOiJIUzI1NiJ9.eyJpc3MiOiJnaXRodWIuY29tIiwiYXVkIjoicmF3LmdpdGh1YnVzZXJjb250ZW50LmNvbSIsImtleSI6ImtleTUiLCJleHAiOjE3ODMwNzA5ODcsIm5iZiI6MTc4MzA3MDY4NywicGF0aCI6Ii8yMzUwOTY4NzQvNjEwODYxNzQ0LWY2ZDM2NDNjLTk1MjItNDAxYy1iMTVkLTVmNGE3ZjVhM2FlYS5wbmc_WC1BbXotQWxnb3JpdGhtPUFXUzQtSE1BQy1TSEEyNTYmWC1BbXotQ3JlZGVudGlhbD1BS0lBVkNPRFlMU0E1M1BRSzRaQSUyRjIwMjYwNzAzJTJGdXMtZWFzdC0xJTJGczMlMkZhd3M0X3JlcXVlc3QmWC1BbXotRGF0ZT0yMDI2MDcwM1QwOTI0NDdaJlgtQW16LUV4cGlyZXM9MzAwJlgtQW16LVNpZ25hdHVyZT1hNWY3MTk4ODYxNjVmMDc5YTdlMTE1N2I0ZGExZWEwMzg4ZTY5YzIwYTVhODBjNzUxODdmMDFmOTdkOWI4OTg3JlgtQW16LVNpZ25lZEhlYWRlcnM9aG9zdCZyZXNwb25zZS1jb250ZW50LXR5cGU9aW1hZ2UlMkZwbmcifQ.meVRIkoSY-skL6hXAsKc18bY47wr100pqs-rus-m-JE">
            <a:extLst>
              <a:ext uri="{FF2B5EF4-FFF2-40B4-BE49-F238E27FC236}">
                <a16:creationId xmlns:a16="http://schemas.microsoft.com/office/drawing/2014/main" id="{89814304-A5E4-65DF-E214-4467299F7927}"/>
              </a:ext>
            </a:extLst>
          </p:cNvPr>
          <p:cNvPicPr>
            <a:picLocks noChangeAspect="1"/>
          </p:cNvPicPr>
          <p:nvPr/>
        </p:nvPicPr>
        <p:blipFill>
          <a:blip r:embed="rId3"/>
          <a:srcRect l="-2" r="12959"/>
          <a:stretch>
            <a:fillRect/>
          </a:stretch>
        </p:blipFill>
        <p:spPr>
          <a:xfrm>
            <a:off x="5432875" y="521209"/>
            <a:ext cx="6428925" cy="539924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78138369-D27D-72BC-28C4-3E8D241BEC28}"/>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6104F74D-EFB8-0BD0-87F8-018AD52BB1F6}"/>
              </a:ext>
            </a:extLst>
          </p:cNvPr>
          <p:cNvSpPr/>
          <p:nvPr/>
        </p:nvSpPr>
        <p:spPr>
          <a:xfrm>
            <a:off x="548640" y="384048"/>
            <a:ext cx="7315200" cy="274320"/>
          </a:xfrm>
          <a:prstGeom prst="rect">
            <a:avLst/>
          </a:prstGeom>
          <a:noFill/>
          <a:ln/>
        </p:spPr>
        <p:txBody>
          <a:bodyPr wrap="square" lIns="0" tIns="0" rIns="0" bIns="0" rtlCol="0" anchor="ctr"/>
          <a:lstStyle/>
          <a:p>
            <a:pPr marL="0" indent="0">
              <a:buNone/>
            </a:pPr>
            <a:r>
              <a:rPr lang="en-US" sz="1200" b="1" kern="0" spc="200" dirty="0">
                <a:solidFill>
                  <a:srgbClr val="1C7293"/>
                </a:solidFill>
                <a:latin typeface="Calibri" pitchFamily="34" charset="0"/>
                <a:ea typeface="Calibri" pitchFamily="34" charset="-122"/>
                <a:cs typeface="Calibri" pitchFamily="34" charset="-120"/>
              </a:rPr>
              <a:t>MODELING &amp; KPI QUERIES</a:t>
            </a:r>
            <a:endParaRPr lang="en-US" sz="1200" dirty="0"/>
          </a:p>
        </p:txBody>
      </p:sp>
      <p:sp>
        <p:nvSpPr>
          <p:cNvPr id="3" name="Text 1">
            <a:extLst>
              <a:ext uri="{FF2B5EF4-FFF2-40B4-BE49-F238E27FC236}">
                <a16:creationId xmlns:a16="http://schemas.microsoft.com/office/drawing/2014/main" id="{99FC1790-A954-95F2-2EE4-A08977908EF5}"/>
              </a:ext>
            </a:extLst>
          </p:cNvPr>
          <p:cNvSpPr/>
          <p:nvPr/>
        </p:nvSpPr>
        <p:spPr>
          <a:xfrm>
            <a:off x="548640" y="621792"/>
            <a:ext cx="10515600" cy="731520"/>
          </a:xfrm>
          <a:prstGeom prst="rect">
            <a:avLst/>
          </a:prstGeom>
          <a:noFill/>
          <a:ln/>
        </p:spPr>
        <p:txBody>
          <a:bodyPr wrap="square" lIns="0" tIns="0" rIns="0" bIns="0" rtlCol="0" anchor="ctr"/>
          <a:lstStyle/>
          <a:p>
            <a:pPr marL="0" indent="0">
              <a:buNone/>
            </a:pPr>
            <a:r>
              <a:rPr lang="en-US" sz="3200" b="1" dirty="0">
                <a:solidFill>
                  <a:srgbClr val="0B1F33"/>
                </a:solidFill>
                <a:latin typeface="Cambria" pitchFamily="34" charset="0"/>
                <a:ea typeface="Cambria" pitchFamily="34" charset="-122"/>
                <a:cs typeface="Cambria" pitchFamily="34" charset="-120"/>
              </a:rPr>
              <a:t>SQL— Analysis</a:t>
            </a:r>
            <a:endParaRPr lang="en-US" sz="3200" dirty="0"/>
          </a:p>
        </p:txBody>
      </p:sp>
      <p:sp>
        <p:nvSpPr>
          <p:cNvPr id="4" name="Text 2">
            <a:extLst>
              <a:ext uri="{FF2B5EF4-FFF2-40B4-BE49-F238E27FC236}">
                <a16:creationId xmlns:a16="http://schemas.microsoft.com/office/drawing/2014/main" id="{1F141A84-7739-16A1-B6E7-F18CE915E50E}"/>
              </a:ext>
            </a:extLst>
          </p:cNvPr>
          <p:cNvSpPr/>
          <p:nvPr/>
        </p:nvSpPr>
        <p:spPr>
          <a:xfrm>
            <a:off x="252753" y="1637547"/>
            <a:ext cx="4572000" cy="320040"/>
          </a:xfrm>
          <a:prstGeom prst="rect">
            <a:avLst/>
          </a:prstGeom>
          <a:noFill/>
          <a:ln/>
        </p:spPr>
        <p:txBody>
          <a:bodyPr wrap="square" lIns="0" tIns="0" rIns="0" bIns="0" rtlCol="0" anchor="ctr"/>
          <a:lstStyle/>
          <a:p>
            <a:pPr marL="0" indent="0">
              <a:buNone/>
            </a:pPr>
            <a:r>
              <a:rPr lang="en-US" b="1" dirty="0">
                <a:solidFill>
                  <a:srgbClr val="0B1F33"/>
                </a:solidFill>
                <a:latin typeface="Cambria" pitchFamily="34" charset="0"/>
                <a:ea typeface="Cambria" pitchFamily="34" charset="-122"/>
                <a:cs typeface="Cambria" pitchFamily="34" charset="-120"/>
              </a:rPr>
              <a:t>Analysis Purpose</a:t>
            </a:r>
            <a:endParaRPr lang="en-US" sz="1400" dirty="0"/>
          </a:p>
        </p:txBody>
      </p:sp>
      <p:sp>
        <p:nvSpPr>
          <p:cNvPr id="6" name="Text 3">
            <a:extLst>
              <a:ext uri="{FF2B5EF4-FFF2-40B4-BE49-F238E27FC236}">
                <a16:creationId xmlns:a16="http://schemas.microsoft.com/office/drawing/2014/main" id="{5AE56CE3-8A87-0D8B-2D9D-C592B53CD347}"/>
              </a:ext>
            </a:extLst>
          </p:cNvPr>
          <p:cNvSpPr/>
          <p:nvPr/>
        </p:nvSpPr>
        <p:spPr>
          <a:xfrm>
            <a:off x="252753" y="2921294"/>
            <a:ext cx="4572000" cy="320040"/>
          </a:xfrm>
          <a:prstGeom prst="rect">
            <a:avLst/>
          </a:prstGeom>
          <a:noFill/>
          <a:ln/>
        </p:spPr>
        <p:txBody>
          <a:bodyPr wrap="square" lIns="0" tIns="0" rIns="0" bIns="0" rtlCol="0" anchor="ctr"/>
          <a:lstStyle/>
          <a:p>
            <a:pPr marL="0" indent="0">
              <a:buNone/>
            </a:pPr>
            <a:r>
              <a:rPr lang="en-US" b="1" dirty="0">
                <a:solidFill>
                  <a:srgbClr val="0B1F33"/>
                </a:solidFill>
                <a:latin typeface="Cambria" pitchFamily="34" charset="0"/>
                <a:ea typeface="Cambria" pitchFamily="34" charset="-122"/>
                <a:cs typeface="Cambria" pitchFamily="34" charset="-120"/>
              </a:rPr>
              <a:t>Key Analysis</a:t>
            </a:r>
            <a:endParaRPr lang="en-US" dirty="0"/>
          </a:p>
        </p:txBody>
      </p:sp>
      <p:sp>
        <p:nvSpPr>
          <p:cNvPr id="7" name="Text 4">
            <a:extLst>
              <a:ext uri="{FF2B5EF4-FFF2-40B4-BE49-F238E27FC236}">
                <a16:creationId xmlns:a16="http://schemas.microsoft.com/office/drawing/2014/main" id="{7E31646E-5520-3FA2-3638-39035328C41D}"/>
              </a:ext>
            </a:extLst>
          </p:cNvPr>
          <p:cNvSpPr/>
          <p:nvPr/>
        </p:nvSpPr>
        <p:spPr>
          <a:xfrm>
            <a:off x="408165" y="3314499"/>
            <a:ext cx="3193473" cy="1188720"/>
          </a:xfrm>
          <a:prstGeom prst="rect">
            <a:avLst/>
          </a:prstGeom>
          <a:noFill/>
          <a:ln/>
        </p:spPr>
        <p:txBody>
          <a:bodyPr wrap="square" lIns="0" tIns="0" rIns="0" bIns="0" rtlCol="0" anchor="ctr"/>
          <a:lstStyle/>
          <a:p>
            <a:pPr>
              <a:spcAft>
                <a:spcPts val="600"/>
              </a:spcAft>
              <a:buSzPct val="100000"/>
            </a:pPr>
            <a:endParaRPr lang="en-US" sz="1200" dirty="0"/>
          </a:p>
        </p:txBody>
      </p:sp>
      <p:sp>
        <p:nvSpPr>
          <p:cNvPr id="8" name="Shape 5">
            <a:extLst>
              <a:ext uri="{FF2B5EF4-FFF2-40B4-BE49-F238E27FC236}">
                <a16:creationId xmlns:a16="http://schemas.microsoft.com/office/drawing/2014/main" id="{3D8E16CD-5345-359C-5896-416943F5D2B3}"/>
              </a:ext>
            </a:extLst>
          </p:cNvPr>
          <p:cNvSpPr/>
          <p:nvPr/>
        </p:nvSpPr>
        <p:spPr>
          <a:xfrm>
            <a:off x="5232399" y="278892"/>
            <a:ext cx="6842762" cy="5957316"/>
          </a:xfrm>
          <a:prstGeom prst="roundRect">
            <a:avLst>
              <a:gd name="adj" fmla="val 1739"/>
            </a:avLst>
          </a:prstGeom>
          <a:solidFill>
            <a:srgbClr val="0B1F33"/>
          </a:solidFill>
          <a:ln/>
          <a:effectLst>
            <a:outerShdw blurRad="101600" dist="38100" dir="2700000" algn="bl" rotWithShape="0">
              <a:srgbClr val="000000">
                <a:alpha val="12000"/>
              </a:srgbClr>
            </a:outerShdw>
          </a:effectLst>
        </p:spPr>
        <p:txBody>
          <a:bodyPr/>
          <a:lstStyle/>
          <a:p>
            <a:endParaRPr lang="en-US"/>
          </a:p>
        </p:txBody>
      </p:sp>
      <p:sp>
        <p:nvSpPr>
          <p:cNvPr id="5" name="Text 6">
            <a:extLst>
              <a:ext uri="{FF2B5EF4-FFF2-40B4-BE49-F238E27FC236}">
                <a16:creationId xmlns:a16="http://schemas.microsoft.com/office/drawing/2014/main" id="{BCEFFEA3-732F-278F-22CD-4A52E1CBE6CF}"/>
              </a:ext>
            </a:extLst>
          </p:cNvPr>
          <p:cNvSpPr/>
          <p:nvPr/>
        </p:nvSpPr>
        <p:spPr>
          <a:xfrm>
            <a:off x="6583680" y="1920240"/>
            <a:ext cx="4846320" cy="3566160"/>
          </a:xfrm>
          <a:prstGeom prst="rect">
            <a:avLst/>
          </a:prstGeom>
          <a:noFill/>
          <a:ln/>
        </p:spPr>
        <p:txBody>
          <a:bodyPr wrap="square" lIns="0" tIns="0" rIns="0" bIns="0" rtlCol="0" anchor="t"/>
          <a:lstStyle/>
          <a:p>
            <a:pPr marL="0" indent="0">
              <a:lnSpc>
                <a:spcPct val="135000"/>
              </a:lnSpc>
              <a:buNone/>
            </a:pPr>
            <a:endParaRPr lang="en-US" sz="1250" dirty="0"/>
          </a:p>
        </p:txBody>
      </p:sp>
      <p:sp>
        <p:nvSpPr>
          <p:cNvPr id="10" name="Text 7">
            <a:extLst>
              <a:ext uri="{FF2B5EF4-FFF2-40B4-BE49-F238E27FC236}">
                <a16:creationId xmlns:a16="http://schemas.microsoft.com/office/drawing/2014/main" id="{C27B0A20-75D6-925B-449E-7591CF9998CB}"/>
              </a:ext>
            </a:extLst>
          </p:cNvPr>
          <p:cNvSpPr/>
          <p:nvPr/>
        </p:nvSpPr>
        <p:spPr>
          <a:xfrm>
            <a:off x="457200" y="6446520"/>
            <a:ext cx="6400800" cy="274320"/>
          </a:xfrm>
          <a:prstGeom prst="rect">
            <a:avLst/>
          </a:prstGeom>
          <a:noFill/>
          <a:ln/>
        </p:spPr>
        <p:txBody>
          <a:bodyPr wrap="square" lIns="0" tIns="0" rIns="0" bIns="0" rtlCol="0" anchor="ctr"/>
          <a:lstStyle/>
          <a:p>
            <a:pPr marL="0" indent="0" algn="l">
              <a:buNone/>
            </a:pPr>
            <a:r>
              <a:rPr lang="en-US" sz="900" dirty="0">
                <a:solidFill>
                  <a:srgbClr val="64748B"/>
                </a:solidFill>
                <a:latin typeface="Calibri" pitchFamily="34" charset="0"/>
                <a:ea typeface="Calibri" pitchFamily="34" charset="-122"/>
                <a:cs typeface="Calibri" pitchFamily="34" charset="-120"/>
              </a:rPr>
              <a:t>DEPI Capstone — Medical Insurance Analytics</a:t>
            </a:r>
            <a:endParaRPr lang="en-US" sz="900" dirty="0"/>
          </a:p>
        </p:txBody>
      </p:sp>
      <p:sp>
        <p:nvSpPr>
          <p:cNvPr id="11" name="Text 8">
            <a:extLst>
              <a:ext uri="{FF2B5EF4-FFF2-40B4-BE49-F238E27FC236}">
                <a16:creationId xmlns:a16="http://schemas.microsoft.com/office/drawing/2014/main" id="{477BD75D-F6F0-1B41-66E4-B3E0A17C67C7}"/>
              </a:ext>
            </a:extLst>
          </p:cNvPr>
          <p:cNvSpPr/>
          <p:nvPr/>
        </p:nvSpPr>
        <p:spPr>
          <a:xfrm>
            <a:off x="11274552" y="6446520"/>
            <a:ext cx="457200" cy="27432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8</a:t>
            </a:r>
            <a:endParaRPr lang="en-US" sz="900" dirty="0"/>
          </a:p>
        </p:txBody>
      </p:sp>
      <p:sp>
        <p:nvSpPr>
          <p:cNvPr id="14" name="TextBox 13">
            <a:extLst>
              <a:ext uri="{FF2B5EF4-FFF2-40B4-BE49-F238E27FC236}">
                <a16:creationId xmlns:a16="http://schemas.microsoft.com/office/drawing/2014/main" id="{781B4527-6596-0655-2634-57965DDDF0D0}"/>
              </a:ext>
            </a:extLst>
          </p:cNvPr>
          <p:cNvSpPr txBox="1"/>
          <p:nvPr/>
        </p:nvSpPr>
        <p:spPr>
          <a:xfrm>
            <a:off x="173384" y="2025967"/>
            <a:ext cx="4988097" cy="738664"/>
          </a:xfrm>
          <a:prstGeom prst="rect">
            <a:avLst/>
          </a:prstGeom>
          <a:noFill/>
        </p:spPr>
        <p:txBody>
          <a:bodyPr wrap="square" rtlCol="1">
            <a:spAutoFit/>
          </a:bodyPr>
          <a:lstStyle/>
          <a:p>
            <a:r>
              <a:rPr lang="ar-EG" sz="1400" dirty="0"/>
              <a:t>Analyze the cleaned insurance dataset to uncover trends, patterns, and key business insights that support ata-driven decisions</a:t>
            </a:r>
          </a:p>
        </p:txBody>
      </p:sp>
      <p:sp>
        <p:nvSpPr>
          <p:cNvPr id="16" name="TextBox 15">
            <a:extLst>
              <a:ext uri="{FF2B5EF4-FFF2-40B4-BE49-F238E27FC236}">
                <a16:creationId xmlns:a16="http://schemas.microsoft.com/office/drawing/2014/main" id="{EA7A1EA7-11F2-A245-2910-279C87B74341}"/>
              </a:ext>
            </a:extLst>
          </p:cNvPr>
          <p:cNvSpPr txBox="1"/>
          <p:nvPr/>
        </p:nvSpPr>
        <p:spPr>
          <a:xfrm>
            <a:off x="287238" y="3278765"/>
            <a:ext cx="5003801" cy="1169551"/>
          </a:xfrm>
          <a:prstGeom prst="rect">
            <a:avLst/>
          </a:prstGeom>
          <a:noFill/>
        </p:spPr>
        <p:txBody>
          <a:bodyPr wrap="square">
            <a:spAutoFit/>
          </a:bodyPr>
          <a:lstStyle/>
          <a:p>
            <a:pPr>
              <a:buFont typeface="Arial" panose="020B0604020202020204" pitchFamily="34" charset="0"/>
              <a:buChar char="•"/>
            </a:pPr>
            <a:r>
              <a:rPr lang="ar-EG" sz="1400" dirty="0"/>
              <a:t>Identified cost distribution across different patient groups. </a:t>
            </a:r>
          </a:p>
          <a:p>
            <a:pPr>
              <a:buFont typeface="Arial" panose="020B0604020202020204" pitchFamily="34" charset="0"/>
              <a:buChar char="•"/>
            </a:pPr>
            <a:r>
              <a:rPr lang="ar-EG" sz="1400" dirty="0"/>
              <a:t>Compared medical expenses by demographic and health factors. </a:t>
            </a:r>
          </a:p>
          <a:p>
            <a:pPr>
              <a:buFont typeface="Arial" panose="020B0604020202020204" pitchFamily="34" charset="0"/>
              <a:buChar char="•"/>
            </a:pPr>
            <a:r>
              <a:rPr lang="ar-EG" sz="1400" dirty="0"/>
              <a:t>Analyzed claim and premium trends. </a:t>
            </a:r>
          </a:p>
          <a:p>
            <a:pPr>
              <a:buFont typeface="Arial" panose="020B0604020202020204" pitchFamily="34" charset="0"/>
              <a:buChar char="•"/>
            </a:pPr>
            <a:r>
              <a:rPr lang="ar-EG" sz="1400" dirty="0"/>
              <a:t>Measured the impact of chronic diseases and lifestyle habits. </a:t>
            </a:r>
          </a:p>
          <a:p>
            <a:pPr>
              <a:buFont typeface="Arial" panose="020B0604020202020204" pitchFamily="34" charset="0"/>
              <a:buChar char="•"/>
            </a:pPr>
            <a:r>
              <a:rPr lang="ar-EG" sz="1400" dirty="0"/>
              <a:t>Generated business insights for reporting and dashboard design. </a:t>
            </a:r>
          </a:p>
        </p:txBody>
      </p:sp>
      <p:sp>
        <p:nvSpPr>
          <p:cNvPr id="17" name="TextBox 16">
            <a:extLst>
              <a:ext uri="{FF2B5EF4-FFF2-40B4-BE49-F238E27FC236}">
                <a16:creationId xmlns:a16="http://schemas.microsoft.com/office/drawing/2014/main" id="{326234AA-C839-A9D6-3784-CEE547D91027}"/>
              </a:ext>
            </a:extLst>
          </p:cNvPr>
          <p:cNvSpPr txBox="1"/>
          <p:nvPr/>
        </p:nvSpPr>
        <p:spPr>
          <a:xfrm>
            <a:off x="173384" y="4783369"/>
            <a:ext cx="4695975" cy="1200329"/>
          </a:xfrm>
          <a:prstGeom prst="rect">
            <a:avLst/>
          </a:prstGeom>
          <a:noFill/>
        </p:spPr>
        <p:txBody>
          <a:bodyPr wrap="square" rtlCol="1">
            <a:spAutoFit/>
          </a:bodyPr>
          <a:lstStyle/>
          <a:p>
            <a:br>
              <a:rPr lang="en-US" dirty="0"/>
            </a:br>
            <a:r>
              <a:rPr lang="en-US" dirty="0"/>
              <a:t>Provided meaningful insights that guided the development of KPIs and interactive dashboards.</a:t>
            </a:r>
            <a:endParaRPr lang="ar-EG" dirty="0"/>
          </a:p>
        </p:txBody>
      </p:sp>
      <p:sp>
        <p:nvSpPr>
          <p:cNvPr id="18" name="TextBox 17">
            <a:extLst>
              <a:ext uri="{FF2B5EF4-FFF2-40B4-BE49-F238E27FC236}">
                <a16:creationId xmlns:a16="http://schemas.microsoft.com/office/drawing/2014/main" id="{AAD6C529-6FF6-F6E5-868F-84D0FC3CD06A}"/>
              </a:ext>
            </a:extLst>
          </p:cNvPr>
          <p:cNvSpPr txBox="1"/>
          <p:nvPr/>
        </p:nvSpPr>
        <p:spPr>
          <a:xfrm>
            <a:off x="287238" y="4651575"/>
            <a:ext cx="1542472" cy="369332"/>
          </a:xfrm>
          <a:prstGeom prst="rect">
            <a:avLst/>
          </a:prstGeom>
          <a:noFill/>
        </p:spPr>
        <p:txBody>
          <a:bodyPr wrap="square" rtlCol="1">
            <a:spAutoFit/>
          </a:bodyPr>
          <a:lstStyle/>
          <a:p>
            <a:r>
              <a:rPr lang="en-GB" b="1" dirty="0"/>
              <a:t>Outcome</a:t>
            </a:r>
            <a:endParaRPr lang="ar-EG" b="1" dirty="0"/>
          </a:p>
        </p:txBody>
      </p:sp>
      <p:pic>
        <p:nvPicPr>
          <p:cNvPr id="20" name="Picture 19">
            <a:extLst>
              <a:ext uri="{FF2B5EF4-FFF2-40B4-BE49-F238E27FC236}">
                <a16:creationId xmlns:a16="http://schemas.microsoft.com/office/drawing/2014/main" id="{EBF14A3B-1B6A-9E68-806D-D82E69DC4E27}"/>
              </a:ext>
            </a:extLst>
          </p:cNvPr>
          <p:cNvPicPr>
            <a:picLocks noChangeAspect="1"/>
          </p:cNvPicPr>
          <p:nvPr/>
        </p:nvPicPr>
        <p:blipFill>
          <a:blip r:embed="rId3"/>
          <a:stretch>
            <a:fillRect/>
          </a:stretch>
        </p:blipFill>
        <p:spPr>
          <a:xfrm>
            <a:off x="5464521" y="621792"/>
            <a:ext cx="6267231" cy="5090601"/>
          </a:xfrm>
          <a:prstGeom prst="rect">
            <a:avLst/>
          </a:prstGeom>
        </p:spPr>
      </p:pic>
    </p:spTree>
    <p:extLst>
      <p:ext uri="{BB962C8B-B14F-4D97-AF65-F5344CB8AC3E}">
        <p14:creationId xmlns:p14="http://schemas.microsoft.com/office/powerpoint/2010/main" val="397940535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84048"/>
            <a:ext cx="7315200" cy="274320"/>
          </a:xfrm>
          <a:prstGeom prst="rect">
            <a:avLst/>
          </a:prstGeom>
          <a:noFill/>
          <a:ln/>
        </p:spPr>
        <p:txBody>
          <a:bodyPr wrap="square" lIns="0" tIns="0" rIns="0" bIns="0" rtlCol="0" anchor="ctr"/>
          <a:lstStyle/>
          <a:p>
            <a:pPr marL="0" indent="0">
              <a:buNone/>
            </a:pPr>
            <a:r>
              <a:rPr lang="en-US" sz="1200" b="1" kern="0" spc="200" dirty="0">
                <a:solidFill>
                  <a:srgbClr val="1C7293"/>
                </a:solidFill>
                <a:latin typeface="Calibri" pitchFamily="34" charset="0"/>
                <a:ea typeface="Calibri" pitchFamily="34" charset="-122"/>
                <a:cs typeface="Calibri" pitchFamily="34" charset="-120"/>
              </a:rPr>
              <a:t>CLEANING, EDA &amp; FEATURES</a:t>
            </a:r>
            <a:endParaRPr lang="en-US" sz="1200" dirty="0"/>
          </a:p>
        </p:txBody>
      </p:sp>
      <p:sp>
        <p:nvSpPr>
          <p:cNvPr id="3" name="Text 1"/>
          <p:cNvSpPr/>
          <p:nvPr/>
        </p:nvSpPr>
        <p:spPr>
          <a:xfrm>
            <a:off x="548640" y="621792"/>
            <a:ext cx="10515600" cy="731520"/>
          </a:xfrm>
          <a:prstGeom prst="rect">
            <a:avLst/>
          </a:prstGeom>
          <a:noFill/>
          <a:ln/>
        </p:spPr>
        <p:txBody>
          <a:bodyPr wrap="square" lIns="0" tIns="0" rIns="0" bIns="0" rtlCol="0" anchor="ctr"/>
          <a:lstStyle/>
          <a:p>
            <a:pPr marL="0" indent="0">
              <a:buNone/>
            </a:pPr>
            <a:r>
              <a:rPr lang="en-US" sz="3200" b="1" dirty="0">
                <a:solidFill>
                  <a:srgbClr val="0B1F33"/>
                </a:solidFill>
                <a:latin typeface="Cambria" pitchFamily="34" charset="0"/>
                <a:ea typeface="Cambria" pitchFamily="34" charset="-122"/>
                <a:cs typeface="Cambria" pitchFamily="34" charset="-120"/>
              </a:rPr>
              <a:t>Python</a:t>
            </a:r>
            <a:endParaRPr lang="en-US" sz="3200" dirty="0"/>
          </a:p>
        </p:txBody>
      </p:sp>
      <p:sp>
        <p:nvSpPr>
          <p:cNvPr id="4" name="Shape 2"/>
          <p:cNvSpPr/>
          <p:nvPr/>
        </p:nvSpPr>
        <p:spPr>
          <a:xfrm>
            <a:off x="548640" y="1600200"/>
            <a:ext cx="3611880" cy="4206240"/>
          </a:xfrm>
          <a:prstGeom prst="roundRect">
            <a:avLst>
              <a:gd name="adj" fmla="val 2025"/>
            </a:avLst>
          </a:prstGeom>
          <a:solidFill>
            <a:srgbClr val="F1F6F8"/>
          </a:solidFill>
          <a:ln/>
          <a:effectLst>
            <a:outerShdw blurRad="101600" dist="38100" dir="2700000" algn="bl" rotWithShape="0">
              <a:srgbClr val="000000">
                <a:alpha val="12000"/>
              </a:srgbClr>
            </a:outerShdw>
          </a:effectLst>
        </p:spPr>
        <p:txBody>
          <a:bodyPr/>
          <a:lstStyle/>
          <a:p>
            <a:endParaRPr lang="en-US"/>
          </a:p>
        </p:txBody>
      </p:sp>
      <p:sp>
        <p:nvSpPr>
          <p:cNvPr id="5" name="Shape 3"/>
          <p:cNvSpPr/>
          <p:nvPr/>
        </p:nvSpPr>
        <p:spPr>
          <a:xfrm>
            <a:off x="548640" y="1600200"/>
            <a:ext cx="3611880" cy="685800"/>
          </a:xfrm>
          <a:prstGeom prst="rect">
            <a:avLst/>
          </a:prstGeom>
          <a:solidFill>
            <a:srgbClr val="065A82"/>
          </a:solidFill>
          <a:ln/>
        </p:spPr>
        <p:txBody>
          <a:bodyPr/>
          <a:lstStyle/>
          <a:p>
            <a:endParaRPr lang="en-US"/>
          </a:p>
        </p:txBody>
      </p:sp>
      <p:sp>
        <p:nvSpPr>
          <p:cNvPr id="6" name="Text 4"/>
          <p:cNvSpPr/>
          <p:nvPr/>
        </p:nvSpPr>
        <p:spPr>
          <a:xfrm>
            <a:off x="731520" y="1600200"/>
            <a:ext cx="3291840" cy="685800"/>
          </a:xfrm>
          <a:prstGeom prst="rect">
            <a:avLst/>
          </a:prstGeom>
          <a:noFill/>
          <a:ln/>
        </p:spPr>
        <p:txBody>
          <a:bodyPr wrap="square" lIns="0" tIns="0" rIns="0" bIns="0" rtlCol="0" anchor="ctr"/>
          <a:lstStyle/>
          <a:p>
            <a:pPr marL="0" indent="0">
              <a:buNone/>
            </a:pPr>
            <a:r>
              <a:rPr lang="en-US" sz="1400" b="1" dirty="0">
                <a:solidFill>
                  <a:srgbClr val="FFFFFF"/>
                </a:solidFill>
                <a:latin typeface="Cambria" pitchFamily="34" charset="0"/>
                <a:ea typeface="Cambria" pitchFamily="34" charset="-122"/>
                <a:cs typeface="Cambria" pitchFamily="34" charset="-120"/>
              </a:rPr>
              <a:t>Data Cleaning</a:t>
            </a:r>
            <a:endParaRPr lang="en-US" sz="1400" dirty="0"/>
          </a:p>
        </p:txBody>
      </p:sp>
      <p:sp>
        <p:nvSpPr>
          <p:cNvPr id="7" name="Text 5"/>
          <p:cNvSpPr/>
          <p:nvPr/>
        </p:nvSpPr>
        <p:spPr>
          <a:xfrm>
            <a:off x="822960" y="2468880"/>
            <a:ext cx="3200400" cy="3108960"/>
          </a:xfrm>
          <a:prstGeom prst="rect">
            <a:avLst/>
          </a:prstGeom>
          <a:noFill/>
          <a:ln/>
        </p:spPr>
        <p:txBody>
          <a:bodyPr wrap="square" lIns="0" tIns="0" rIns="0" bIns="0" rtlCol="0" anchor="t"/>
          <a:lstStyle/>
          <a:p>
            <a:pPr marL="342900" indent="-342900">
              <a:spcAft>
                <a:spcPts val="1000"/>
              </a:spcAft>
              <a:buSzPct val="100000"/>
              <a:buChar char="•"/>
            </a:pPr>
            <a:r>
              <a:rPr lang="en-US" sz="1250" dirty="0">
                <a:solidFill>
                  <a:srgbClr val="1E293B"/>
                </a:solidFill>
                <a:latin typeface="Calibri" pitchFamily="34" charset="0"/>
                <a:ea typeface="Calibri" pitchFamily="34" charset="-122"/>
                <a:cs typeface="Calibri" pitchFamily="34" charset="-120"/>
              </a:rPr>
              <a:t>Handle nulls &amp; duplicates</a:t>
            </a:r>
            <a:endParaRPr lang="en-US" sz="1250" dirty="0"/>
          </a:p>
          <a:p>
            <a:pPr marL="342900" indent="-342900">
              <a:spcAft>
                <a:spcPts val="1000"/>
              </a:spcAft>
              <a:buSzPct val="100000"/>
              <a:buChar char="•"/>
            </a:pPr>
            <a:r>
              <a:rPr lang="en-US" sz="1250" dirty="0">
                <a:solidFill>
                  <a:srgbClr val="1E293B"/>
                </a:solidFill>
                <a:latin typeface="Calibri" pitchFamily="34" charset="0"/>
                <a:ea typeface="Calibri" pitchFamily="34" charset="-122"/>
                <a:cs typeface="Calibri" pitchFamily="34" charset="-120"/>
              </a:rPr>
              <a:t>Standardize categories</a:t>
            </a:r>
            <a:endParaRPr lang="en-US" sz="1250" dirty="0"/>
          </a:p>
          <a:p>
            <a:pPr marL="342900" indent="-342900">
              <a:spcAft>
                <a:spcPts val="1000"/>
              </a:spcAft>
              <a:buSzPct val="100000"/>
              <a:buChar char="•"/>
            </a:pPr>
            <a:r>
              <a:rPr lang="en-US" sz="1250" dirty="0">
                <a:solidFill>
                  <a:srgbClr val="1E293B"/>
                </a:solidFill>
                <a:latin typeface="Calibri" pitchFamily="34" charset="0"/>
                <a:ea typeface="Calibri" pitchFamily="34" charset="-122"/>
                <a:cs typeface="Calibri" pitchFamily="34" charset="-120"/>
              </a:rPr>
              <a:t>Treat outliers</a:t>
            </a:r>
            <a:endParaRPr lang="en-US" sz="1250" dirty="0"/>
          </a:p>
        </p:txBody>
      </p:sp>
      <p:sp>
        <p:nvSpPr>
          <p:cNvPr id="8" name="Shape 6"/>
          <p:cNvSpPr/>
          <p:nvPr/>
        </p:nvSpPr>
        <p:spPr>
          <a:xfrm>
            <a:off x="4389120" y="1600200"/>
            <a:ext cx="3611880" cy="4206240"/>
          </a:xfrm>
          <a:prstGeom prst="roundRect">
            <a:avLst>
              <a:gd name="adj" fmla="val 2025"/>
            </a:avLst>
          </a:prstGeom>
          <a:solidFill>
            <a:srgbClr val="F1F6F8"/>
          </a:solidFill>
          <a:ln/>
          <a:effectLst>
            <a:outerShdw blurRad="101600" dist="38100" dir="2700000" algn="bl" rotWithShape="0">
              <a:srgbClr val="000000">
                <a:alpha val="12000"/>
              </a:srgbClr>
            </a:outerShdw>
          </a:effectLst>
        </p:spPr>
        <p:txBody>
          <a:bodyPr/>
          <a:lstStyle/>
          <a:p>
            <a:endParaRPr lang="en-US"/>
          </a:p>
        </p:txBody>
      </p:sp>
      <p:sp>
        <p:nvSpPr>
          <p:cNvPr id="9" name="Shape 7"/>
          <p:cNvSpPr/>
          <p:nvPr/>
        </p:nvSpPr>
        <p:spPr>
          <a:xfrm>
            <a:off x="4389120" y="1600200"/>
            <a:ext cx="3611880" cy="685800"/>
          </a:xfrm>
          <a:prstGeom prst="rect">
            <a:avLst/>
          </a:prstGeom>
          <a:solidFill>
            <a:srgbClr val="065A82"/>
          </a:solidFill>
          <a:ln/>
        </p:spPr>
        <p:txBody>
          <a:bodyPr/>
          <a:lstStyle/>
          <a:p>
            <a:endParaRPr lang="en-US"/>
          </a:p>
        </p:txBody>
      </p:sp>
      <p:sp>
        <p:nvSpPr>
          <p:cNvPr id="10" name="Text 8"/>
          <p:cNvSpPr/>
          <p:nvPr/>
        </p:nvSpPr>
        <p:spPr>
          <a:xfrm>
            <a:off x="4572000" y="1600200"/>
            <a:ext cx="3291840" cy="685800"/>
          </a:xfrm>
          <a:prstGeom prst="rect">
            <a:avLst/>
          </a:prstGeom>
          <a:noFill/>
          <a:ln/>
        </p:spPr>
        <p:txBody>
          <a:bodyPr wrap="square" lIns="0" tIns="0" rIns="0" bIns="0" rtlCol="0" anchor="ctr"/>
          <a:lstStyle/>
          <a:p>
            <a:pPr marL="0" indent="0">
              <a:buNone/>
            </a:pPr>
            <a:r>
              <a:rPr lang="en-US" sz="1400" b="1" dirty="0">
                <a:solidFill>
                  <a:srgbClr val="FFFFFF"/>
                </a:solidFill>
                <a:latin typeface="Cambria" pitchFamily="34" charset="0"/>
                <a:ea typeface="Cambria" pitchFamily="34" charset="-122"/>
                <a:cs typeface="Cambria" pitchFamily="34" charset="-120"/>
              </a:rPr>
              <a:t>Exploratory Analysis</a:t>
            </a:r>
            <a:endParaRPr lang="en-US" sz="1400" dirty="0"/>
          </a:p>
        </p:txBody>
      </p:sp>
      <p:sp>
        <p:nvSpPr>
          <p:cNvPr id="11" name="Text 9"/>
          <p:cNvSpPr/>
          <p:nvPr/>
        </p:nvSpPr>
        <p:spPr>
          <a:xfrm>
            <a:off x="4663440" y="2468880"/>
            <a:ext cx="3200400" cy="3108960"/>
          </a:xfrm>
          <a:prstGeom prst="rect">
            <a:avLst/>
          </a:prstGeom>
          <a:noFill/>
          <a:ln/>
        </p:spPr>
        <p:txBody>
          <a:bodyPr wrap="square" lIns="0" tIns="0" rIns="0" bIns="0" rtlCol="0" anchor="t"/>
          <a:lstStyle/>
          <a:p>
            <a:pPr marL="342900" indent="-342900">
              <a:spcAft>
                <a:spcPts val="1000"/>
              </a:spcAft>
              <a:buSzPct val="100000"/>
              <a:buChar char="•"/>
            </a:pPr>
            <a:r>
              <a:rPr lang="en-US" sz="1250" dirty="0">
                <a:solidFill>
                  <a:srgbClr val="1E293B"/>
                </a:solidFill>
                <a:latin typeface="Calibri" pitchFamily="34" charset="0"/>
                <a:ea typeface="Calibri" pitchFamily="34" charset="-122"/>
                <a:cs typeface="Calibri" pitchFamily="34" charset="-120"/>
              </a:rPr>
              <a:t>Distributions by age/region</a:t>
            </a:r>
            <a:endParaRPr lang="en-US" sz="1250" dirty="0"/>
          </a:p>
          <a:p>
            <a:pPr marL="342900" indent="-342900">
              <a:spcAft>
                <a:spcPts val="1000"/>
              </a:spcAft>
              <a:buSzPct val="100000"/>
              <a:buChar char="•"/>
            </a:pPr>
            <a:r>
              <a:rPr lang="en-US" sz="1250" dirty="0">
                <a:solidFill>
                  <a:srgbClr val="1E293B"/>
                </a:solidFill>
                <a:latin typeface="Calibri" pitchFamily="34" charset="0"/>
                <a:ea typeface="Calibri" pitchFamily="34" charset="-122"/>
                <a:cs typeface="Calibri" pitchFamily="34" charset="-120"/>
              </a:rPr>
              <a:t>Correlation of cost drivers</a:t>
            </a:r>
            <a:endParaRPr lang="en-US" sz="1250" dirty="0"/>
          </a:p>
          <a:p>
            <a:pPr marL="342900" indent="-342900">
              <a:spcAft>
                <a:spcPts val="1000"/>
              </a:spcAft>
              <a:buSzPct val="100000"/>
              <a:buChar char="•"/>
            </a:pPr>
            <a:r>
              <a:rPr lang="en-US" sz="1250" dirty="0">
                <a:solidFill>
                  <a:srgbClr val="1E293B"/>
                </a:solidFill>
                <a:latin typeface="Calibri" pitchFamily="34" charset="0"/>
                <a:ea typeface="Calibri" pitchFamily="34" charset="-122"/>
                <a:cs typeface="Calibri" pitchFamily="34" charset="-120"/>
              </a:rPr>
              <a:t>Class balance checks</a:t>
            </a:r>
            <a:endParaRPr lang="en-US" sz="1250" dirty="0"/>
          </a:p>
        </p:txBody>
      </p:sp>
      <p:sp>
        <p:nvSpPr>
          <p:cNvPr id="12" name="Shape 10"/>
          <p:cNvSpPr/>
          <p:nvPr/>
        </p:nvSpPr>
        <p:spPr>
          <a:xfrm>
            <a:off x="8229600" y="1600200"/>
            <a:ext cx="3611880" cy="4206240"/>
          </a:xfrm>
          <a:prstGeom prst="roundRect">
            <a:avLst>
              <a:gd name="adj" fmla="val 2025"/>
            </a:avLst>
          </a:prstGeom>
          <a:solidFill>
            <a:srgbClr val="F1F6F8"/>
          </a:solidFill>
          <a:ln/>
          <a:effectLst>
            <a:outerShdw blurRad="101600" dist="38100" dir="2700000" algn="bl" rotWithShape="0">
              <a:srgbClr val="000000">
                <a:alpha val="12000"/>
              </a:srgbClr>
            </a:outerShdw>
          </a:effectLst>
        </p:spPr>
        <p:txBody>
          <a:bodyPr/>
          <a:lstStyle/>
          <a:p>
            <a:endParaRPr lang="en-US"/>
          </a:p>
        </p:txBody>
      </p:sp>
      <p:sp>
        <p:nvSpPr>
          <p:cNvPr id="13" name="Shape 11"/>
          <p:cNvSpPr/>
          <p:nvPr/>
        </p:nvSpPr>
        <p:spPr>
          <a:xfrm>
            <a:off x="8229600" y="1600200"/>
            <a:ext cx="3611880" cy="685800"/>
          </a:xfrm>
          <a:prstGeom prst="rect">
            <a:avLst/>
          </a:prstGeom>
          <a:solidFill>
            <a:srgbClr val="065A82"/>
          </a:solidFill>
          <a:ln/>
        </p:spPr>
        <p:txBody>
          <a:bodyPr/>
          <a:lstStyle/>
          <a:p>
            <a:endParaRPr lang="en-US"/>
          </a:p>
        </p:txBody>
      </p:sp>
      <p:sp>
        <p:nvSpPr>
          <p:cNvPr id="14" name="Text 12"/>
          <p:cNvSpPr/>
          <p:nvPr/>
        </p:nvSpPr>
        <p:spPr>
          <a:xfrm>
            <a:off x="8412480" y="1600200"/>
            <a:ext cx="3291840" cy="685800"/>
          </a:xfrm>
          <a:prstGeom prst="rect">
            <a:avLst/>
          </a:prstGeom>
          <a:noFill/>
          <a:ln/>
        </p:spPr>
        <p:txBody>
          <a:bodyPr wrap="square" lIns="0" tIns="0" rIns="0" bIns="0" rtlCol="0" anchor="ctr"/>
          <a:lstStyle/>
          <a:p>
            <a:pPr marL="0" indent="0">
              <a:buNone/>
            </a:pPr>
            <a:r>
              <a:rPr lang="en-US" sz="1400" b="1" dirty="0">
                <a:solidFill>
                  <a:srgbClr val="FFFFFF"/>
                </a:solidFill>
                <a:latin typeface="Cambria" pitchFamily="34" charset="0"/>
                <a:ea typeface="Cambria" pitchFamily="34" charset="-122"/>
                <a:cs typeface="Cambria" pitchFamily="34" charset="-120"/>
              </a:rPr>
              <a:t>Feature Engineering</a:t>
            </a:r>
            <a:endParaRPr lang="en-US" sz="1400" dirty="0"/>
          </a:p>
        </p:txBody>
      </p:sp>
      <p:sp>
        <p:nvSpPr>
          <p:cNvPr id="15" name="Text 13"/>
          <p:cNvSpPr/>
          <p:nvPr/>
        </p:nvSpPr>
        <p:spPr>
          <a:xfrm>
            <a:off x="8503920" y="2468880"/>
            <a:ext cx="3200400" cy="3108960"/>
          </a:xfrm>
          <a:prstGeom prst="rect">
            <a:avLst/>
          </a:prstGeom>
          <a:noFill/>
          <a:ln/>
        </p:spPr>
        <p:txBody>
          <a:bodyPr wrap="square" lIns="0" tIns="0" rIns="0" bIns="0" rtlCol="0" anchor="t"/>
          <a:lstStyle/>
          <a:p>
            <a:pPr marL="342900" indent="-342900">
              <a:spcAft>
                <a:spcPts val="1000"/>
              </a:spcAft>
              <a:buSzPct val="100000"/>
              <a:buChar char="•"/>
            </a:pPr>
            <a:r>
              <a:rPr lang="en-US" sz="1250" dirty="0">
                <a:solidFill>
                  <a:srgbClr val="1E293B"/>
                </a:solidFill>
                <a:latin typeface="Calibri" pitchFamily="34" charset="0"/>
                <a:ea typeface="Calibri" pitchFamily="34" charset="-122"/>
                <a:cs typeface="Calibri" pitchFamily="34" charset="-120"/>
              </a:rPr>
              <a:t>Risk score / BMI bands</a:t>
            </a:r>
            <a:endParaRPr lang="en-US" sz="1250" dirty="0"/>
          </a:p>
          <a:p>
            <a:pPr marL="342900" indent="-342900">
              <a:spcAft>
                <a:spcPts val="1000"/>
              </a:spcAft>
              <a:buSzPct val="100000"/>
              <a:buChar char="•"/>
            </a:pPr>
            <a:r>
              <a:rPr lang="en-US" sz="1250" dirty="0">
                <a:solidFill>
                  <a:srgbClr val="1E293B"/>
                </a:solidFill>
                <a:latin typeface="Calibri" pitchFamily="34" charset="0"/>
                <a:ea typeface="Calibri" pitchFamily="34" charset="-122"/>
                <a:cs typeface="Calibri" pitchFamily="34" charset="-120"/>
              </a:rPr>
              <a:t>Utilization ratios</a:t>
            </a:r>
            <a:endParaRPr lang="en-US" sz="1250" dirty="0"/>
          </a:p>
          <a:p>
            <a:pPr marL="342900" indent="-342900">
              <a:spcAft>
                <a:spcPts val="1000"/>
              </a:spcAft>
              <a:buSzPct val="100000"/>
              <a:buChar char="•"/>
            </a:pPr>
            <a:r>
              <a:rPr lang="en-US" sz="1250" dirty="0">
                <a:solidFill>
                  <a:srgbClr val="1E293B"/>
                </a:solidFill>
                <a:latin typeface="Calibri" pitchFamily="34" charset="0"/>
                <a:ea typeface="Calibri" pitchFamily="34" charset="-122"/>
                <a:cs typeface="Calibri" pitchFamily="34" charset="-120"/>
              </a:rPr>
              <a:t>Encode categoricals</a:t>
            </a:r>
            <a:endParaRPr lang="en-US" sz="1250" dirty="0"/>
          </a:p>
        </p:txBody>
      </p:sp>
      <p:sp>
        <p:nvSpPr>
          <p:cNvPr id="16" name="Text 14"/>
          <p:cNvSpPr/>
          <p:nvPr/>
        </p:nvSpPr>
        <p:spPr>
          <a:xfrm>
            <a:off x="457200" y="6446520"/>
            <a:ext cx="6400800" cy="274320"/>
          </a:xfrm>
          <a:prstGeom prst="rect">
            <a:avLst/>
          </a:prstGeom>
          <a:noFill/>
          <a:ln/>
        </p:spPr>
        <p:txBody>
          <a:bodyPr wrap="square" lIns="0" tIns="0" rIns="0" bIns="0" rtlCol="0" anchor="ctr"/>
          <a:lstStyle/>
          <a:p>
            <a:pPr marL="0" indent="0" algn="l">
              <a:buNone/>
            </a:pPr>
            <a:r>
              <a:rPr lang="en-US" sz="900" dirty="0">
                <a:solidFill>
                  <a:srgbClr val="64748B"/>
                </a:solidFill>
                <a:latin typeface="Calibri" pitchFamily="34" charset="0"/>
                <a:ea typeface="Calibri" pitchFamily="34" charset="-122"/>
                <a:cs typeface="Calibri" pitchFamily="34" charset="-120"/>
              </a:rPr>
              <a:t>DEPI Capstone — Medical Insurance Analytics</a:t>
            </a:r>
            <a:endParaRPr lang="en-US" sz="900" dirty="0"/>
          </a:p>
        </p:txBody>
      </p:sp>
      <p:sp>
        <p:nvSpPr>
          <p:cNvPr id="17" name="Text 15"/>
          <p:cNvSpPr/>
          <p:nvPr/>
        </p:nvSpPr>
        <p:spPr>
          <a:xfrm>
            <a:off x="11274552" y="6446520"/>
            <a:ext cx="457200" cy="27432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84048"/>
            <a:ext cx="7315200" cy="274320"/>
          </a:xfrm>
          <a:prstGeom prst="rect">
            <a:avLst/>
          </a:prstGeom>
          <a:noFill/>
          <a:ln/>
        </p:spPr>
        <p:txBody>
          <a:bodyPr wrap="square" lIns="0" tIns="0" rIns="0" bIns="0" rtlCol="0" anchor="ctr"/>
          <a:lstStyle/>
          <a:p>
            <a:pPr marL="0" indent="0">
              <a:buNone/>
            </a:pPr>
            <a:r>
              <a:rPr lang="en-US" sz="1200" b="1" kern="0" spc="200" dirty="0">
                <a:solidFill>
                  <a:srgbClr val="1C7293"/>
                </a:solidFill>
                <a:latin typeface="Calibri" pitchFamily="34" charset="0"/>
                <a:ea typeface="Calibri" pitchFamily="34" charset="-122"/>
                <a:cs typeface="Calibri" pitchFamily="34" charset="-120"/>
              </a:rPr>
              <a:t>RISK FACTOR ANALYSIS</a:t>
            </a:r>
            <a:endParaRPr lang="en-US" sz="1200" dirty="0"/>
          </a:p>
        </p:txBody>
      </p:sp>
      <p:sp>
        <p:nvSpPr>
          <p:cNvPr id="3" name="Text 1"/>
          <p:cNvSpPr/>
          <p:nvPr/>
        </p:nvSpPr>
        <p:spPr>
          <a:xfrm>
            <a:off x="548640" y="621792"/>
            <a:ext cx="10515600" cy="731520"/>
          </a:xfrm>
          <a:prstGeom prst="rect">
            <a:avLst/>
          </a:prstGeom>
          <a:noFill/>
          <a:ln/>
        </p:spPr>
        <p:txBody>
          <a:bodyPr wrap="square" lIns="0" tIns="0" rIns="0" bIns="0" rtlCol="0" anchor="ctr"/>
          <a:lstStyle/>
          <a:p>
            <a:pPr marL="0" indent="0">
              <a:buNone/>
            </a:pPr>
            <a:r>
              <a:rPr lang="en-US" sz="3200" b="1" dirty="0">
                <a:solidFill>
                  <a:srgbClr val="0B1F33"/>
                </a:solidFill>
                <a:latin typeface="Cambria" pitchFamily="34" charset="0"/>
                <a:ea typeface="Cambria" pitchFamily="34" charset="-122"/>
                <a:cs typeface="Cambria" pitchFamily="34" charset="-120"/>
              </a:rPr>
              <a:t>Python — Data Cleaning</a:t>
            </a:r>
            <a:endParaRPr lang="en-US" sz="3200" dirty="0"/>
          </a:p>
        </p:txBody>
      </p:sp>
      <p:sp>
        <p:nvSpPr>
          <p:cNvPr id="4" name="Shape 2"/>
          <p:cNvSpPr/>
          <p:nvPr/>
        </p:nvSpPr>
        <p:spPr>
          <a:xfrm>
            <a:off x="548640" y="1600200"/>
            <a:ext cx="6949440" cy="4206240"/>
          </a:xfrm>
          <a:prstGeom prst="roundRect">
            <a:avLst>
              <a:gd name="adj" fmla="val 1304"/>
            </a:avLst>
          </a:prstGeom>
          <a:solidFill>
            <a:srgbClr val="F1F6F8"/>
          </a:solidFill>
          <a:ln/>
          <a:effectLst>
            <a:outerShdw blurRad="101600" dist="38100" dir="2700000" algn="bl" rotWithShape="0">
              <a:srgbClr val="000000">
                <a:alpha val="12000"/>
              </a:srgbClr>
            </a:outerShdw>
          </a:effectLst>
        </p:spPr>
        <p:txBody>
          <a:bodyPr/>
          <a:lstStyle/>
          <a:p>
            <a:endParaRPr lang="en-US"/>
          </a:p>
        </p:txBody>
      </p:sp>
      <p:sp>
        <p:nvSpPr>
          <p:cNvPr id="6" name="Text 3"/>
          <p:cNvSpPr/>
          <p:nvPr/>
        </p:nvSpPr>
        <p:spPr>
          <a:xfrm>
            <a:off x="7772400" y="1737360"/>
            <a:ext cx="3840480" cy="274320"/>
          </a:xfrm>
          <a:prstGeom prst="rect">
            <a:avLst/>
          </a:prstGeom>
          <a:noFill/>
          <a:ln/>
        </p:spPr>
        <p:txBody>
          <a:bodyPr wrap="square" lIns="0" tIns="0" rIns="0" bIns="0" rtlCol="0" anchor="ctr"/>
          <a:lstStyle/>
          <a:p>
            <a:pPr marL="0" indent="0">
              <a:buNone/>
            </a:pPr>
            <a:r>
              <a:rPr lang="en-US" sz="1250" b="1" dirty="0">
                <a:solidFill>
                  <a:srgbClr val="065A82"/>
                </a:solidFill>
                <a:latin typeface="Calibri" pitchFamily="34" charset="0"/>
                <a:ea typeface="Calibri" pitchFamily="34" charset="-122"/>
                <a:cs typeface="Calibri" pitchFamily="34" charset="-120"/>
              </a:rPr>
              <a:t>1. Data Cleaning</a:t>
            </a:r>
            <a:endParaRPr lang="en-US" sz="1250" dirty="0"/>
          </a:p>
        </p:txBody>
      </p:sp>
      <p:sp>
        <p:nvSpPr>
          <p:cNvPr id="7" name="Text 4"/>
          <p:cNvSpPr/>
          <p:nvPr/>
        </p:nvSpPr>
        <p:spPr>
          <a:xfrm>
            <a:off x="7772400" y="2029968"/>
            <a:ext cx="3840480" cy="594360"/>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Handle missing values, duplicates, and inconsistent records.</a:t>
            </a:r>
            <a:endParaRPr lang="en-US" sz="1150" dirty="0"/>
          </a:p>
        </p:txBody>
      </p:sp>
      <p:sp>
        <p:nvSpPr>
          <p:cNvPr id="8" name="Text 5"/>
          <p:cNvSpPr/>
          <p:nvPr/>
        </p:nvSpPr>
        <p:spPr>
          <a:xfrm>
            <a:off x="7772400" y="2788920"/>
            <a:ext cx="3840480" cy="274320"/>
          </a:xfrm>
          <a:prstGeom prst="rect">
            <a:avLst/>
          </a:prstGeom>
          <a:noFill/>
          <a:ln/>
        </p:spPr>
        <p:txBody>
          <a:bodyPr wrap="square" lIns="0" tIns="0" rIns="0" bIns="0" rtlCol="0" anchor="ctr"/>
          <a:lstStyle/>
          <a:p>
            <a:pPr marL="0" indent="0">
              <a:buNone/>
            </a:pPr>
            <a:r>
              <a:rPr lang="en-US" sz="1250" b="1" dirty="0">
                <a:solidFill>
                  <a:srgbClr val="065A82"/>
                </a:solidFill>
                <a:latin typeface="Calibri" pitchFamily="34" charset="0"/>
                <a:ea typeface="Calibri" pitchFamily="34" charset="-122"/>
                <a:cs typeface="Calibri" pitchFamily="34" charset="-120"/>
              </a:rPr>
              <a:t>2. Feature Engineering</a:t>
            </a:r>
            <a:endParaRPr lang="en-US" sz="1250" dirty="0"/>
          </a:p>
        </p:txBody>
      </p:sp>
      <p:sp>
        <p:nvSpPr>
          <p:cNvPr id="9" name="Text 6"/>
          <p:cNvSpPr/>
          <p:nvPr/>
        </p:nvSpPr>
        <p:spPr>
          <a:xfrm>
            <a:off x="7772400" y="3081528"/>
            <a:ext cx="3840480" cy="594360"/>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Create new variables such as BMI Category, Age Group, and Risk Score.</a:t>
            </a:r>
            <a:endParaRPr lang="en-US" sz="1150" dirty="0"/>
          </a:p>
        </p:txBody>
      </p:sp>
      <p:sp>
        <p:nvSpPr>
          <p:cNvPr id="10" name="Text 7"/>
          <p:cNvSpPr/>
          <p:nvPr/>
        </p:nvSpPr>
        <p:spPr>
          <a:xfrm>
            <a:off x="7772400" y="3840480"/>
            <a:ext cx="3840480" cy="274320"/>
          </a:xfrm>
          <a:prstGeom prst="rect">
            <a:avLst/>
          </a:prstGeom>
          <a:noFill/>
          <a:ln/>
        </p:spPr>
        <p:txBody>
          <a:bodyPr wrap="square" lIns="0" tIns="0" rIns="0" bIns="0" rtlCol="0" anchor="ctr"/>
          <a:lstStyle/>
          <a:p>
            <a:r>
              <a:rPr lang="en-US" sz="1250" b="1" dirty="0">
                <a:solidFill>
                  <a:srgbClr val="065A82"/>
                </a:solidFill>
                <a:latin typeface="Calibri" pitchFamily="34" charset="0"/>
                <a:ea typeface="Calibri" pitchFamily="34" charset="-122"/>
                <a:cs typeface="Calibri" pitchFamily="34" charset="-120"/>
              </a:rPr>
              <a:t>3. Data Preparation</a:t>
            </a:r>
            <a:endParaRPr lang="en-US" sz="1250" dirty="0"/>
          </a:p>
        </p:txBody>
      </p:sp>
      <p:sp>
        <p:nvSpPr>
          <p:cNvPr id="11" name="Text 8"/>
          <p:cNvSpPr/>
          <p:nvPr/>
        </p:nvSpPr>
        <p:spPr>
          <a:xfrm>
            <a:off x="7772400" y="4133088"/>
            <a:ext cx="3840480" cy="594360"/>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Prepare the dataset for exploratory analysis and visualization</a:t>
            </a:r>
            <a:endParaRPr lang="en-US" sz="1150" dirty="0"/>
          </a:p>
        </p:txBody>
      </p:sp>
      <p:sp>
        <p:nvSpPr>
          <p:cNvPr id="12" name="Text 9"/>
          <p:cNvSpPr/>
          <p:nvPr/>
        </p:nvSpPr>
        <p:spPr>
          <a:xfrm>
            <a:off x="457200" y="6446520"/>
            <a:ext cx="6400800" cy="274320"/>
          </a:xfrm>
          <a:prstGeom prst="rect">
            <a:avLst/>
          </a:prstGeom>
          <a:noFill/>
          <a:ln/>
        </p:spPr>
        <p:txBody>
          <a:bodyPr wrap="square" lIns="0" tIns="0" rIns="0" bIns="0" rtlCol="0" anchor="ctr"/>
          <a:lstStyle/>
          <a:p>
            <a:pPr marL="0" indent="0" algn="l">
              <a:buNone/>
            </a:pPr>
            <a:r>
              <a:rPr lang="en-US" sz="900" dirty="0">
                <a:solidFill>
                  <a:srgbClr val="64748B"/>
                </a:solidFill>
                <a:latin typeface="Calibri" pitchFamily="34" charset="0"/>
                <a:ea typeface="Calibri" pitchFamily="34" charset="-122"/>
                <a:cs typeface="Calibri" pitchFamily="34" charset="-120"/>
              </a:rPr>
              <a:t>DEPI Capstone — Medical Insurance Analytics</a:t>
            </a:r>
            <a:endParaRPr lang="en-US" sz="900" dirty="0"/>
          </a:p>
        </p:txBody>
      </p:sp>
      <p:sp>
        <p:nvSpPr>
          <p:cNvPr id="13" name="Text 10"/>
          <p:cNvSpPr/>
          <p:nvPr/>
        </p:nvSpPr>
        <p:spPr>
          <a:xfrm>
            <a:off x="11274552" y="6446520"/>
            <a:ext cx="457200" cy="27432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7</a:t>
            </a:r>
            <a:endParaRPr lang="en-US" sz="900" dirty="0"/>
          </a:p>
        </p:txBody>
      </p:sp>
      <p:pic>
        <p:nvPicPr>
          <p:cNvPr id="15" name="Picture 14">
            <a:extLst>
              <a:ext uri="{FF2B5EF4-FFF2-40B4-BE49-F238E27FC236}">
                <a16:creationId xmlns:a16="http://schemas.microsoft.com/office/drawing/2014/main" id="{E47CF696-3682-7841-2DF6-8937CFE03B02}"/>
              </a:ext>
            </a:extLst>
          </p:cNvPr>
          <p:cNvPicPr>
            <a:picLocks noChangeAspect="1"/>
          </p:cNvPicPr>
          <p:nvPr/>
        </p:nvPicPr>
        <p:blipFill>
          <a:blip r:embed="rId3"/>
          <a:stretch>
            <a:fillRect/>
          </a:stretch>
        </p:blipFill>
        <p:spPr>
          <a:xfrm>
            <a:off x="945140" y="1737360"/>
            <a:ext cx="5471121" cy="3800711"/>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0B309999-2279-6F75-0C7F-7E19A6EA25A8}"/>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D85781C8-6174-132B-1C92-41A3B07E74AC}"/>
              </a:ext>
            </a:extLst>
          </p:cNvPr>
          <p:cNvSpPr/>
          <p:nvPr/>
        </p:nvSpPr>
        <p:spPr>
          <a:xfrm>
            <a:off x="548640" y="384048"/>
            <a:ext cx="7315200" cy="274320"/>
          </a:xfrm>
          <a:prstGeom prst="rect">
            <a:avLst/>
          </a:prstGeom>
          <a:noFill/>
          <a:ln/>
        </p:spPr>
        <p:txBody>
          <a:bodyPr wrap="square" lIns="0" tIns="0" rIns="0" bIns="0" rtlCol="0" anchor="ctr"/>
          <a:lstStyle/>
          <a:p>
            <a:pPr marL="0" indent="0">
              <a:buNone/>
            </a:pPr>
            <a:r>
              <a:rPr lang="en-US" sz="1200" b="1" kern="0" spc="200" dirty="0">
                <a:solidFill>
                  <a:srgbClr val="1C7293"/>
                </a:solidFill>
                <a:latin typeface="Calibri" pitchFamily="34" charset="0"/>
                <a:ea typeface="Calibri" pitchFamily="34" charset="-122"/>
                <a:cs typeface="Calibri" pitchFamily="34" charset="-120"/>
              </a:rPr>
              <a:t>RISK FACTOR ANALYSIS</a:t>
            </a:r>
            <a:endParaRPr lang="en-US" sz="1200" dirty="0"/>
          </a:p>
        </p:txBody>
      </p:sp>
      <p:sp>
        <p:nvSpPr>
          <p:cNvPr id="3" name="Text 1">
            <a:extLst>
              <a:ext uri="{FF2B5EF4-FFF2-40B4-BE49-F238E27FC236}">
                <a16:creationId xmlns:a16="http://schemas.microsoft.com/office/drawing/2014/main" id="{A6B8127E-1448-385C-E8D5-BC686CF2977F}"/>
              </a:ext>
            </a:extLst>
          </p:cNvPr>
          <p:cNvSpPr/>
          <p:nvPr/>
        </p:nvSpPr>
        <p:spPr>
          <a:xfrm>
            <a:off x="548640" y="621792"/>
            <a:ext cx="10515600" cy="731520"/>
          </a:xfrm>
          <a:prstGeom prst="rect">
            <a:avLst/>
          </a:prstGeom>
          <a:noFill/>
          <a:ln/>
        </p:spPr>
        <p:txBody>
          <a:bodyPr wrap="square" lIns="0" tIns="0" rIns="0" bIns="0" rtlCol="0" anchor="ctr"/>
          <a:lstStyle/>
          <a:p>
            <a:r>
              <a:rPr lang="en-US" sz="3200" b="1" dirty="0">
                <a:solidFill>
                  <a:srgbClr val="0B1F33"/>
                </a:solidFill>
                <a:latin typeface="Cambria" pitchFamily="34" charset="0"/>
                <a:ea typeface="Cambria" pitchFamily="34" charset="-122"/>
                <a:cs typeface="Cambria" pitchFamily="34" charset="-120"/>
              </a:rPr>
              <a:t>Python — </a:t>
            </a:r>
            <a:r>
              <a:rPr lang="ar-EG" sz="3200" dirty="0"/>
              <a:t>Data Model</a:t>
            </a:r>
            <a:endParaRPr lang="en-US" sz="3200" dirty="0"/>
          </a:p>
        </p:txBody>
      </p:sp>
      <p:sp>
        <p:nvSpPr>
          <p:cNvPr id="4" name="Shape 2">
            <a:extLst>
              <a:ext uri="{FF2B5EF4-FFF2-40B4-BE49-F238E27FC236}">
                <a16:creationId xmlns:a16="http://schemas.microsoft.com/office/drawing/2014/main" id="{CD88350C-BB27-7E14-FE85-0176B54AB152}"/>
              </a:ext>
            </a:extLst>
          </p:cNvPr>
          <p:cNvSpPr/>
          <p:nvPr/>
        </p:nvSpPr>
        <p:spPr>
          <a:xfrm>
            <a:off x="1384300" y="1600200"/>
            <a:ext cx="4381500" cy="4206240"/>
          </a:xfrm>
          <a:prstGeom prst="roundRect">
            <a:avLst>
              <a:gd name="adj" fmla="val 1304"/>
            </a:avLst>
          </a:prstGeom>
          <a:solidFill>
            <a:srgbClr val="F1F6F8"/>
          </a:solidFill>
          <a:ln/>
          <a:effectLst>
            <a:outerShdw blurRad="101600" dist="38100" dir="2700000" algn="bl" rotWithShape="0">
              <a:srgbClr val="000000">
                <a:alpha val="12000"/>
              </a:srgbClr>
            </a:outerShdw>
          </a:effectLst>
        </p:spPr>
        <p:txBody>
          <a:bodyPr/>
          <a:lstStyle/>
          <a:p>
            <a:endParaRPr lang="en-US"/>
          </a:p>
        </p:txBody>
      </p:sp>
      <p:sp>
        <p:nvSpPr>
          <p:cNvPr id="6" name="Text 3">
            <a:extLst>
              <a:ext uri="{FF2B5EF4-FFF2-40B4-BE49-F238E27FC236}">
                <a16:creationId xmlns:a16="http://schemas.microsoft.com/office/drawing/2014/main" id="{9CBC415A-CDC6-A213-3F21-D4F771980D8C}"/>
              </a:ext>
            </a:extLst>
          </p:cNvPr>
          <p:cNvSpPr/>
          <p:nvPr/>
        </p:nvSpPr>
        <p:spPr>
          <a:xfrm>
            <a:off x="7772400" y="1737360"/>
            <a:ext cx="3840480" cy="274320"/>
          </a:xfrm>
          <a:prstGeom prst="rect">
            <a:avLst/>
          </a:prstGeom>
          <a:noFill/>
          <a:ln/>
        </p:spPr>
        <p:txBody>
          <a:bodyPr wrap="square" lIns="0" tIns="0" rIns="0" bIns="0" rtlCol="0" anchor="ctr"/>
          <a:lstStyle/>
          <a:p>
            <a:pPr marL="0" indent="0">
              <a:buNone/>
            </a:pPr>
            <a:r>
              <a:rPr lang="en-US" sz="1250" b="1" dirty="0">
                <a:solidFill>
                  <a:srgbClr val="065A82"/>
                </a:solidFill>
                <a:latin typeface="Calibri" pitchFamily="34" charset="0"/>
                <a:ea typeface="Calibri" pitchFamily="34" charset="-122"/>
                <a:cs typeface="Calibri" pitchFamily="34" charset="-120"/>
              </a:rPr>
              <a:t>1. Data Structure</a:t>
            </a:r>
            <a:endParaRPr lang="en-US" sz="1250" dirty="0"/>
          </a:p>
        </p:txBody>
      </p:sp>
      <p:sp>
        <p:nvSpPr>
          <p:cNvPr id="7" name="Text 4">
            <a:extLst>
              <a:ext uri="{FF2B5EF4-FFF2-40B4-BE49-F238E27FC236}">
                <a16:creationId xmlns:a16="http://schemas.microsoft.com/office/drawing/2014/main" id="{4EEABE88-1E21-78F1-B971-56115750C3A0}"/>
              </a:ext>
            </a:extLst>
          </p:cNvPr>
          <p:cNvSpPr/>
          <p:nvPr/>
        </p:nvSpPr>
        <p:spPr>
          <a:xfrm>
            <a:off x="7772400" y="2029968"/>
            <a:ext cx="3840480" cy="594360"/>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Organize the dataset into fact and dimension tables.</a:t>
            </a:r>
            <a:endParaRPr lang="en-US" sz="1150" dirty="0"/>
          </a:p>
        </p:txBody>
      </p:sp>
      <p:sp>
        <p:nvSpPr>
          <p:cNvPr id="8" name="Text 5">
            <a:extLst>
              <a:ext uri="{FF2B5EF4-FFF2-40B4-BE49-F238E27FC236}">
                <a16:creationId xmlns:a16="http://schemas.microsoft.com/office/drawing/2014/main" id="{A7E8A534-AB1B-0D73-B4CB-AD8F9B0C7B13}"/>
              </a:ext>
            </a:extLst>
          </p:cNvPr>
          <p:cNvSpPr/>
          <p:nvPr/>
        </p:nvSpPr>
        <p:spPr>
          <a:xfrm>
            <a:off x="7772400" y="2788920"/>
            <a:ext cx="3840480" cy="274320"/>
          </a:xfrm>
          <a:prstGeom prst="rect">
            <a:avLst/>
          </a:prstGeom>
          <a:noFill/>
          <a:ln/>
        </p:spPr>
        <p:txBody>
          <a:bodyPr wrap="square" lIns="0" tIns="0" rIns="0" bIns="0" rtlCol="0" anchor="ctr"/>
          <a:lstStyle/>
          <a:p>
            <a:pPr marL="0" indent="0">
              <a:buNone/>
            </a:pPr>
            <a:r>
              <a:rPr lang="en-US" sz="1250" b="1" dirty="0">
                <a:solidFill>
                  <a:srgbClr val="065A82"/>
                </a:solidFill>
                <a:latin typeface="Calibri" pitchFamily="34" charset="0"/>
                <a:ea typeface="Calibri" pitchFamily="34" charset="-122"/>
                <a:cs typeface="Calibri" pitchFamily="34" charset="-120"/>
              </a:rPr>
              <a:t>2. Feature Relationships</a:t>
            </a:r>
            <a:endParaRPr lang="en-US" sz="1250" dirty="0"/>
          </a:p>
        </p:txBody>
      </p:sp>
      <p:sp>
        <p:nvSpPr>
          <p:cNvPr id="9" name="Text 6">
            <a:extLst>
              <a:ext uri="{FF2B5EF4-FFF2-40B4-BE49-F238E27FC236}">
                <a16:creationId xmlns:a16="http://schemas.microsoft.com/office/drawing/2014/main" id="{0330D4B6-8931-7ABF-F332-E7E73531A79E}"/>
              </a:ext>
            </a:extLst>
          </p:cNvPr>
          <p:cNvSpPr/>
          <p:nvPr/>
        </p:nvSpPr>
        <p:spPr>
          <a:xfrm>
            <a:off x="7772400" y="3081528"/>
            <a:ext cx="3840480" cy="594360"/>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Define relationships between customer, policy, clinical, and lifestyle data.</a:t>
            </a:r>
            <a:endParaRPr lang="en-US" sz="1150" dirty="0"/>
          </a:p>
        </p:txBody>
      </p:sp>
      <p:sp>
        <p:nvSpPr>
          <p:cNvPr id="10" name="Text 7">
            <a:extLst>
              <a:ext uri="{FF2B5EF4-FFF2-40B4-BE49-F238E27FC236}">
                <a16:creationId xmlns:a16="http://schemas.microsoft.com/office/drawing/2014/main" id="{F92EBA7B-E2B9-3F0C-7808-62E6AA7C49EE}"/>
              </a:ext>
            </a:extLst>
          </p:cNvPr>
          <p:cNvSpPr/>
          <p:nvPr/>
        </p:nvSpPr>
        <p:spPr>
          <a:xfrm>
            <a:off x="7772400" y="3840480"/>
            <a:ext cx="3840480" cy="274320"/>
          </a:xfrm>
          <a:prstGeom prst="rect">
            <a:avLst/>
          </a:prstGeom>
          <a:noFill/>
          <a:ln/>
        </p:spPr>
        <p:txBody>
          <a:bodyPr wrap="square" lIns="0" tIns="0" rIns="0" bIns="0" rtlCol="0" anchor="ctr"/>
          <a:lstStyle/>
          <a:p>
            <a:pPr marL="0" indent="0">
              <a:buNone/>
            </a:pPr>
            <a:r>
              <a:rPr lang="en-US" sz="1250" b="1" dirty="0">
                <a:solidFill>
                  <a:srgbClr val="065A82"/>
                </a:solidFill>
                <a:latin typeface="Calibri" pitchFamily="34" charset="0"/>
                <a:ea typeface="Calibri" pitchFamily="34" charset="-122"/>
                <a:cs typeface="Calibri" pitchFamily="34" charset="-120"/>
              </a:rPr>
              <a:t>3. Analytical Model</a:t>
            </a:r>
            <a:endParaRPr lang="en-US" sz="1250" dirty="0"/>
          </a:p>
        </p:txBody>
      </p:sp>
      <p:sp>
        <p:nvSpPr>
          <p:cNvPr id="11" name="Text 8">
            <a:extLst>
              <a:ext uri="{FF2B5EF4-FFF2-40B4-BE49-F238E27FC236}">
                <a16:creationId xmlns:a16="http://schemas.microsoft.com/office/drawing/2014/main" id="{CD70CC6B-EE99-6C49-9B2F-F2B766B89BD4}"/>
              </a:ext>
            </a:extLst>
          </p:cNvPr>
          <p:cNvSpPr/>
          <p:nvPr/>
        </p:nvSpPr>
        <p:spPr>
          <a:xfrm>
            <a:off x="7772400" y="4133088"/>
            <a:ext cx="3840480" cy="594360"/>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Build a model that supports efficient analysis and reporting.</a:t>
            </a:r>
            <a:endParaRPr lang="en-US" sz="1150" dirty="0"/>
          </a:p>
        </p:txBody>
      </p:sp>
      <p:sp>
        <p:nvSpPr>
          <p:cNvPr id="12" name="Text 9">
            <a:extLst>
              <a:ext uri="{FF2B5EF4-FFF2-40B4-BE49-F238E27FC236}">
                <a16:creationId xmlns:a16="http://schemas.microsoft.com/office/drawing/2014/main" id="{7450B8BC-3AF4-BD87-0063-19C61922E17F}"/>
              </a:ext>
            </a:extLst>
          </p:cNvPr>
          <p:cNvSpPr/>
          <p:nvPr/>
        </p:nvSpPr>
        <p:spPr>
          <a:xfrm>
            <a:off x="457200" y="6446520"/>
            <a:ext cx="6400800" cy="274320"/>
          </a:xfrm>
          <a:prstGeom prst="rect">
            <a:avLst/>
          </a:prstGeom>
          <a:noFill/>
          <a:ln/>
        </p:spPr>
        <p:txBody>
          <a:bodyPr wrap="square" lIns="0" tIns="0" rIns="0" bIns="0" rtlCol="0" anchor="ctr"/>
          <a:lstStyle/>
          <a:p>
            <a:pPr marL="0" indent="0" algn="l">
              <a:buNone/>
            </a:pPr>
            <a:r>
              <a:rPr lang="en-US" sz="900" dirty="0">
                <a:solidFill>
                  <a:srgbClr val="64748B"/>
                </a:solidFill>
                <a:latin typeface="Calibri" pitchFamily="34" charset="0"/>
                <a:ea typeface="Calibri" pitchFamily="34" charset="-122"/>
                <a:cs typeface="Calibri" pitchFamily="34" charset="-120"/>
              </a:rPr>
              <a:t>DEPI Capstone — Medical Insurance Analytics</a:t>
            </a:r>
            <a:endParaRPr lang="en-US" sz="900" dirty="0"/>
          </a:p>
        </p:txBody>
      </p:sp>
      <p:sp>
        <p:nvSpPr>
          <p:cNvPr id="13" name="Text 10">
            <a:extLst>
              <a:ext uri="{FF2B5EF4-FFF2-40B4-BE49-F238E27FC236}">
                <a16:creationId xmlns:a16="http://schemas.microsoft.com/office/drawing/2014/main" id="{38F4924E-72FA-C469-A69C-E8A674309A1D}"/>
              </a:ext>
            </a:extLst>
          </p:cNvPr>
          <p:cNvSpPr/>
          <p:nvPr/>
        </p:nvSpPr>
        <p:spPr>
          <a:xfrm>
            <a:off x="11274552" y="6446520"/>
            <a:ext cx="457200" cy="27432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7</a:t>
            </a:r>
            <a:endParaRPr lang="en-US" sz="900" dirty="0"/>
          </a:p>
        </p:txBody>
      </p:sp>
      <p:pic>
        <p:nvPicPr>
          <p:cNvPr id="14" name="Picture 13">
            <a:extLst>
              <a:ext uri="{FF2B5EF4-FFF2-40B4-BE49-F238E27FC236}">
                <a16:creationId xmlns:a16="http://schemas.microsoft.com/office/drawing/2014/main" id="{E46E4018-5174-E1CA-7CD4-BF6385EAE877}"/>
              </a:ext>
            </a:extLst>
          </p:cNvPr>
          <p:cNvPicPr>
            <a:picLocks noChangeAspect="1"/>
          </p:cNvPicPr>
          <p:nvPr/>
        </p:nvPicPr>
        <p:blipFill>
          <a:blip r:embed="rId3"/>
          <a:srcRect/>
          <a:stretch/>
        </p:blipFill>
        <p:spPr>
          <a:xfrm>
            <a:off x="1612900" y="1760573"/>
            <a:ext cx="4000499" cy="3830630"/>
          </a:xfrm>
          <a:prstGeom prst="rect">
            <a:avLst/>
          </a:prstGeom>
        </p:spPr>
      </p:pic>
    </p:spTree>
    <p:extLst>
      <p:ext uri="{BB962C8B-B14F-4D97-AF65-F5344CB8AC3E}">
        <p14:creationId xmlns:p14="http://schemas.microsoft.com/office/powerpoint/2010/main" val="267799921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BE0A5F11-81A5-FF70-07DC-ECF326C58EC2}"/>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18FBE4D1-F8AA-7FA7-7FAD-B66CF6A47B12}"/>
              </a:ext>
            </a:extLst>
          </p:cNvPr>
          <p:cNvSpPr/>
          <p:nvPr/>
        </p:nvSpPr>
        <p:spPr>
          <a:xfrm>
            <a:off x="548640" y="384048"/>
            <a:ext cx="7315200" cy="274320"/>
          </a:xfrm>
          <a:prstGeom prst="rect">
            <a:avLst/>
          </a:prstGeom>
          <a:noFill/>
          <a:ln/>
        </p:spPr>
        <p:txBody>
          <a:bodyPr wrap="square" lIns="0" tIns="0" rIns="0" bIns="0" rtlCol="0" anchor="ctr"/>
          <a:lstStyle/>
          <a:p>
            <a:pPr marL="0" indent="0">
              <a:buNone/>
            </a:pPr>
            <a:r>
              <a:rPr lang="en-US" sz="1200" b="1" kern="0" spc="200" dirty="0">
                <a:solidFill>
                  <a:srgbClr val="1C7293"/>
                </a:solidFill>
                <a:latin typeface="Calibri" pitchFamily="34" charset="0"/>
                <a:ea typeface="Calibri" pitchFamily="34" charset="-122"/>
                <a:cs typeface="Calibri" pitchFamily="34" charset="-120"/>
              </a:rPr>
              <a:t>RISK FACTOR ANALYSIS</a:t>
            </a:r>
            <a:endParaRPr lang="en-US" sz="1200" dirty="0"/>
          </a:p>
        </p:txBody>
      </p:sp>
      <p:sp>
        <p:nvSpPr>
          <p:cNvPr id="3" name="Text 1">
            <a:extLst>
              <a:ext uri="{FF2B5EF4-FFF2-40B4-BE49-F238E27FC236}">
                <a16:creationId xmlns:a16="http://schemas.microsoft.com/office/drawing/2014/main" id="{B58A7F70-7283-D94E-C8C6-9E4E905E4213}"/>
              </a:ext>
            </a:extLst>
          </p:cNvPr>
          <p:cNvSpPr/>
          <p:nvPr/>
        </p:nvSpPr>
        <p:spPr>
          <a:xfrm>
            <a:off x="548640" y="621792"/>
            <a:ext cx="10515600" cy="731520"/>
          </a:xfrm>
          <a:prstGeom prst="rect">
            <a:avLst/>
          </a:prstGeom>
          <a:noFill/>
          <a:ln/>
        </p:spPr>
        <p:txBody>
          <a:bodyPr wrap="square" lIns="0" tIns="0" rIns="0" bIns="0" rtlCol="0" anchor="ctr"/>
          <a:lstStyle/>
          <a:p>
            <a:r>
              <a:rPr lang="en-US" sz="3200" b="1" dirty="0">
                <a:solidFill>
                  <a:srgbClr val="0B1F33"/>
                </a:solidFill>
                <a:latin typeface="Cambria" pitchFamily="34" charset="0"/>
                <a:ea typeface="Cambria" pitchFamily="34" charset="-122"/>
                <a:cs typeface="Cambria" pitchFamily="34" charset="-120"/>
              </a:rPr>
              <a:t>Python — </a:t>
            </a:r>
            <a:r>
              <a:rPr lang="en-US" sz="3200" dirty="0">
                <a:solidFill>
                  <a:srgbClr val="0B1F33"/>
                </a:solidFill>
                <a:latin typeface="Cambria" pitchFamily="34" charset="0"/>
                <a:ea typeface="Cambria" pitchFamily="34" charset="-122"/>
                <a:cs typeface="Cambria" pitchFamily="34" charset="-120"/>
              </a:rPr>
              <a:t>Analysis and</a:t>
            </a:r>
            <a:r>
              <a:rPr lang="ar-EG" sz="3200" dirty="0">
                <a:solidFill>
                  <a:srgbClr val="0B1F33"/>
                </a:solidFill>
                <a:latin typeface="Cambria" pitchFamily="34" charset="0"/>
                <a:ea typeface="Cambria" pitchFamily="34" charset="-122"/>
                <a:cs typeface="Cambria" pitchFamily="34" charset="-120"/>
              </a:rPr>
              <a:t> </a:t>
            </a:r>
            <a:r>
              <a:rPr lang="ar-EG" sz="3200" dirty="0"/>
              <a:t>Risk Factors</a:t>
            </a:r>
            <a:endParaRPr lang="en-US" sz="3200" dirty="0"/>
          </a:p>
        </p:txBody>
      </p:sp>
      <p:sp>
        <p:nvSpPr>
          <p:cNvPr id="4" name="Shape 2">
            <a:extLst>
              <a:ext uri="{FF2B5EF4-FFF2-40B4-BE49-F238E27FC236}">
                <a16:creationId xmlns:a16="http://schemas.microsoft.com/office/drawing/2014/main" id="{9F92E77A-4261-0D69-6FE0-BB4E8BFFE09C}"/>
              </a:ext>
            </a:extLst>
          </p:cNvPr>
          <p:cNvSpPr/>
          <p:nvPr/>
        </p:nvSpPr>
        <p:spPr>
          <a:xfrm>
            <a:off x="548640" y="1600200"/>
            <a:ext cx="6949440" cy="4206240"/>
          </a:xfrm>
          <a:prstGeom prst="roundRect">
            <a:avLst>
              <a:gd name="adj" fmla="val 1304"/>
            </a:avLst>
          </a:prstGeom>
          <a:solidFill>
            <a:srgbClr val="F1F6F8"/>
          </a:solidFill>
          <a:ln/>
          <a:effectLst>
            <a:outerShdw blurRad="101600" dist="38100" dir="2700000" algn="bl" rotWithShape="0">
              <a:srgbClr val="000000">
                <a:alpha val="12000"/>
              </a:srgbClr>
            </a:outerShdw>
          </a:effectLst>
        </p:spPr>
        <p:txBody>
          <a:bodyPr/>
          <a:lstStyle/>
          <a:p>
            <a:endParaRPr lang="en-US"/>
          </a:p>
        </p:txBody>
      </p:sp>
      <p:sp>
        <p:nvSpPr>
          <p:cNvPr id="6" name="Text 3">
            <a:extLst>
              <a:ext uri="{FF2B5EF4-FFF2-40B4-BE49-F238E27FC236}">
                <a16:creationId xmlns:a16="http://schemas.microsoft.com/office/drawing/2014/main" id="{7676B9B8-9658-3FFC-5A88-888EA1245D35}"/>
              </a:ext>
            </a:extLst>
          </p:cNvPr>
          <p:cNvSpPr/>
          <p:nvPr/>
        </p:nvSpPr>
        <p:spPr>
          <a:xfrm>
            <a:off x="7772400" y="1737360"/>
            <a:ext cx="3840480" cy="274320"/>
          </a:xfrm>
          <a:prstGeom prst="rect">
            <a:avLst/>
          </a:prstGeom>
          <a:noFill/>
          <a:ln/>
        </p:spPr>
        <p:txBody>
          <a:bodyPr wrap="square" lIns="0" tIns="0" rIns="0" bIns="0" rtlCol="0" anchor="ctr"/>
          <a:lstStyle/>
          <a:p>
            <a:pPr marL="0" indent="0">
              <a:buNone/>
            </a:pPr>
            <a:r>
              <a:rPr lang="en-US" sz="1250" b="1" dirty="0">
                <a:solidFill>
                  <a:srgbClr val="065A82"/>
                </a:solidFill>
                <a:latin typeface="Calibri" pitchFamily="34" charset="0"/>
                <a:ea typeface="Calibri" pitchFamily="34" charset="-122"/>
                <a:cs typeface="Calibri" pitchFamily="34" charset="-120"/>
              </a:rPr>
              <a:t>1. Risk Factor Analysis</a:t>
            </a:r>
            <a:endParaRPr lang="en-US" sz="1250" dirty="0"/>
          </a:p>
        </p:txBody>
      </p:sp>
      <p:sp>
        <p:nvSpPr>
          <p:cNvPr id="7" name="Text 4">
            <a:extLst>
              <a:ext uri="{FF2B5EF4-FFF2-40B4-BE49-F238E27FC236}">
                <a16:creationId xmlns:a16="http://schemas.microsoft.com/office/drawing/2014/main" id="{0971A721-670E-9EF0-0DC1-299BC83093A5}"/>
              </a:ext>
            </a:extLst>
          </p:cNvPr>
          <p:cNvSpPr/>
          <p:nvPr/>
        </p:nvSpPr>
        <p:spPr>
          <a:xfrm>
            <a:off x="7772400" y="2029968"/>
            <a:ext cx="3840480" cy="594360"/>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Explore how smoking, BMI, and chronic diseases affect medical costs.</a:t>
            </a:r>
            <a:endParaRPr lang="en-US" sz="1150" dirty="0"/>
          </a:p>
        </p:txBody>
      </p:sp>
      <p:sp>
        <p:nvSpPr>
          <p:cNvPr id="8" name="Text 5">
            <a:extLst>
              <a:ext uri="{FF2B5EF4-FFF2-40B4-BE49-F238E27FC236}">
                <a16:creationId xmlns:a16="http://schemas.microsoft.com/office/drawing/2014/main" id="{15672129-2D13-0A34-0795-3F780E888C8D}"/>
              </a:ext>
            </a:extLst>
          </p:cNvPr>
          <p:cNvSpPr/>
          <p:nvPr/>
        </p:nvSpPr>
        <p:spPr>
          <a:xfrm>
            <a:off x="7772400" y="2788920"/>
            <a:ext cx="3840480" cy="274320"/>
          </a:xfrm>
          <a:prstGeom prst="rect">
            <a:avLst/>
          </a:prstGeom>
          <a:noFill/>
          <a:ln/>
        </p:spPr>
        <p:txBody>
          <a:bodyPr wrap="square" lIns="0" tIns="0" rIns="0" bIns="0" rtlCol="0" anchor="ctr"/>
          <a:lstStyle/>
          <a:p>
            <a:pPr marL="0" indent="0">
              <a:buNone/>
            </a:pPr>
            <a:r>
              <a:rPr lang="en-US" sz="1250" b="1" dirty="0">
                <a:solidFill>
                  <a:srgbClr val="065A82"/>
                </a:solidFill>
                <a:latin typeface="Calibri" pitchFamily="34" charset="0"/>
                <a:ea typeface="Calibri" pitchFamily="34" charset="-122"/>
                <a:cs typeface="Calibri" pitchFamily="34" charset="-120"/>
              </a:rPr>
              <a:t>2. Exploratory Insights</a:t>
            </a:r>
            <a:endParaRPr lang="en-US" sz="1250" dirty="0"/>
          </a:p>
        </p:txBody>
      </p:sp>
      <p:sp>
        <p:nvSpPr>
          <p:cNvPr id="9" name="Text 6">
            <a:extLst>
              <a:ext uri="{FF2B5EF4-FFF2-40B4-BE49-F238E27FC236}">
                <a16:creationId xmlns:a16="http://schemas.microsoft.com/office/drawing/2014/main" id="{F87E9582-E10C-096B-44DD-860F4A3C20E5}"/>
              </a:ext>
            </a:extLst>
          </p:cNvPr>
          <p:cNvSpPr/>
          <p:nvPr/>
        </p:nvSpPr>
        <p:spPr>
          <a:xfrm>
            <a:off x="7772400" y="3081528"/>
            <a:ext cx="3840480" cy="594360"/>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Identify trends and patterns using descriptive statistics and visualizations.</a:t>
            </a:r>
            <a:endParaRPr lang="en-US" sz="1150" dirty="0"/>
          </a:p>
        </p:txBody>
      </p:sp>
      <p:sp>
        <p:nvSpPr>
          <p:cNvPr id="10" name="Text 7">
            <a:extLst>
              <a:ext uri="{FF2B5EF4-FFF2-40B4-BE49-F238E27FC236}">
                <a16:creationId xmlns:a16="http://schemas.microsoft.com/office/drawing/2014/main" id="{7912A879-5206-F2BE-C6EB-6F2C2DECE4DD}"/>
              </a:ext>
            </a:extLst>
          </p:cNvPr>
          <p:cNvSpPr/>
          <p:nvPr/>
        </p:nvSpPr>
        <p:spPr>
          <a:xfrm>
            <a:off x="7772400" y="3840480"/>
            <a:ext cx="3840480" cy="274320"/>
          </a:xfrm>
          <a:prstGeom prst="rect">
            <a:avLst/>
          </a:prstGeom>
          <a:noFill/>
          <a:ln/>
        </p:spPr>
        <p:txBody>
          <a:bodyPr wrap="square" lIns="0" tIns="0" rIns="0" bIns="0" rtlCol="0" anchor="ctr"/>
          <a:lstStyle/>
          <a:p>
            <a:pPr marL="0" indent="0">
              <a:buNone/>
            </a:pPr>
            <a:r>
              <a:rPr lang="en-US" sz="1250" b="1" dirty="0">
                <a:solidFill>
                  <a:srgbClr val="065A82"/>
                </a:solidFill>
                <a:latin typeface="Calibri" pitchFamily="34" charset="0"/>
                <a:ea typeface="Calibri" pitchFamily="34" charset="-122"/>
                <a:cs typeface="Calibri" pitchFamily="34" charset="-120"/>
              </a:rPr>
              <a:t>3. Key Findings</a:t>
            </a:r>
            <a:endParaRPr lang="en-US" sz="1250" dirty="0"/>
          </a:p>
        </p:txBody>
      </p:sp>
      <p:sp>
        <p:nvSpPr>
          <p:cNvPr id="11" name="Text 8">
            <a:extLst>
              <a:ext uri="{FF2B5EF4-FFF2-40B4-BE49-F238E27FC236}">
                <a16:creationId xmlns:a16="http://schemas.microsoft.com/office/drawing/2014/main" id="{5A5054FB-56E9-A2E4-8A6B-BB893C8B7995}"/>
              </a:ext>
            </a:extLst>
          </p:cNvPr>
          <p:cNvSpPr/>
          <p:nvPr/>
        </p:nvSpPr>
        <p:spPr>
          <a:xfrm>
            <a:off x="7772400" y="4133088"/>
            <a:ext cx="3840480" cy="594360"/>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Detect the strongest factors associated with higher healthcare expenses.</a:t>
            </a:r>
            <a:endParaRPr lang="en-US" sz="1150" dirty="0"/>
          </a:p>
        </p:txBody>
      </p:sp>
      <p:sp>
        <p:nvSpPr>
          <p:cNvPr id="12" name="Text 9">
            <a:extLst>
              <a:ext uri="{FF2B5EF4-FFF2-40B4-BE49-F238E27FC236}">
                <a16:creationId xmlns:a16="http://schemas.microsoft.com/office/drawing/2014/main" id="{E9E96FFC-E90C-B86A-3C58-9D1408E45192}"/>
              </a:ext>
            </a:extLst>
          </p:cNvPr>
          <p:cNvSpPr/>
          <p:nvPr/>
        </p:nvSpPr>
        <p:spPr>
          <a:xfrm>
            <a:off x="457200" y="6446520"/>
            <a:ext cx="6400800" cy="274320"/>
          </a:xfrm>
          <a:prstGeom prst="rect">
            <a:avLst/>
          </a:prstGeom>
          <a:noFill/>
          <a:ln/>
        </p:spPr>
        <p:txBody>
          <a:bodyPr wrap="square" lIns="0" tIns="0" rIns="0" bIns="0" rtlCol="0" anchor="ctr"/>
          <a:lstStyle/>
          <a:p>
            <a:pPr marL="0" indent="0" algn="l">
              <a:buNone/>
            </a:pPr>
            <a:r>
              <a:rPr lang="en-US" sz="900" dirty="0">
                <a:solidFill>
                  <a:srgbClr val="64748B"/>
                </a:solidFill>
                <a:latin typeface="Calibri" pitchFamily="34" charset="0"/>
                <a:ea typeface="Calibri" pitchFamily="34" charset="-122"/>
                <a:cs typeface="Calibri" pitchFamily="34" charset="-120"/>
              </a:rPr>
              <a:t>DEPI Capstone — Medical Insurance Analytics</a:t>
            </a:r>
            <a:endParaRPr lang="en-US" sz="900" dirty="0"/>
          </a:p>
        </p:txBody>
      </p:sp>
      <p:sp>
        <p:nvSpPr>
          <p:cNvPr id="13" name="Text 10">
            <a:extLst>
              <a:ext uri="{FF2B5EF4-FFF2-40B4-BE49-F238E27FC236}">
                <a16:creationId xmlns:a16="http://schemas.microsoft.com/office/drawing/2014/main" id="{615C068A-5FEA-C371-F97B-6BE458B5A1A8}"/>
              </a:ext>
            </a:extLst>
          </p:cNvPr>
          <p:cNvSpPr/>
          <p:nvPr/>
        </p:nvSpPr>
        <p:spPr>
          <a:xfrm>
            <a:off x="11274552" y="6446520"/>
            <a:ext cx="457200" cy="27432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7</a:t>
            </a:r>
            <a:endParaRPr lang="en-US" sz="900" dirty="0"/>
          </a:p>
        </p:txBody>
      </p:sp>
      <p:pic>
        <p:nvPicPr>
          <p:cNvPr id="14" name="Picture 13">
            <a:extLst>
              <a:ext uri="{FF2B5EF4-FFF2-40B4-BE49-F238E27FC236}">
                <a16:creationId xmlns:a16="http://schemas.microsoft.com/office/drawing/2014/main" id="{2ADBCA36-FA44-D87C-8136-698E35B60E17}"/>
              </a:ext>
            </a:extLst>
          </p:cNvPr>
          <p:cNvPicPr>
            <a:picLocks noChangeAspect="1"/>
          </p:cNvPicPr>
          <p:nvPr/>
        </p:nvPicPr>
        <p:blipFill>
          <a:blip r:embed="rId3"/>
          <a:srcRect/>
          <a:stretch/>
        </p:blipFill>
        <p:spPr>
          <a:xfrm>
            <a:off x="1019758" y="1993392"/>
            <a:ext cx="6016042" cy="3531108"/>
          </a:xfrm>
          <a:prstGeom prst="rect">
            <a:avLst/>
          </a:prstGeom>
        </p:spPr>
      </p:pic>
    </p:spTree>
    <p:extLst>
      <p:ext uri="{BB962C8B-B14F-4D97-AF65-F5344CB8AC3E}">
        <p14:creationId xmlns:p14="http://schemas.microsoft.com/office/powerpoint/2010/main" val="9682989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282E0466-BC9B-A59D-B501-2AD5343582D8}"/>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5811C02D-DFD5-F0A4-3263-01CCE44DC379}"/>
              </a:ext>
            </a:extLst>
          </p:cNvPr>
          <p:cNvSpPr/>
          <p:nvPr/>
        </p:nvSpPr>
        <p:spPr>
          <a:xfrm>
            <a:off x="548640" y="384048"/>
            <a:ext cx="7315200" cy="274320"/>
          </a:xfrm>
          <a:prstGeom prst="rect">
            <a:avLst/>
          </a:prstGeom>
          <a:noFill/>
          <a:ln/>
        </p:spPr>
        <p:txBody>
          <a:bodyPr wrap="square" lIns="0" tIns="0" rIns="0" bIns="0" rtlCol="0" anchor="ctr"/>
          <a:lstStyle/>
          <a:p>
            <a:pPr marL="0" indent="0">
              <a:buNone/>
            </a:pPr>
            <a:r>
              <a:rPr lang="en-US" sz="1200" b="1" kern="0" spc="200" dirty="0">
                <a:solidFill>
                  <a:srgbClr val="1C7293"/>
                </a:solidFill>
                <a:latin typeface="Calibri" pitchFamily="34" charset="0"/>
                <a:ea typeface="Calibri" pitchFamily="34" charset="-122"/>
                <a:cs typeface="Calibri" pitchFamily="34" charset="-120"/>
              </a:rPr>
              <a:t>RISK FACTOR ANALYSIS</a:t>
            </a:r>
            <a:endParaRPr lang="en-US" sz="1200" dirty="0"/>
          </a:p>
        </p:txBody>
      </p:sp>
      <p:sp>
        <p:nvSpPr>
          <p:cNvPr id="3" name="Text 1">
            <a:extLst>
              <a:ext uri="{FF2B5EF4-FFF2-40B4-BE49-F238E27FC236}">
                <a16:creationId xmlns:a16="http://schemas.microsoft.com/office/drawing/2014/main" id="{754C4233-1956-4CC5-5E82-DDCBECC37F2B}"/>
              </a:ext>
            </a:extLst>
          </p:cNvPr>
          <p:cNvSpPr/>
          <p:nvPr/>
        </p:nvSpPr>
        <p:spPr>
          <a:xfrm>
            <a:off x="548640" y="621792"/>
            <a:ext cx="10515600" cy="731520"/>
          </a:xfrm>
          <a:prstGeom prst="rect">
            <a:avLst/>
          </a:prstGeom>
          <a:noFill/>
          <a:ln/>
        </p:spPr>
        <p:txBody>
          <a:bodyPr wrap="square" lIns="0" tIns="0" rIns="0" bIns="0" rtlCol="0" anchor="ctr"/>
          <a:lstStyle/>
          <a:p>
            <a:pPr marL="0" indent="0">
              <a:buNone/>
            </a:pPr>
            <a:r>
              <a:rPr lang="en-US" sz="3200" b="1" dirty="0">
                <a:solidFill>
                  <a:srgbClr val="0B1F33"/>
                </a:solidFill>
                <a:latin typeface="Cambria" pitchFamily="34" charset="0"/>
                <a:ea typeface="Cambria" pitchFamily="34" charset="-122"/>
                <a:cs typeface="Cambria" pitchFamily="34" charset="-120"/>
              </a:rPr>
              <a:t>Python — Dashboard</a:t>
            </a:r>
            <a:endParaRPr lang="en-US" sz="3200" dirty="0"/>
          </a:p>
        </p:txBody>
      </p:sp>
      <p:sp>
        <p:nvSpPr>
          <p:cNvPr id="4" name="Shape 2">
            <a:extLst>
              <a:ext uri="{FF2B5EF4-FFF2-40B4-BE49-F238E27FC236}">
                <a16:creationId xmlns:a16="http://schemas.microsoft.com/office/drawing/2014/main" id="{C2EAF500-995D-5264-2D48-418828355A1F}"/>
              </a:ext>
            </a:extLst>
          </p:cNvPr>
          <p:cNvSpPr/>
          <p:nvPr/>
        </p:nvSpPr>
        <p:spPr>
          <a:xfrm>
            <a:off x="548640" y="1600200"/>
            <a:ext cx="6949440" cy="4206240"/>
          </a:xfrm>
          <a:prstGeom prst="roundRect">
            <a:avLst>
              <a:gd name="adj" fmla="val 1304"/>
            </a:avLst>
          </a:prstGeom>
          <a:solidFill>
            <a:srgbClr val="F1F6F8"/>
          </a:solidFill>
          <a:ln/>
          <a:effectLst>
            <a:outerShdw blurRad="101600" dist="38100" dir="2700000" algn="bl" rotWithShape="0">
              <a:srgbClr val="000000">
                <a:alpha val="12000"/>
              </a:srgbClr>
            </a:outerShdw>
          </a:effectLst>
        </p:spPr>
        <p:txBody>
          <a:bodyPr/>
          <a:lstStyle/>
          <a:p>
            <a:endParaRPr lang="en-US"/>
          </a:p>
        </p:txBody>
      </p:sp>
      <p:sp>
        <p:nvSpPr>
          <p:cNvPr id="6" name="Text 3">
            <a:extLst>
              <a:ext uri="{FF2B5EF4-FFF2-40B4-BE49-F238E27FC236}">
                <a16:creationId xmlns:a16="http://schemas.microsoft.com/office/drawing/2014/main" id="{0345BB44-CB96-BCD3-631E-1247809C8AEB}"/>
              </a:ext>
            </a:extLst>
          </p:cNvPr>
          <p:cNvSpPr/>
          <p:nvPr/>
        </p:nvSpPr>
        <p:spPr>
          <a:xfrm>
            <a:off x="7802880" y="1499616"/>
            <a:ext cx="3840480" cy="274320"/>
          </a:xfrm>
          <a:prstGeom prst="rect">
            <a:avLst/>
          </a:prstGeom>
          <a:noFill/>
          <a:ln/>
        </p:spPr>
        <p:txBody>
          <a:bodyPr wrap="square" lIns="0" tIns="0" rIns="0" bIns="0" rtlCol="0" anchor="ctr"/>
          <a:lstStyle/>
          <a:p>
            <a:pPr marL="0" indent="0">
              <a:buNone/>
            </a:pPr>
            <a:r>
              <a:rPr lang="en-US" sz="1400" b="1" dirty="0">
                <a:solidFill>
                  <a:srgbClr val="065A82"/>
                </a:solidFill>
                <a:latin typeface="Calibri" pitchFamily="34" charset="0"/>
                <a:ea typeface="Calibri" pitchFamily="34" charset="-122"/>
                <a:cs typeface="Calibri" pitchFamily="34" charset="-120"/>
              </a:rPr>
              <a:t>Overview</a:t>
            </a:r>
            <a:endParaRPr lang="en-US" sz="1400" dirty="0"/>
          </a:p>
        </p:txBody>
      </p:sp>
      <p:sp>
        <p:nvSpPr>
          <p:cNvPr id="7" name="Text 4">
            <a:extLst>
              <a:ext uri="{FF2B5EF4-FFF2-40B4-BE49-F238E27FC236}">
                <a16:creationId xmlns:a16="http://schemas.microsoft.com/office/drawing/2014/main" id="{927CB911-B553-DB79-4161-9E96AC544568}"/>
              </a:ext>
            </a:extLst>
          </p:cNvPr>
          <p:cNvSpPr/>
          <p:nvPr/>
        </p:nvSpPr>
        <p:spPr>
          <a:xfrm>
            <a:off x="7772400" y="1800721"/>
            <a:ext cx="3840480" cy="594360"/>
          </a:xfrm>
          <a:prstGeom prst="rect">
            <a:avLst/>
          </a:prstGeom>
          <a:noFill/>
          <a:ln/>
        </p:spPr>
        <p:txBody>
          <a:bodyPr wrap="square" lIns="0" tIns="0" rIns="0" bIns="0" rtlCol="0" anchor="ctr"/>
          <a:lstStyle/>
          <a:p>
            <a:pPr marL="0" indent="0">
              <a:buNone/>
            </a:pPr>
            <a:br>
              <a:rPr lang="en-US" sz="1150" dirty="0">
                <a:solidFill>
                  <a:srgbClr val="1E293B"/>
                </a:solidFill>
                <a:latin typeface="Calibri" pitchFamily="34" charset="0"/>
                <a:ea typeface="Calibri" pitchFamily="34" charset="-122"/>
                <a:cs typeface="Calibri" pitchFamily="34" charset="-120"/>
              </a:rPr>
            </a:br>
            <a:r>
              <a:rPr lang="en-US" sz="1150" dirty="0">
                <a:solidFill>
                  <a:srgbClr val="1E293B"/>
                </a:solidFill>
                <a:latin typeface="Calibri" pitchFamily="34" charset="0"/>
                <a:ea typeface="Calibri" pitchFamily="34" charset="-122"/>
                <a:cs typeface="Calibri" pitchFamily="34" charset="-120"/>
              </a:rPr>
              <a:t>This dashboard provides a comprehensive view of medical </a:t>
            </a:r>
            <a:r>
              <a:rPr lang="en-US" sz="1200" dirty="0">
                <a:solidFill>
                  <a:srgbClr val="1E293B"/>
                </a:solidFill>
                <a:latin typeface="Calibri" pitchFamily="34" charset="0"/>
                <a:ea typeface="Calibri" pitchFamily="34" charset="-122"/>
                <a:cs typeface="Calibri" pitchFamily="34" charset="-120"/>
              </a:rPr>
              <a:t>insurance</a:t>
            </a:r>
            <a:r>
              <a:rPr lang="en-US" sz="1150" dirty="0">
                <a:solidFill>
                  <a:srgbClr val="1E293B"/>
                </a:solidFill>
                <a:latin typeface="Calibri" pitchFamily="34" charset="0"/>
                <a:ea typeface="Calibri" pitchFamily="34" charset="-122"/>
                <a:cs typeface="Calibri" pitchFamily="34" charset="-120"/>
              </a:rPr>
              <a:t> costs by combining financial metrics, health indicators, and risk analysis into a single interactive report.</a:t>
            </a:r>
            <a:endParaRPr lang="en-US" sz="1150" dirty="0"/>
          </a:p>
        </p:txBody>
      </p:sp>
      <p:sp>
        <p:nvSpPr>
          <p:cNvPr id="8" name="Text 5">
            <a:extLst>
              <a:ext uri="{FF2B5EF4-FFF2-40B4-BE49-F238E27FC236}">
                <a16:creationId xmlns:a16="http://schemas.microsoft.com/office/drawing/2014/main" id="{3D86E05F-682B-3565-13F4-DE374BEA7FA4}"/>
              </a:ext>
            </a:extLst>
          </p:cNvPr>
          <p:cNvSpPr/>
          <p:nvPr/>
        </p:nvSpPr>
        <p:spPr>
          <a:xfrm>
            <a:off x="7802880" y="2639753"/>
            <a:ext cx="3840480" cy="274320"/>
          </a:xfrm>
          <a:prstGeom prst="rect">
            <a:avLst/>
          </a:prstGeom>
          <a:noFill/>
          <a:ln/>
        </p:spPr>
        <p:txBody>
          <a:bodyPr wrap="square" lIns="0" tIns="0" rIns="0" bIns="0" rtlCol="0" anchor="ctr"/>
          <a:lstStyle/>
          <a:p>
            <a:pPr marL="0" indent="0">
              <a:buNone/>
            </a:pPr>
            <a:r>
              <a:rPr lang="en-US" sz="1250" b="1" dirty="0">
                <a:solidFill>
                  <a:srgbClr val="065A82"/>
                </a:solidFill>
                <a:latin typeface="Calibri" pitchFamily="34" charset="0"/>
                <a:ea typeface="Calibri" pitchFamily="34" charset="-122"/>
                <a:cs typeface="Calibri" pitchFamily="34" charset="-120"/>
              </a:rPr>
              <a:t>Key Dashboard Insights</a:t>
            </a:r>
          </a:p>
        </p:txBody>
      </p:sp>
      <p:sp>
        <p:nvSpPr>
          <p:cNvPr id="9" name="Text 6">
            <a:extLst>
              <a:ext uri="{FF2B5EF4-FFF2-40B4-BE49-F238E27FC236}">
                <a16:creationId xmlns:a16="http://schemas.microsoft.com/office/drawing/2014/main" id="{AA702D0D-4079-38B7-8785-BFB73195C31C}"/>
              </a:ext>
            </a:extLst>
          </p:cNvPr>
          <p:cNvSpPr/>
          <p:nvPr/>
        </p:nvSpPr>
        <p:spPr>
          <a:xfrm>
            <a:off x="7772400" y="3352709"/>
            <a:ext cx="3840480" cy="594360"/>
          </a:xfrm>
          <a:prstGeom prst="rect">
            <a:avLst/>
          </a:prstGeom>
          <a:noFill/>
          <a:ln/>
        </p:spPr>
        <p:txBody>
          <a:bodyPr wrap="square" lIns="0" tIns="0" rIns="0" bIns="0" rtlCol="0" anchor="ctr"/>
          <a:lstStyle/>
          <a:p>
            <a:pPr>
              <a:buFont typeface="Arial" panose="020B0604020202020204" pitchFamily="34" charset="0"/>
              <a:buChar char="•"/>
            </a:pPr>
            <a:r>
              <a:rPr lang="ar-EG" sz="1200" dirty="0"/>
              <a:t>Monitors medical insurance costs through interactive KPIs. </a:t>
            </a:r>
          </a:p>
          <a:p>
            <a:pPr>
              <a:buFont typeface="Arial" panose="020B0604020202020204" pitchFamily="34" charset="0"/>
              <a:buChar char="•"/>
            </a:pPr>
            <a:r>
              <a:rPr lang="ar-EG" sz="1200" dirty="0"/>
              <a:t>Compares healthcare expenses across insurance plan types. </a:t>
            </a:r>
          </a:p>
          <a:p>
            <a:pPr>
              <a:buFont typeface="Arial" panose="020B0604020202020204" pitchFamily="34" charset="0"/>
              <a:buChar char="•"/>
            </a:pPr>
            <a:r>
              <a:rPr lang="ar-EG" sz="1200" dirty="0"/>
              <a:t>Identifies relationships between health conditions and medical costs. </a:t>
            </a:r>
          </a:p>
          <a:p>
            <a:pPr>
              <a:buFont typeface="Arial" panose="020B0604020202020204" pitchFamily="34" charset="0"/>
              <a:buChar char="•"/>
            </a:pPr>
            <a:r>
              <a:rPr lang="ar-EG" sz="1200" dirty="0"/>
              <a:t>Highlights chronic diseases associated with higher healthcare expenses. </a:t>
            </a:r>
          </a:p>
          <a:p>
            <a:pPr>
              <a:buFont typeface="Arial" panose="020B0604020202020204" pitchFamily="34" charset="0"/>
              <a:buChar char="•"/>
            </a:pPr>
            <a:r>
              <a:rPr lang="ar-EG" sz="1200" dirty="0"/>
              <a:t>Supports risk segmentation for better insurance decision-making. </a:t>
            </a:r>
          </a:p>
        </p:txBody>
      </p:sp>
      <p:sp>
        <p:nvSpPr>
          <p:cNvPr id="10" name="Text 7">
            <a:extLst>
              <a:ext uri="{FF2B5EF4-FFF2-40B4-BE49-F238E27FC236}">
                <a16:creationId xmlns:a16="http://schemas.microsoft.com/office/drawing/2014/main" id="{A7BA807A-DF1A-BB1B-54E6-947EEDB29E1A}"/>
              </a:ext>
            </a:extLst>
          </p:cNvPr>
          <p:cNvSpPr/>
          <p:nvPr/>
        </p:nvSpPr>
        <p:spPr>
          <a:xfrm>
            <a:off x="7863840" y="4670923"/>
            <a:ext cx="3840480" cy="274320"/>
          </a:xfrm>
          <a:prstGeom prst="rect">
            <a:avLst/>
          </a:prstGeom>
          <a:noFill/>
          <a:ln/>
        </p:spPr>
        <p:txBody>
          <a:bodyPr wrap="square" lIns="0" tIns="0" rIns="0" bIns="0" rtlCol="0" anchor="ctr"/>
          <a:lstStyle/>
          <a:p>
            <a:pPr marL="0" indent="0">
              <a:buNone/>
            </a:pPr>
            <a:r>
              <a:rPr lang="en-US" sz="1250" b="1" dirty="0">
                <a:solidFill>
                  <a:srgbClr val="065A82"/>
                </a:solidFill>
                <a:latin typeface="Calibri" pitchFamily="34" charset="0"/>
                <a:ea typeface="Calibri" pitchFamily="34" charset="-122"/>
                <a:cs typeface="Calibri" pitchFamily="34" charset="-120"/>
              </a:rPr>
              <a:t>Key Visuals</a:t>
            </a:r>
            <a:endParaRPr lang="en-US" sz="1250" dirty="0"/>
          </a:p>
        </p:txBody>
      </p:sp>
      <p:sp>
        <p:nvSpPr>
          <p:cNvPr id="11" name="Text 8">
            <a:extLst>
              <a:ext uri="{FF2B5EF4-FFF2-40B4-BE49-F238E27FC236}">
                <a16:creationId xmlns:a16="http://schemas.microsoft.com/office/drawing/2014/main" id="{67BBFB5D-4C3E-2669-6796-BDDAA739EC5C}"/>
              </a:ext>
            </a:extLst>
          </p:cNvPr>
          <p:cNvSpPr/>
          <p:nvPr/>
        </p:nvSpPr>
        <p:spPr>
          <a:xfrm>
            <a:off x="7891272" y="4904697"/>
            <a:ext cx="3840480" cy="594360"/>
          </a:xfrm>
          <a:prstGeom prst="rect">
            <a:avLst/>
          </a:prstGeom>
          <a:noFill/>
          <a:ln/>
        </p:spPr>
        <p:txBody>
          <a:bodyPr wrap="square" lIns="0" tIns="0" rIns="0" bIns="0" rtlCol="0" anchor="ctr"/>
          <a:lstStyle/>
          <a:p>
            <a:pPr>
              <a:buNone/>
            </a:pPr>
            <a:r>
              <a:rPr lang="ar-EG" sz="1200" dirty="0"/>
              <a:t>Enables users to quickly identify cost patterns, compare health risks, and support informed business decisions.</a:t>
            </a:r>
          </a:p>
        </p:txBody>
      </p:sp>
      <p:sp>
        <p:nvSpPr>
          <p:cNvPr id="12" name="Text 9">
            <a:extLst>
              <a:ext uri="{FF2B5EF4-FFF2-40B4-BE49-F238E27FC236}">
                <a16:creationId xmlns:a16="http://schemas.microsoft.com/office/drawing/2014/main" id="{E4E8F607-9188-3C9B-BB7B-E65588B4A32A}"/>
              </a:ext>
            </a:extLst>
          </p:cNvPr>
          <p:cNvSpPr/>
          <p:nvPr/>
        </p:nvSpPr>
        <p:spPr>
          <a:xfrm>
            <a:off x="457200" y="6446520"/>
            <a:ext cx="6400800" cy="274320"/>
          </a:xfrm>
          <a:prstGeom prst="rect">
            <a:avLst/>
          </a:prstGeom>
          <a:noFill/>
          <a:ln/>
        </p:spPr>
        <p:txBody>
          <a:bodyPr wrap="square" lIns="0" tIns="0" rIns="0" bIns="0" rtlCol="0" anchor="ctr"/>
          <a:lstStyle/>
          <a:p>
            <a:pPr marL="0" indent="0" algn="l">
              <a:buNone/>
            </a:pPr>
            <a:r>
              <a:rPr lang="en-US" sz="900" dirty="0">
                <a:solidFill>
                  <a:srgbClr val="64748B"/>
                </a:solidFill>
                <a:latin typeface="Calibri" pitchFamily="34" charset="0"/>
                <a:ea typeface="Calibri" pitchFamily="34" charset="-122"/>
                <a:cs typeface="Calibri" pitchFamily="34" charset="-120"/>
              </a:rPr>
              <a:t>DEPI Capstone — Medical Insurance Analytics</a:t>
            </a:r>
            <a:endParaRPr lang="en-US" sz="900" dirty="0"/>
          </a:p>
        </p:txBody>
      </p:sp>
      <p:sp>
        <p:nvSpPr>
          <p:cNvPr id="13" name="Text 10">
            <a:extLst>
              <a:ext uri="{FF2B5EF4-FFF2-40B4-BE49-F238E27FC236}">
                <a16:creationId xmlns:a16="http://schemas.microsoft.com/office/drawing/2014/main" id="{0356383B-D54B-BC5A-F4D7-93DB993F0FED}"/>
              </a:ext>
            </a:extLst>
          </p:cNvPr>
          <p:cNvSpPr/>
          <p:nvPr/>
        </p:nvSpPr>
        <p:spPr>
          <a:xfrm>
            <a:off x="11274552" y="6446520"/>
            <a:ext cx="457200" cy="27432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7</a:t>
            </a:r>
            <a:endParaRPr lang="en-US" sz="900" dirty="0"/>
          </a:p>
        </p:txBody>
      </p:sp>
      <p:pic>
        <p:nvPicPr>
          <p:cNvPr id="15" name="Picture 14">
            <a:extLst>
              <a:ext uri="{FF2B5EF4-FFF2-40B4-BE49-F238E27FC236}">
                <a16:creationId xmlns:a16="http://schemas.microsoft.com/office/drawing/2014/main" id="{1383B144-F1D1-09AC-4F53-72A85F0AAA09}"/>
              </a:ext>
            </a:extLst>
          </p:cNvPr>
          <p:cNvPicPr>
            <a:picLocks noChangeAspect="1"/>
          </p:cNvPicPr>
          <p:nvPr/>
        </p:nvPicPr>
        <p:blipFill>
          <a:blip r:embed="rId3"/>
          <a:srcRect/>
          <a:stretch/>
        </p:blipFill>
        <p:spPr>
          <a:xfrm>
            <a:off x="794397" y="1859833"/>
            <a:ext cx="6457926" cy="3580112"/>
          </a:xfrm>
          <a:prstGeom prst="rect">
            <a:avLst/>
          </a:prstGeom>
        </p:spPr>
      </p:pic>
    </p:spTree>
    <p:extLst>
      <p:ext uri="{BB962C8B-B14F-4D97-AF65-F5344CB8AC3E}">
        <p14:creationId xmlns:p14="http://schemas.microsoft.com/office/powerpoint/2010/main" val="148046651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84048"/>
            <a:ext cx="7315200" cy="274320"/>
          </a:xfrm>
          <a:prstGeom prst="rect">
            <a:avLst/>
          </a:prstGeom>
          <a:noFill/>
          <a:ln/>
        </p:spPr>
        <p:txBody>
          <a:bodyPr wrap="square" lIns="0" tIns="0" rIns="0" bIns="0" rtlCol="0" anchor="ctr"/>
          <a:lstStyle/>
          <a:p>
            <a:pPr marL="0" indent="0">
              <a:buNone/>
            </a:pPr>
            <a:r>
              <a:rPr lang="en-US" sz="1200" b="1" kern="0" spc="200" dirty="0">
                <a:solidFill>
                  <a:srgbClr val="1C7293"/>
                </a:solidFill>
                <a:latin typeface="Calibri" pitchFamily="34" charset="0"/>
                <a:ea typeface="Calibri" pitchFamily="34" charset="-122"/>
                <a:cs typeface="Calibri" pitchFamily="34" charset="-120"/>
              </a:rPr>
              <a:t>EXPLORATORY VIEW</a:t>
            </a:r>
            <a:endParaRPr lang="en-US" sz="1200" dirty="0"/>
          </a:p>
        </p:txBody>
      </p:sp>
      <p:sp>
        <p:nvSpPr>
          <p:cNvPr id="4" name="Shape 2"/>
          <p:cNvSpPr/>
          <p:nvPr/>
        </p:nvSpPr>
        <p:spPr>
          <a:xfrm>
            <a:off x="382385" y="1683333"/>
            <a:ext cx="7045630" cy="4206240"/>
          </a:xfrm>
          <a:prstGeom prst="roundRect">
            <a:avLst>
              <a:gd name="adj" fmla="val 1304"/>
            </a:avLst>
          </a:prstGeom>
          <a:solidFill>
            <a:srgbClr val="F1F6F8"/>
          </a:solidFill>
          <a:ln/>
          <a:effectLst>
            <a:outerShdw blurRad="101600" dist="38100" dir="2700000" algn="bl" rotWithShape="0">
              <a:srgbClr val="000000">
                <a:alpha val="12000"/>
              </a:srgbClr>
            </a:outerShdw>
          </a:effectLst>
        </p:spPr>
        <p:txBody>
          <a:bodyPr/>
          <a:lstStyle/>
          <a:p>
            <a:endParaRPr lang="en-US"/>
          </a:p>
        </p:txBody>
      </p:sp>
      <p:sp>
        <p:nvSpPr>
          <p:cNvPr id="6" name="Text 3"/>
          <p:cNvSpPr/>
          <p:nvPr/>
        </p:nvSpPr>
        <p:spPr>
          <a:xfrm>
            <a:off x="7772400" y="1488186"/>
            <a:ext cx="3840480" cy="274320"/>
          </a:xfrm>
          <a:prstGeom prst="rect">
            <a:avLst/>
          </a:prstGeom>
          <a:noFill/>
          <a:ln/>
        </p:spPr>
        <p:txBody>
          <a:bodyPr wrap="square" lIns="0" tIns="0" rIns="0" bIns="0" rtlCol="0" anchor="ctr"/>
          <a:lstStyle/>
          <a:p>
            <a:pPr marL="0" indent="0">
              <a:buNone/>
            </a:pPr>
            <a:r>
              <a:rPr lang="en-US" sz="1250" b="1" dirty="0">
                <a:solidFill>
                  <a:srgbClr val="065A82"/>
                </a:solidFill>
                <a:latin typeface="Calibri" pitchFamily="34" charset="0"/>
                <a:ea typeface="Calibri" pitchFamily="34" charset="-122"/>
                <a:cs typeface="Calibri" pitchFamily="34" charset="-120"/>
              </a:rPr>
              <a:t>Model Overview</a:t>
            </a:r>
            <a:endParaRPr lang="en-US" sz="1250" dirty="0"/>
          </a:p>
        </p:txBody>
      </p:sp>
      <p:sp>
        <p:nvSpPr>
          <p:cNvPr id="7" name="Text 4"/>
          <p:cNvSpPr/>
          <p:nvPr/>
        </p:nvSpPr>
        <p:spPr>
          <a:xfrm>
            <a:off x="7772400" y="1901952"/>
            <a:ext cx="3840480" cy="594360"/>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the data model was designed using a Star Schema structure, where a central fact table stores insurance measures and connects to multiple dimension tables containing demographic, clinical, policy, and plan information.</a:t>
            </a:r>
            <a:endParaRPr lang="en-US" sz="1150" dirty="0"/>
          </a:p>
        </p:txBody>
      </p:sp>
      <p:sp>
        <p:nvSpPr>
          <p:cNvPr id="8" name="Text 5"/>
          <p:cNvSpPr/>
          <p:nvPr/>
        </p:nvSpPr>
        <p:spPr>
          <a:xfrm>
            <a:off x="7772400" y="2639754"/>
            <a:ext cx="3840480" cy="274320"/>
          </a:xfrm>
          <a:prstGeom prst="rect">
            <a:avLst/>
          </a:prstGeom>
          <a:noFill/>
          <a:ln/>
        </p:spPr>
        <p:txBody>
          <a:bodyPr wrap="square" lIns="0" tIns="0" rIns="0" bIns="0" rtlCol="0" anchor="ctr"/>
          <a:lstStyle/>
          <a:p>
            <a:pPr marL="0" indent="0">
              <a:buNone/>
            </a:pPr>
            <a:r>
              <a:rPr lang="en-US" sz="1250" b="1" dirty="0">
                <a:solidFill>
                  <a:srgbClr val="065A82"/>
                </a:solidFill>
                <a:latin typeface="Calibri" pitchFamily="34" charset="0"/>
                <a:ea typeface="Calibri" pitchFamily="34" charset="-122"/>
                <a:cs typeface="Calibri" pitchFamily="34" charset="-120"/>
              </a:rPr>
              <a:t>Why This Model?</a:t>
            </a:r>
            <a:endParaRPr lang="en-US" sz="1250" dirty="0"/>
          </a:p>
        </p:txBody>
      </p:sp>
      <p:sp>
        <p:nvSpPr>
          <p:cNvPr id="9" name="Text 6"/>
          <p:cNvSpPr/>
          <p:nvPr/>
        </p:nvSpPr>
        <p:spPr>
          <a:xfrm>
            <a:off x="7772400" y="2981615"/>
            <a:ext cx="3840480" cy="637794"/>
          </a:xfrm>
          <a:prstGeom prst="rect">
            <a:avLst/>
          </a:prstGeom>
          <a:noFill/>
          <a:ln/>
        </p:spPr>
        <p:txBody>
          <a:bodyPr wrap="square" lIns="0" tIns="0" rIns="0" bIns="0" rtlCol="0" anchor="ctr"/>
          <a:lstStyle/>
          <a:p>
            <a:pPr>
              <a:buFont typeface="Arial" panose="020B0604020202020204" pitchFamily="34" charset="0"/>
              <a:buChar char="•"/>
            </a:pPr>
            <a:r>
              <a:rPr lang="ar-EG" sz="1200" dirty="0"/>
              <a:t> Improves query performance. </a:t>
            </a:r>
          </a:p>
          <a:p>
            <a:pPr>
              <a:buFont typeface="Arial" panose="020B0604020202020204" pitchFamily="34" charset="0"/>
              <a:buChar char="•"/>
            </a:pPr>
            <a:r>
              <a:rPr lang="ar-EG" sz="1200" dirty="0"/>
              <a:t>Reduces data redundancy. </a:t>
            </a:r>
          </a:p>
          <a:p>
            <a:pPr>
              <a:buFont typeface="Arial" panose="020B0604020202020204" pitchFamily="34" charset="0"/>
              <a:buChar char="•"/>
            </a:pPr>
            <a:r>
              <a:rPr lang="ar-EG" sz="1200" dirty="0"/>
              <a:t>Simplifies dashboard creation. </a:t>
            </a:r>
          </a:p>
          <a:p>
            <a:pPr>
              <a:buFont typeface="Arial" panose="020B0604020202020204" pitchFamily="34" charset="0"/>
              <a:buChar char="•"/>
            </a:pPr>
            <a:r>
              <a:rPr lang="ar-EG" sz="1200" dirty="0"/>
              <a:t>Supports accurate filtering and analysis. </a:t>
            </a:r>
          </a:p>
        </p:txBody>
      </p:sp>
      <p:sp>
        <p:nvSpPr>
          <p:cNvPr id="10" name="Text 7"/>
          <p:cNvSpPr/>
          <p:nvPr/>
        </p:nvSpPr>
        <p:spPr>
          <a:xfrm>
            <a:off x="7772400" y="3840480"/>
            <a:ext cx="3840480" cy="274320"/>
          </a:xfrm>
          <a:prstGeom prst="rect">
            <a:avLst/>
          </a:prstGeom>
          <a:noFill/>
          <a:ln/>
        </p:spPr>
        <p:txBody>
          <a:bodyPr wrap="square" lIns="0" tIns="0" rIns="0" bIns="0" rtlCol="0" anchor="ctr"/>
          <a:lstStyle/>
          <a:p>
            <a:pPr marL="0" indent="0">
              <a:buNone/>
            </a:pPr>
            <a:r>
              <a:rPr lang="en-US" sz="1250" b="1" dirty="0">
                <a:solidFill>
                  <a:srgbClr val="065A82"/>
                </a:solidFill>
                <a:latin typeface="Calibri" pitchFamily="34" charset="0"/>
                <a:ea typeface="Calibri" pitchFamily="34" charset="-122"/>
                <a:cs typeface="Calibri" pitchFamily="34" charset="-120"/>
              </a:rPr>
              <a:t>Main Components</a:t>
            </a:r>
            <a:endParaRPr lang="en-US" sz="1250" dirty="0"/>
          </a:p>
        </p:txBody>
      </p:sp>
      <p:sp>
        <p:nvSpPr>
          <p:cNvPr id="11" name="Text 8"/>
          <p:cNvSpPr/>
          <p:nvPr/>
        </p:nvSpPr>
        <p:spPr>
          <a:xfrm>
            <a:off x="7772400" y="4228591"/>
            <a:ext cx="3840480" cy="594360"/>
          </a:xfrm>
          <a:prstGeom prst="rect">
            <a:avLst/>
          </a:prstGeom>
          <a:noFill/>
          <a:ln/>
        </p:spPr>
        <p:txBody>
          <a:bodyPr wrap="square" lIns="0" tIns="0" rIns="0" bIns="0" rtlCol="0" anchor="ctr"/>
          <a:lstStyle/>
          <a:p>
            <a:pPr>
              <a:buFont typeface="Arial" panose="020B0604020202020204" pitchFamily="34" charset="0"/>
              <a:buChar char="•"/>
            </a:pPr>
            <a:r>
              <a:rPr lang="ar-EG" sz="1200" b="1" dirty="0"/>
              <a:t>Fact Table:</a:t>
            </a:r>
            <a:r>
              <a:rPr lang="ar-EG" sz="1200" dirty="0"/>
              <a:t> Insurance transactions and measures. </a:t>
            </a:r>
          </a:p>
          <a:p>
            <a:pPr>
              <a:buFont typeface="Arial" panose="020B0604020202020204" pitchFamily="34" charset="0"/>
              <a:buChar char="•"/>
            </a:pPr>
            <a:r>
              <a:rPr lang="ar-EG" sz="1200" b="1" dirty="0"/>
              <a:t>Dimension Tables:</a:t>
            </a:r>
            <a:r>
              <a:rPr lang="ar-EG" sz="1200" dirty="0"/>
              <a:t> Person, Clinical, Policy, Plan Type, Network Tier, Chronic, and Socioeconomic data. </a:t>
            </a:r>
          </a:p>
        </p:txBody>
      </p:sp>
      <p:sp>
        <p:nvSpPr>
          <p:cNvPr id="12" name="Text 9"/>
          <p:cNvSpPr/>
          <p:nvPr/>
        </p:nvSpPr>
        <p:spPr>
          <a:xfrm>
            <a:off x="457200" y="6446520"/>
            <a:ext cx="6400800" cy="274320"/>
          </a:xfrm>
          <a:prstGeom prst="rect">
            <a:avLst/>
          </a:prstGeom>
          <a:noFill/>
          <a:ln/>
        </p:spPr>
        <p:txBody>
          <a:bodyPr wrap="square" lIns="0" tIns="0" rIns="0" bIns="0" rtlCol="0" anchor="ctr"/>
          <a:lstStyle/>
          <a:p>
            <a:pPr marL="0" indent="0" algn="l">
              <a:buNone/>
            </a:pPr>
            <a:endParaRPr lang="en-US" sz="900" dirty="0"/>
          </a:p>
        </p:txBody>
      </p:sp>
      <p:sp>
        <p:nvSpPr>
          <p:cNvPr id="13" name="Text 10"/>
          <p:cNvSpPr/>
          <p:nvPr/>
        </p:nvSpPr>
        <p:spPr>
          <a:xfrm>
            <a:off x="11274552" y="6446520"/>
            <a:ext cx="457200" cy="27432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10</a:t>
            </a:r>
            <a:endParaRPr lang="en-US" sz="900" dirty="0"/>
          </a:p>
        </p:txBody>
      </p:sp>
      <p:pic>
        <p:nvPicPr>
          <p:cNvPr id="14" name="Picture 13" descr="https://private-user-images.githubusercontent.com/235096874/616721494-5c5a62e4-ccca-4b27-8bc9-167c8fd506b7.png?jwt=eyJ0eXAiOiJKV1QiLCJhbGciOiJIUzI1NiJ9.eyJpc3MiOiJnaXRodWIuY29tIiwiYXVkIjoicmF3LmdpdGh1YnVzZXJjb250ZW50LmNvbSIsImtleSI6ImtleTUiLCJleHAiOjE3ODMwNjk0MzAsIm5iZiI6MTc4MzA2OTEzMCwicGF0aCI6Ii8yMzUwOTY4NzQvNjE2NzIxNDk0LTVjNWE2MmU0LWNjY2EtNGIyNy04YmM5LTE2N2M4ZmQ1MDZiNy5wbmc_WC1BbXotQWxnb3JpdGhtPUFXUzQtSE1BQy1TSEEyNTYmWC1BbXotQ3JlZGVudGlhbD1BS0lBVkNPRFlMU0E1M1BRSzRaQSUyRjIwMjYwNzAzJTJGdXMtZWFzdC0xJTJGczMlMkZhd3M0X3JlcXVlc3QmWC1BbXotRGF0ZT0yMDI2MDcwM1QwODU4NTBaJlgtQW16LUV4cGlyZXM9MzAwJlgtQW16LVNpZ25hdHVyZT00NjA5MWE3ZDdiNjYwNzc1N2Y4Y2NhYzQ0YzI2OTkwMzAyZWY5MjJiZWRmNmJiZjA1MTZkODMxYjg3NTAxNmIyJlgtQW16LVNpZ25lZEhlYWRlcnM9aG9zdCZyZXNwb25zZS1jb250ZW50LXR5cGU9aW1hZ2UlMkZwbmcifQ.QUUSpiAOLbA1Ni1O4hAc20_N2g0BvOzeY37tvyFQ-bI">
            <a:extLst>
              <a:ext uri="{FF2B5EF4-FFF2-40B4-BE49-F238E27FC236}">
                <a16:creationId xmlns:a16="http://schemas.microsoft.com/office/drawing/2014/main" id="{40F4F1AA-6B24-56D3-14A6-27CFC18AA7AC}"/>
              </a:ext>
            </a:extLst>
          </p:cNvPr>
          <p:cNvPicPr>
            <a:picLocks noChangeAspect="1"/>
          </p:cNvPicPr>
          <p:nvPr/>
        </p:nvPicPr>
        <p:blipFill>
          <a:blip r:embed="rId3"/>
          <a:stretch>
            <a:fillRect/>
          </a:stretch>
        </p:blipFill>
        <p:spPr>
          <a:xfrm flipH="1">
            <a:off x="-2346857" y="8598066"/>
            <a:ext cx="2346857" cy="1309033"/>
          </a:xfrm>
          <a:prstGeom prst="rect">
            <a:avLst/>
          </a:prstGeom>
        </p:spPr>
      </p:pic>
      <p:sp>
        <p:nvSpPr>
          <p:cNvPr id="3" name="Text 1"/>
          <p:cNvSpPr/>
          <p:nvPr/>
        </p:nvSpPr>
        <p:spPr>
          <a:xfrm>
            <a:off x="569091" y="626364"/>
            <a:ext cx="10515600" cy="731520"/>
          </a:xfrm>
          <a:prstGeom prst="rect">
            <a:avLst/>
          </a:prstGeom>
          <a:noFill/>
          <a:ln/>
        </p:spPr>
        <p:txBody>
          <a:bodyPr wrap="square" lIns="0" tIns="0" rIns="0" bIns="0" rtlCol="0" anchor="ctr"/>
          <a:lstStyle/>
          <a:p>
            <a:r>
              <a:rPr lang="en-US" sz="3200" b="1" dirty="0">
                <a:solidFill>
                  <a:srgbClr val="0B1F33"/>
                </a:solidFill>
                <a:latin typeface="Cambria" pitchFamily="34" charset="0"/>
                <a:ea typeface="Cambria" pitchFamily="34" charset="-122"/>
                <a:cs typeface="Cambria" pitchFamily="34" charset="-120"/>
              </a:rPr>
              <a:t> Tableau —</a:t>
            </a:r>
            <a:r>
              <a:rPr kumimoji="0" lang="ar-EG" sz="3200" b="1" i="0" u="none" strike="noStrike" kern="1200" cap="none" spc="0" normalizeH="0" baseline="0" noProof="0" dirty="0">
                <a:ln>
                  <a:noFill/>
                </a:ln>
                <a:solidFill>
                  <a:prstClr val="black"/>
                </a:solidFill>
                <a:effectLst/>
                <a:uLnTx/>
                <a:uFillTx/>
                <a:latin typeface="Calibri" panose="020F0502020204030204"/>
                <a:ea typeface="+mn-ea"/>
                <a:cs typeface="Arial" panose="020B0604020202020204" pitchFamily="34" charset="0"/>
              </a:rPr>
              <a:t>Data Modeling</a:t>
            </a:r>
            <a:endParaRPr lang="en-US" sz="3200" dirty="0"/>
          </a:p>
        </p:txBody>
      </p:sp>
      <p:pic>
        <p:nvPicPr>
          <p:cNvPr id="18" name="Picture 17">
            <a:extLst>
              <a:ext uri="{FF2B5EF4-FFF2-40B4-BE49-F238E27FC236}">
                <a16:creationId xmlns:a16="http://schemas.microsoft.com/office/drawing/2014/main" id="{4D81204D-E246-99B1-2519-C6272E16398F}"/>
              </a:ext>
            </a:extLst>
          </p:cNvPr>
          <p:cNvPicPr>
            <a:picLocks noChangeAspect="1"/>
          </p:cNvPicPr>
          <p:nvPr/>
        </p:nvPicPr>
        <p:blipFill>
          <a:blip r:embed="rId4"/>
          <a:stretch>
            <a:fillRect/>
          </a:stretch>
        </p:blipFill>
        <p:spPr>
          <a:xfrm>
            <a:off x="-2346857" y="8495597"/>
            <a:ext cx="4223228" cy="2404593"/>
          </a:xfrm>
          <a:prstGeom prst="rect">
            <a:avLst/>
          </a:prstGeom>
        </p:spPr>
      </p:pic>
      <p:pic>
        <p:nvPicPr>
          <p:cNvPr id="22" name="Picture 21">
            <a:extLst>
              <a:ext uri="{FF2B5EF4-FFF2-40B4-BE49-F238E27FC236}">
                <a16:creationId xmlns:a16="http://schemas.microsoft.com/office/drawing/2014/main" id="{1B76470D-8AA8-660A-900B-58D54D3432F4}"/>
              </a:ext>
            </a:extLst>
          </p:cNvPr>
          <p:cNvPicPr>
            <a:picLocks noChangeAspect="1"/>
          </p:cNvPicPr>
          <p:nvPr/>
        </p:nvPicPr>
        <p:blipFill>
          <a:blip r:embed="rId5"/>
          <a:srcRect/>
          <a:stretch/>
        </p:blipFill>
        <p:spPr>
          <a:xfrm>
            <a:off x="1011024" y="1898822"/>
            <a:ext cx="6182878" cy="377526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E90B268F-68FA-E0BA-6809-B45F2741F4CA}"/>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F5E4FBF9-8F81-4053-25AA-9F736002C6DE}"/>
              </a:ext>
            </a:extLst>
          </p:cNvPr>
          <p:cNvSpPr/>
          <p:nvPr/>
        </p:nvSpPr>
        <p:spPr>
          <a:xfrm>
            <a:off x="548640" y="384048"/>
            <a:ext cx="7315200" cy="274320"/>
          </a:xfrm>
          <a:prstGeom prst="rect">
            <a:avLst/>
          </a:prstGeom>
          <a:noFill/>
          <a:ln/>
        </p:spPr>
        <p:txBody>
          <a:bodyPr wrap="square" lIns="0" tIns="0" rIns="0" bIns="0" rtlCol="0" anchor="ctr"/>
          <a:lstStyle/>
          <a:p>
            <a:pPr marL="0" indent="0">
              <a:buNone/>
            </a:pPr>
            <a:r>
              <a:rPr lang="en-US" sz="1200" b="1" kern="0" spc="200" dirty="0">
                <a:solidFill>
                  <a:srgbClr val="1C7293"/>
                </a:solidFill>
                <a:latin typeface="Calibri" pitchFamily="34" charset="0"/>
                <a:ea typeface="Calibri" pitchFamily="34" charset="-122"/>
                <a:cs typeface="Calibri" pitchFamily="34" charset="-120"/>
              </a:rPr>
              <a:t>EXPLORATORY VIEW</a:t>
            </a:r>
            <a:endParaRPr lang="en-US" sz="1200" dirty="0"/>
          </a:p>
        </p:txBody>
      </p:sp>
      <p:sp>
        <p:nvSpPr>
          <p:cNvPr id="4" name="Shape 2">
            <a:extLst>
              <a:ext uri="{FF2B5EF4-FFF2-40B4-BE49-F238E27FC236}">
                <a16:creationId xmlns:a16="http://schemas.microsoft.com/office/drawing/2014/main" id="{90AC0E76-B506-A382-40B3-5D9BD07EB306}"/>
              </a:ext>
            </a:extLst>
          </p:cNvPr>
          <p:cNvSpPr/>
          <p:nvPr/>
        </p:nvSpPr>
        <p:spPr>
          <a:xfrm>
            <a:off x="376448" y="1572768"/>
            <a:ext cx="7045630" cy="4206240"/>
          </a:xfrm>
          <a:prstGeom prst="roundRect">
            <a:avLst>
              <a:gd name="adj" fmla="val 1304"/>
            </a:avLst>
          </a:prstGeom>
          <a:solidFill>
            <a:srgbClr val="F1F6F8"/>
          </a:solidFill>
          <a:ln/>
          <a:effectLst>
            <a:outerShdw blurRad="101600" dist="38100" dir="2700000" algn="bl" rotWithShape="0">
              <a:srgbClr val="000000">
                <a:alpha val="12000"/>
              </a:srgbClr>
            </a:outerShdw>
          </a:effectLst>
        </p:spPr>
        <p:txBody>
          <a:bodyPr/>
          <a:lstStyle/>
          <a:p>
            <a:endParaRPr lang="en-US"/>
          </a:p>
        </p:txBody>
      </p:sp>
      <p:sp>
        <p:nvSpPr>
          <p:cNvPr id="6" name="Text 3">
            <a:extLst>
              <a:ext uri="{FF2B5EF4-FFF2-40B4-BE49-F238E27FC236}">
                <a16:creationId xmlns:a16="http://schemas.microsoft.com/office/drawing/2014/main" id="{39A2B1EE-7C14-2D96-A947-02F51595D88D}"/>
              </a:ext>
            </a:extLst>
          </p:cNvPr>
          <p:cNvSpPr/>
          <p:nvPr/>
        </p:nvSpPr>
        <p:spPr>
          <a:xfrm>
            <a:off x="7802880" y="1755648"/>
            <a:ext cx="3840480" cy="274320"/>
          </a:xfrm>
          <a:prstGeom prst="rect">
            <a:avLst/>
          </a:prstGeom>
          <a:noFill/>
          <a:ln/>
        </p:spPr>
        <p:txBody>
          <a:bodyPr wrap="square" lIns="0" tIns="0" rIns="0" bIns="0" rtlCol="0" anchor="ctr"/>
          <a:lstStyle/>
          <a:p>
            <a:pPr marL="0" indent="0">
              <a:buNone/>
            </a:pPr>
            <a:r>
              <a:rPr lang="en-US" sz="1250" b="1" dirty="0">
                <a:solidFill>
                  <a:srgbClr val="065A82"/>
                </a:solidFill>
                <a:latin typeface="Calibri" pitchFamily="34" charset="0"/>
                <a:ea typeface="Calibri" pitchFamily="34" charset="-122"/>
                <a:cs typeface="Calibri" pitchFamily="34" charset="-120"/>
              </a:rPr>
              <a:t>Answers</a:t>
            </a:r>
            <a:endParaRPr lang="en-US" sz="1250" dirty="0"/>
          </a:p>
        </p:txBody>
      </p:sp>
      <p:sp>
        <p:nvSpPr>
          <p:cNvPr id="7" name="Text 4">
            <a:extLst>
              <a:ext uri="{FF2B5EF4-FFF2-40B4-BE49-F238E27FC236}">
                <a16:creationId xmlns:a16="http://schemas.microsoft.com/office/drawing/2014/main" id="{09EB626E-0EDF-9EE9-D8FC-9D87C3AF250F}"/>
              </a:ext>
            </a:extLst>
          </p:cNvPr>
          <p:cNvSpPr/>
          <p:nvPr/>
        </p:nvSpPr>
        <p:spPr>
          <a:xfrm>
            <a:off x="7772400" y="2029968"/>
            <a:ext cx="3840480" cy="594360"/>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How do medical costs, premiums, and member characteristics vary across different customer segments</a:t>
            </a:r>
            <a:endParaRPr lang="en-US" sz="1150" dirty="0"/>
          </a:p>
        </p:txBody>
      </p:sp>
      <p:sp>
        <p:nvSpPr>
          <p:cNvPr id="8" name="Text 5">
            <a:extLst>
              <a:ext uri="{FF2B5EF4-FFF2-40B4-BE49-F238E27FC236}">
                <a16:creationId xmlns:a16="http://schemas.microsoft.com/office/drawing/2014/main" id="{B7EFC7FA-C978-4D37-6E12-EF6158B55B3B}"/>
              </a:ext>
            </a:extLst>
          </p:cNvPr>
          <p:cNvSpPr/>
          <p:nvPr/>
        </p:nvSpPr>
        <p:spPr>
          <a:xfrm>
            <a:off x="7772400" y="2788920"/>
            <a:ext cx="3840480" cy="274320"/>
          </a:xfrm>
          <a:prstGeom prst="rect">
            <a:avLst/>
          </a:prstGeom>
          <a:noFill/>
          <a:ln/>
        </p:spPr>
        <p:txBody>
          <a:bodyPr wrap="square" lIns="0" tIns="0" rIns="0" bIns="0" rtlCol="0" anchor="ctr"/>
          <a:lstStyle/>
          <a:p>
            <a:pPr marL="0" indent="0">
              <a:buNone/>
            </a:pPr>
            <a:r>
              <a:rPr lang="en-US" sz="1250" b="1" dirty="0">
                <a:solidFill>
                  <a:srgbClr val="065A82"/>
                </a:solidFill>
                <a:latin typeface="Calibri" pitchFamily="34" charset="0"/>
                <a:ea typeface="Calibri" pitchFamily="34" charset="-122"/>
                <a:cs typeface="Calibri" pitchFamily="34" charset="-120"/>
              </a:rPr>
              <a:t>Audience</a:t>
            </a:r>
            <a:endParaRPr lang="en-US" sz="1250" dirty="0"/>
          </a:p>
        </p:txBody>
      </p:sp>
      <p:sp>
        <p:nvSpPr>
          <p:cNvPr id="9" name="Text 6">
            <a:extLst>
              <a:ext uri="{FF2B5EF4-FFF2-40B4-BE49-F238E27FC236}">
                <a16:creationId xmlns:a16="http://schemas.microsoft.com/office/drawing/2014/main" id="{2BC52282-3C0F-A499-DA33-2FBDEB006FA0}"/>
              </a:ext>
            </a:extLst>
          </p:cNvPr>
          <p:cNvSpPr/>
          <p:nvPr/>
        </p:nvSpPr>
        <p:spPr>
          <a:xfrm>
            <a:off x="7772400" y="3081528"/>
            <a:ext cx="3840480" cy="594360"/>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Business Analysts, Insurance Managers, and Decision Makers</a:t>
            </a:r>
            <a:endParaRPr lang="en-US" sz="1150" dirty="0"/>
          </a:p>
        </p:txBody>
      </p:sp>
      <p:sp>
        <p:nvSpPr>
          <p:cNvPr id="10" name="Text 7">
            <a:extLst>
              <a:ext uri="{FF2B5EF4-FFF2-40B4-BE49-F238E27FC236}">
                <a16:creationId xmlns:a16="http://schemas.microsoft.com/office/drawing/2014/main" id="{40231567-92E2-B1BF-ACFF-3C6ECEC7B104}"/>
              </a:ext>
            </a:extLst>
          </p:cNvPr>
          <p:cNvSpPr/>
          <p:nvPr/>
        </p:nvSpPr>
        <p:spPr>
          <a:xfrm>
            <a:off x="7772400" y="3840480"/>
            <a:ext cx="3840480" cy="274320"/>
          </a:xfrm>
          <a:prstGeom prst="rect">
            <a:avLst/>
          </a:prstGeom>
          <a:noFill/>
          <a:ln/>
        </p:spPr>
        <p:txBody>
          <a:bodyPr wrap="square" lIns="0" tIns="0" rIns="0" bIns="0" rtlCol="0" anchor="ctr"/>
          <a:lstStyle/>
          <a:p>
            <a:pPr marL="0" indent="0">
              <a:buNone/>
            </a:pPr>
            <a:r>
              <a:rPr lang="en-US" sz="1250" b="1" dirty="0">
                <a:solidFill>
                  <a:srgbClr val="065A82"/>
                </a:solidFill>
                <a:latin typeface="Calibri" pitchFamily="34" charset="0"/>
                <a:ea typeface="Calibri" pitchFamily="34" charset="-122"/>
                <a:cs typeface="Calibri" pitchFamily="34" charset="-120"/>
              </a:rPr>
              <a:t>Key Visuals</a:t>
            </a:r>
            <a:endParaRPr lang="en-US" sz="1250" dirty="0"/>
          </a:p>
        </p:txBody>
      </p:sp>
      <p:sp>
        <p:nvSpPr>
          <p:cNvPr id="11" name="Text 8">
            <a:extLst>
              <a:ext uri="{FF2B5EF4-FFF2-40B4-BE49-F238E27FC236}">
                <a16:creationId xmlns:a16="http://schemas.microsoft.com/office/drawing/2014/main" id="{AAA8C2F8-4ADA-D3BB-0E36-750E9FD65408}"/>
              </a:ext>
            </a:extLst>
          </p:cNvPr>
          <p:cNvSpPr/>
          <p:nvPr/>
        </p:nvSpPr>
        <p:spPr>
          <a:xfrm>
            <a:off x="7772400" y="4658868"/>
            <a:ext cx="3840480" cy="594360"/>
          </a:xfrm>
          <a:prstGeom prst="rect">
            <a:avLst/>
          </a:prstGeom>
          <a:noFill/>
          <a:ln/>
        </p:spPr>
        <p:txBody>
          <a:bodyPr wrap="square" lIns="0" tIns="0" rIns="0" bIns="0" rtlCol="0" anchor="ctr"/>
          <a:lstStyle/>
          <a:p>
            <a:pPr>
              <a:buFont typeface="Arial" panose="020B0604020202020204" pitchFamily="34" charset="0"/>
              <a:buChar char="•"/>
            </a:pPr>
            <a:r>
              <a:rPr lang="ar-EG" sz="1200" dirty="0"/>
              <a:t>Annual Medical Cost &amp; Total Premium KPIs </a:t>
            </a:r>
          </a:p>
          <a:p>
            <a:pPr>
              <a:buFont typeface="Arial" panose="020B0604020202020204" pitchFamily="34" charset="0"/>
              <a:buChar char="•"/>
            </a:pPr>
            <a:r>
              <a:rPr lang="ar-EG" sz="1200" dirty="0"/>
              <a:t>Medical Cost by BMI Category </a:t>
            </a:r>
          </a:p>
          <a:p>
            <a:pPr>
              <a:buFont typeface="Arial" panose="020B0604020202020204" pitchFamily="34" charset="0"/>
              <a:buChar char="•"/>
            </a:pPr>
            <a:r>
              <a:rPr lang="ar-EG" sz="1200" dirty="0"/>
              <a:t>Members &amp; Profit by Age Group </a:t>
            </a:r>
          </a:p>
          <a:p>
            <a:pPr>
              <a:buFont typeface="Arial" panose="020B0604020202020204" pitchFamily="34" charset="0"/>
              <a:buChar char="•"/>
            </a:pPr>
            <a:r>
              <a:rPr lang="ar-EG" sz="1200" dirty="0"/>
              <a:t>Claims Paid by Network Tier </a:t>
            </a:r>
          </a:p>
          <a:p>
            <a:pPr>
              <a:buFont typeface="Arial" panose="020B0604020202020204" pitchFamily="34" charset="0"/>
              <a:buChar char="•"/>
            </a:pPr>
            <a:r>
              <a:rPr lang="ar-EG" sz="1200" dirty="0"/>
              <a:t>Members by Region </a:t>
            </a:r>
          </a:p>
          <a:p>
            <a:pPr>
              <a:buFont typeface="Arial" panose="020B0604020202020204" pitchFamily="34" charset="0"/>
              <a:buChar char="•"/>
            </a:pPr>
            <a:r>
              <a:rPr lang="ar-EG" sz="1200" dirty="0"/>
              <a:t>Plan Type Distribution </a:t>
            </a:r>
          </a:p>
          <a:p>
            <a:pPr>
              <a:buFont typeface="Arial" panose="020B0604020202020204" pitchFamily="34" charset="0"/>
              <a:buChar char="•"/>
            </a:pPr>
            <a:r>
              <a:rPr lang="ar-EG" sz="1200" dirty="0"/>
              <a:t>Smoker vs Non-Smoker Comparison </a:t>
            </a:r>
          </a:p>
          <a:p>
            <a:pPr>
              <a:buFont typeface="Arial" panose="020B0604020202020204" pitchFamily="34" charset="0"/>
              <a:buChar char="•"/>
            </a:pPr>
            <a:r>
              <a:rPr lang="ar-EG" sz="1200" dirty="0"/>
              <a:t>Gender Distribution </a:t>
            </a:r>
          </a:p>
        </p:txBody>
      </p:sp>
      <p:sp>
        <p:nvSpPr>
          <p:cNvPr id="12" name="Text 9">
            <a:extLst>
              <a:ext uri="{FF2B5EF4-FFF2-40B4-BE49-F238E27FC236}">
                <a16:creationId xmlns:a16="http://schemas.microsoft.com/office/drawing/2014/main" id="{FE5121B6-D0D0-C50F-7B95-AA4A04CB6C76}"/>
              </a:ext>
            </a:extLst>
          </p:cNvPr>
          <p:cNvSpPr/>
          <p:nvPr/>
        </p:nvSpPr>
        <p:spPr>
          <a:xfrm>
            <a:off x="457200" y="6446520"/>
            <a:ext cx="6400800" cy="274320"/>
          </a:xfrm>
          <a:prstGeom prst="rect">
            <a:avLst/>
          </a:prstGeom>
          <a:noFill/>
          <a:ln/>
        </p:spPr>
        <p:txBody>
          <a:bodyPr wrap="square" lIns="0" tIns="0" rIns="0" bIns="0" rtlCol="0" anchor="ctr"/>
          <a:lstStyle/>
          <a:p>
            <a:pPr marL="0" indent="0" algn="l">
              <a:buNone/>
            </a:pPr>
            <a:endParaRPr lang="en-US" sz="900" dirty="0"/>
          </a:p>
        </p:txBody>
      </p:sp>
      <p:sp>
        <p:nvSpPr>
          <p:cNvPr id="13" name="Text 10">
            <a:extLst>
              <a:ext uri="{FF2B5EF4-FFF2-40B4-BE49-F238E27FC236}">
                <a16:creationId xmlns:a16="http://schemas.microsoft.com/office/drawing/2014/main" id="{C620650F-A8FF-D4F6-70C7-94B16D4DE084}"/>
              </a:ext>
            </a:extLst>
          </p:cNvPr>
          <p:cNvSpPr/>
          <p:nvPr/>
        </p:nvSpPr>
        <p:spPr>
          <a:xfrm>
            <a:off x="11274552" y="6446520"/>
            <a:ext cx="457200" cy="27432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10</a:t>
            </a:r>
            <a:endParaRPr lang="en-US" sz="900" dirty="0"/>
          </a:p>
        </p:txBody>
      </p:sp>
      <p:pic>
        <p:nvPicPr>
          <p:cNvPr id="14" name="Picture 13" descr="https://private-user-images.githubusercontent.com/235096874/616721494-5c5a62e4-ccca-4b27-8bc9-167c8fd506b7.png?jwt=eyJ0eXAiOiJKV1QiLCJhbGciOiJIUzI1NiJ9.eyJpc3MiOiJnaXRodWIuY29tIiwiYXVkIjoicmF3LmdpdGh1YnVzZXJjb250ZW50LmNvbSIsImtleSI6ImtleTUiLCJleHAiOjE3ODMwNjk0MzAsIm5iZiI6MTc4MzA2OTEzMCwicGF0aCI6Ii8yMzUwOTY4NzQvNjE2NzIxNDk0LTVjNWE2MmU0LWNjY2EtNGIyNy04YmM5LTE2N2M4ZmQ1MDZiNy5wbmc_WC1BbXotQWxnb3JpdGhtPUFXUzQtSE1BQy1TSEEyNTYmWC1BbXotQ3JlZGVudGlhbD1BS0lBVkNPRFlMU0E1M1BRSzRaQSUyRjIwMjYwNzAzJTJGdXMtZWFzdC0xJTJGczMlMkZhd3M0X3JlcXVlc3QmWC1BbXotRGF0ZT0yMDI2MDcwM1QwODU4NTBaJlgtQW16LUV4cGlyZXM9MzAwJlgtQW16LVNpZ25hdHVyZT00NjA5MWE3ZDdiNjYwNzc1N2Y4Y2NhYzQ0YzI2OTkwMzAyZWY5MjJiZWRmNmJiZjA1MTZkODMxYjg3NTAxNmIyJlgtQW16LVNpZ25lZEhlYWRlcnM9aG9zdCZyZXNwb25zZS1jb250ZW50LXR5cGU9aW1hZ2UlMkZwbmcifQ.QUUSpiAOLbA1Ni1O4hAc20_N2g0BvOzeY37tvyFQ-bI">
            <a:extLst>
              <a:ext uri="{FF2B5EF4-FFF2-40B4-BE49-F238E27FC236}">
                <a16:creationId xmlns:a16="http://schemas.microsoft.com/office/drawing/2014/main" id="{D61E896A-9FBF-F078-1C91-D622D3174369}"/>
              </a:ext>
            </a:extLst>
          </p:cNvPr>
          <p:cNvPicPr>
            <a:picLocks noChangeAspect="1"/>
          </p:cNvPicPr>
          <p:nvPr/>
        </p:nvPicPr>
        <p:blipFill>
          <a:blip r:embed="rId3"/>
          <a:stretch>
            <a:fillRect/>
          </a:stretch>
        </p:blipFill>
        <p:spPr>
          <a:xfrm flipH="1">
            <a:off x="-2346857" y="8598066"/>
            <a:ext cx="2346857" cy="1309033"/>
          </a:xfrm>
          <a:prstGeom prst="rect">
            <a:avLst/>
          </a:prstGeom>
        </p:spPr>
      </p:pic>
      <p:pic>
        <p:nvPicPr>
          <p:cNvPr id="15" name="Picture 14" descr="https://private-user-images.githubusercontent.com/235096874/616721669-1532530b-ff39-4512-b4d7-ce08a3e69b8f.png?jwt=eyJ0eXAiOiJKV1QiLCJhbGciOiJIUzI1NiJ9.eyJpc3MiOiJnaXRodWIuY29tIiwiYXVkIjoicmF3LmdpdGh1YnVzZXJjb250ZW50LmNvbSIsImtleSI6ImtleTUiLCJleHAiOjE3ODMwNjk0MzAsIm5iZiI6MTc4MzA2OTEzMCwicGF0aCI6Ii8yMzUwOTY4NzQvNjE2NzIxNjY5LTE1MzI1MzBiLWZmMzktNDUxMi1iNGQ3LWNlMDhhM2U2OWI4Zi5wbmc_WC1BbXotQWxnb3JpdGhtPUFXUzQtSE1BQy1TSEEyNTYmWC1BbXotQ3JlZGVudGlhbD1BS0lBVkNPRFlMU0E1M1BRSzRaQSUyRjIwMjYwNzAzJTJGdXMtZWFzdC0xJTJGczMlMkZhd3M0X3JlcXVlc3QmWC1BbXotRGF0ZT0yMDI2MDcwM1QwODU4NTBaJlgtQW16LUV4cGlyZXM9MzAwJlgtQW16LVNpZ25hdHVyZT05ZmVlYTUzZmNmYzE0NGVmZjAxOTUzYjg2MzUyZGU4MGJkMGZhZmI2MGQ1MDcxYjJkZGQxMmUyYjM1MzRkOGFkJlgtQW16LVNpZ25lZEhlYWRlcnM9aG9zdCZyZXNwb25zZS1jb250ZW50LXR5cGU9aW1hZ2UlMkZwbmcifQ.iDAL127vdRpGnMrlF4NcaEA3Cwj9_DA2e3UIAPGx5wU">
            <a:extLst>
              <a:ext uri="{FF2B5EF4-FFF2-40B4-BE49-F238E27FC236}">
                <a16:creationId xmlns:a16="http://schemas.microsoft.com/office/drawing/2014/main" id="{5847B6C1-4CA6-3E3E-1817-6EE764E7A72F}"/>
              </a:ext>
            </a:extLst>
          </p:cNvPr>
          <p:cNvPicPr>
            <a:picLocks noChangeAspect="1"/>
          </p:cNvPicPr>
          <p:nvPr/>
        </p:nvPicPr>
        <p:blipFill>
          <a:blip r:embed="rId4"/>
          <a:stretch>
            <a:fillRect/>
          </a:stretch>
        </p:blipFill>
        <p:spPr>
          <a:xfrm>
            <a:off x="548640" y="7470632"/>
            <a:ext cx="6713121" cy="3724143"/>
          </a:xfrm>
          <a:prstGeom prst="rect">
            <a:avLst/>
          </a:prstGeom>
        </p:spPr>
      </p:pic>
      <p:sp>
        <p:nvSpPr>
          <p:cNvPr id="3" name="Text 1">
            <a:extLst>
              <a:ext uri="{FF2B5EF4-FFF2-40B4-BE49-F238E27FC236}">
                <a16:creationId xmlns:a16="http://schemas.microsoft.com/office/drawing/2014/main" id="{31AE9E90-7F84-0D76-E7D7-0270CEE1549F}"/>
              </a:ext>
            </a:extLst>
          </p:cNvPr>
          <p:cNvSpPr/>
          <p:nvPr/>
        </p:nvSpPr>
        <p:spPr>
          <a:xfrm>
            <a:off x="548640" y="621792"/>
            <a:ext cx="10515600" cy="731520"/>
          </a:xfrm>
          <a:prstGeom prst="rect">
            <a:avLst/>
          </a:prstGeom>
          <a:noFill/>
          <a:ln/>
        </p:spPr>
        <p:txBody>
          <a:bodyPr wrap="square" lIns="0" tIns="0" rIns="0" bIns="0" rtlCol="0" anchor="ctr"/>
          <a:lstStyle/>
          <a:p>
            <a:pPr marL="0" indent="0">
              <a:buNone/>
            </a:pPr>
            <a:r>
              <a:rPr lang="en-US" sz="3200" b="1" dirty="0">
                <a:solidFill>
                  <a:srgbClr val="0B1F33"/>
                </a:solidFill>
                <a:latin typeface="Cambria" pitchFamily="34" charset="0"/>
                <a:ea typeface="Cambria" pitchFamily="34" charset="-122"/>
                <a:cs typeface="Cambria" pitchFamily="34" charset="-120"/>
              </a:rPr>
              <a:t> Tableau —Demographics Dashboard</a:t>
            </a:r>
            <a:endParaRPr lang="en-US" sz="3200" dirty="0"/>
          </a:p>
        </p:txBody>
      </p:sp>
      <p:pic>
        <p:nvPicPr>
          <p:cNvPr id="18" name="Picture 17">
            <a:extLst>
              <a:ext uri="{FF2B5EF4-FFF2-40B4-BE49-F238E27FC236}">
                <a16:creationId xmlns:a16="http://schemas.microsoft.com/office/drawing/2014/main" id="{97F152F2-B911-0B7D-936A-615B1215E839}"/>
              </a:ext>
            </a:extLst>
          </p:cNvPr>
          <p:cNvPicPr>
            <a:picLocks noChangeAspect="1"/>
          </p:cNvPicPr>
          <p:nvPr/>
        </p:nvPicPr>
        <p:blipFill>
          <a:blip r:embed="rId5"/>
          <a:stretch>
            <a:fillRect/>
          </a:stretch>
        </p:blipFill>
        <p:spPr>
          <a:xfrm>
            <a:off x="548640" y="1737360"/>
            <a:ext cx="6847669" cy="3898879"/>
          </a:xfrm>
          <a:prstGeom prst="rect">
            <a:avLst/>
          </a:prstGeom>
        </p:spPr>
      </p:pic>
    </p:spTree>
    <p:extLst>
      <p:ext uri="{BB962C8B-B14F-4D97-AF65-F5344CB8AC3E}">
        <p14:creationId xmlns:p14="http://schemas.microsoft.com/office/powerpoint/2010/main" val="87246983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922AE832-0364-F678-3FAA-B0EBFB913DCE}"/>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4A85423F-74FA-9F29-4FB3-37A7139629B4}"/>
              </a:ext>
            </a:extLst>
          </p:cNvPr>
          <p:cNvSpPr/>
          <p:nvPr/>
        </p:nvSpPr>
        <p:spPr>
          <a:xfrm>
            <a:off x="548640" y="384048"/>
            <a:ext cx="7315200" cy="274320"/>
          </a:xfrm>
          <a:prstGeom prst="rect">
            <a:avLst/>
          </a:prstGeom>
          <a:noFill/>
          <a:ln/>
        </p:spPr>
        <p:txBody>
          <a:bodyPr wrap="square" lIns="0" tIns="0" rIns="0" bIns="0" rtlCol="0" anchor="ctr"/>
          <a:lstStyle/>
          <a:p>
            <a:pPr marL="0" indent="0">
              <a:buNone/>
            </a:pPr>
            <a:r>
              <a:rPr lang="en-US" sz="1200" b="1" kern="0" spc="200" dirty="0">
                <a:solidFill>
                  <a:srgbClr val="1C7293"/>
                </a:solidFill>
                <a:latin typeface="Calibri" pitchFamily="34" charset="0"/>
                <a:ea typeface="Calibri" pitchFamily="34" charset="-122"/>
                <a:cs typeface="Calibri" pitchFamily="34" charset="-120"/>
              </a:rPr>
              <a:t>EXPLORATORY VIEW</a:t>
            </a:r>
            <a:endParaRPr lang="en-US" sz="1200" dirty="0"/>
          </a:p>
        </p:txBody>
      </p:sp>
      <p:sp>
        <p:nvSpPr>
          <p:cNvPr id="4" name="Shape 2">
            <a:extLst>
              <a:ext uri="{FF2B5EF4-FFF2-40B4-BE49-F238E27FC236}">
                <a16:creationId xmlns:a16="http://schemas.microsoft.com/office/drawing/2014/main" id="{0E3C0D60-1372-D87D-CEC6-84823CF783CD}"/>
              </a:ext>
            </a:extLst>
          </p:cNvPr>
          <p:cNvSpPr/>
          <p:nvPr/>
        </p:nvSpPr>
        <p:spPr>
          <a:xfrm>
            <a:off x="376448" y="1572768"/>
            <a:ext cx="7045630" cy="4206240"/>
          </a:xfrm>
          <a:prstGeom prst="roundRect">
            <a:avLst>
              <a:gd name="adj" fmla="val 1304"/>
            </a:avLst>
          </a:prstGeom>
          <a:solidFill>
            <a:srgbClr val="F1F6F8"/>
          </a:solidFill>
          <a:ln/>
          <a:effectLst>
            <a:outerShdw blurRad="101600" dist="38100" dir="2700000" algn="bl" rotWithShape="0">
              <a:srgbClr val="000000">
                <a:alpha val="12000"/>
              </a:srgbClr>
            </a:outerShdw>
          </a:effectLst>
        </p:spPr>
        <p:txBody>
          <a:bodyPr/>
          <a:lstStyle/>
          <a:p>
            <a:endParaRPr lang="en-US"/>
          </a:p>
        </p:txBody>
      </p:sp>
      <p:sp>
        <p:nvSpPr>
          <p:cNvPr id="6" name="Text 3">
            <a:extLst>
              <a:ext uri="{FF2B5EF4-FFF2-40B4-BE49-F238E27FC236}">
                <a16:creationId xmlns:a16="http://schemas.microsoft.com/office/drawing/2014/main" id="{3A04B75A-0E1F-0F01-F6D2-A3CB78EB6240}"/>
              </a:ext>
            </a:extLst>
          </p:cNvPr>
          <p:cNvSpPr/>
          <p:nvPr/>
        </p:nvSpPr>
        <p:spPr>
          <a:xfrm>
            <a:off x="7772400" y="1737360"/>
            <a:ext cx="3840480" cy="274320"/>
          </a:xfrm>
          <a:prstGeom prst="rect">
            <a:avLst/>
          </a:prstGeom>
          <a:noFill/>
          <a:ln/>
        </p:spPr>
        <p:txBody>
          <a:bodyPr wrap="square" lIns="0" tIns="0" rIns="0" bIns="0" rtlCol="0" anchor="ctr"/>
          <a:lstStyle/>
          <a:p>
            <a:pPr marL="0" indent="0">
              <a:buNone/>
            </a:pPr>
            <a:r>
              <a:rPr lang="en-US" sz="1250" b="1" dirty="0">
                <a:solidFill>
                  <a:srgbClr val="065A82"/>
                </a:solidFill>
                <a:latin typeface="Calibri" pitchFamily="34" charset="0"/>
                <a:ea typeface="Calibri" pitchFamily="34" charset="-122"/>
                <a:cs typeface="Calibri" pitchFamily="34" charset="-120"/>
              </a:rPr>
              <a:t>Answers</a:t>
            </a:r>
            <a:endParaRPr lang="en-US" sz="1250" dirty="0"/>
          </a:p>
        </p:txBody>
      </p:sp>
      <p:sp>
        <p:nvSpPr>
          <p:cNvPr id="7" name="Text 4">
            <a:extLst>
              <a:ext uri="{FF2B5EF4-FFF2-40B4-BE49-F238E27FC236}">
                <a16:creationId xmlns:a16="http://schemas.microsoft.com/office/drawing/2014/main" id="{14873FE4-532C-0C5B-335F-1BCBEAF11EC0}"/>
              </a:ext>
            </a:extLst>
          </p:cNvPr>
          <p:cNvSpPr/>
          <p:nvPr/>
        </p:nvSpPr>
        <p:spPr>
          <a:xfrm>
            <a:off x="7772400" y="2029968"/>
            <a:ext cx="4114800" cy="594360"/>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"How do chronic conditions, hospitalization, and health indicators affect healthcare utilization and claims?</a:t>
            </a:r>
            <a:endParaRPr lang="en-US" sz="1150" dirty="0"/>
          </a:p>
        </p:txBody>
      </p:sp>
      <p:sp>
        <p:nvSpPr>
          <p:cNvPr id="8" name="Text 5">
            <a:extLst>
              <a:ext uri="{FF2B5EF4-FFF2-40B4-BE49-F238E27FC236}">
                <a16:creationId xmlns:a16="http://schemas.microsoft.com/office/drawing/2014/main" id="{1367E86F-E55D-2EB3-E278-18926C388056}"/>
              </a:ext>
            </a:extLst>
          </p:cNvPr>
          <p:cNvSpPr/>
          <p:nvPr/>
        </p:nvSpPr>
        <p:spPr>
          <a:xfrm>
            <a:off x="7772400" y="2788920"/>
            <a:ext cx="3840480" cy="274320"/>
          </a:xfrm>
          <a:prstGeom prst="rect">
            <a:avLst/>
          </a:prstGeom>
          <a:noFill/>
          <a:ln/>
        </p:spPr>
        <p:txBody>
          <a:bodyPr wrap="square" lIns="0" tIns="0" rIns="0" bIns="0" rtlCol="0" anchor="ctr"/>
          <a:lstStyle/>
          <a:p>
            <a:pPr marL="0" indent="0">
              <a:buNone/>
            </a:pPr>
            <a:r>
              <a:rPr lang="en-US" sz="1250" b="1" dirty="0">
                <a:solidFill>
                  <a:srgbClr val="065A82"/>
                </a:solidFill>
                <a:latin typeface="Calibri" pitchFamily="34" charset="0"/>
                <a:ea typeface="Calibri" pitchFamily="34" charset="-122"/>
                <a:cs typeface="Calibri" pitchFamily="34" charset="-120"/>
              </a:rPr>
              <a:t>Audience</a:t>
            </a:r>
            <a:endParaRPr lang="en-US" sz="1250" dirty="0"/>
          </a:p>
        </p:txBody>
      </p:sp>
      <p:sp>
        <p:nvSpPr>
          <p:cNvPr id="9" name="Text 6">
            <a:extLst>
              <a:ext uri="{FF2B5EF4-FFF2-40B4-BE49-F238E27FC236}">
                <a16:creationId xmlns:a16="http://schemas.microsoft.com/office/drawing/2014/main" id="{276239DF-6FAC-5C8E-2F6B-76E3CE36A663}"/>
              </a:ext>
            </a:extLst>
          </p:cNvPr>
          <p:cNvSpPr/>
          <p:nvPr/>
        </p:nvSpPr>
        <p:spPr>
          <a:xfrm>
            <a:off x="7772400" y="3081528"/>
            <a:ext cx="3840480" cy="594360"/>
          </a:xfrm>
          <a:prstGeom prst="rect">
            <a:avLst/>
          </a:prstGeom>
          <a:noFill/>
          <a:ln/>
        </p:spPr>
        <p:txBody>
          <a:bodyPr wrap="square" lIns="0" tIns="0" rIns="0" bIns="0" rtlCol="0" anchor="ctr"/>
          <a:lstStyle/>
          <a:p>
            <a:pPr marL="0" indent="0">
              <a:buNone/>
            </a:pPr>
            <a:r>
              <a:rPr lang="ar-EG" sz="1200" dirty="0"/>
              <a:t>Healthcare Analysts, Insurance Managers, and Risk Teams</a:t>
            </a:r>
            <a:endParaRPr lang="en-US" sz="1150" dirty="0"/>
          </a:p>
        </p:txBody>
      </p:sp>
      <p:sp>
        <p:nvSpPr>
          <p:cNvPr id="10" name="Text 7">
            <a:extLst>
              <a:ext uri="{FF2B5EF4-FFF2-40B4-BE49-F238E27FC236}">
                <a16:creationId xmlns:a16="http://schemas.microsoft.com/office/drawing/2014/main" id="{C64EE02B-B2CF-3A49-FA28-6E4298FA5E1A}"/>
              </a:ext>
            </a:extLst>
          </p:cNvPr>
          <p:cNvSpPr/>
          <p:nvPr/>
        </p:nvSpPr>
        <p:spPr>
          <a:xfrm>
            <a:off x="7772400" y="3840480"/>
            <a:ext cx="3840480" cy="274320"/>
          </a:xfrm>
          <a:prstGeom prst="rect">
            <a:avLst/>
          </a:prstGeom>
          <a:noFill/>
          <a:ln/>
        </p:spPr>
        <p:txBody>
          <a:bodyPr wrap="square" lIns="0" tIns="0" rIns="0" bIns="0" rtlCol="0" anchor="ctr"/>
          <a:lstStyle/>
          <a:p>
            <a:pPr marL="0" indent="0">
              <a:buNone/>
            </a:pPr>
            <a:r>
              <a:rPr lang="en-US" sz="1250" b="1" dirty="0">
                <a:solidFill>
                  <a:srgbClr val="065A82"/>
                </a:solidFill>
                <a:latin typeface="Calibri" pitchFamily="34" charset="0"/>
                <a:ea typeface="Calibri" pitchFamily="34" charset="-122"/>
                <a:cs typeface="Calibri" pitchFamily="34" charset="-120"/>
              </a:rPr>
              <a:t>Key Visuals</a:t>
            </a:r>
            <a:endParaRPr lang="en-US" sz="1250" dirty="0"/>
          </a:p>
        </p:txBody>
      </p:sp>
      <p:sp>
        <p:nvSpPr>
          <p:cNvPr id="12" name="Text 9">
            <a:extLst>
              <a:ext uri="{FF2B5EF4-FFF2-40B4-BE49-F238E27FC236}">
                <a16:creationId xmlns:a16="http://schemas.microsoft.com/office/drawing/2014/main" id="{EEED8CBB-2607-6A40-5FE6-375387ADFF17}"/>
              </a:ext>
            </a:extLst>
          </p:cNvPr>
          <p:cNvSpPr/>
          <p:nvPr/>
        </p:nvSpPr>
        <p:spPr>
          <a:xfrm>
            <a:off x="457200" y="6446520"/>
            <a:ext cx="6400800" cy="274320"/>
          </a:xfrm>
          <a:prstGeom prst="rect">
            <a:avLst/>
          </a:prstGeom>
          <a:noFill/>
          <a:ln/>
        </p:spPr>
        <p:txBody>
          <a:bodyPr wrap="square" lIns="0" tIns="0" rIns="0" bIns="0" rtlCol="0" anchor="ctr"/>
          <a:lstStyle/>
          <a:p>
            <a:pPr marL="0" indent="0" algn="l">
              <a:buNone/>
            </a:pPr>
            <a:endParaRPr lang="en-US" sz="900" dirty="0"/>
          </a:p>
        </p:txBody>
      </p:sp>
      <p:sp>
        <p:nvSpPr>
          <p:cNvPr id="13" name="Text 10">
            <a:extLst>
              <a:ext uri="{FF2B5EF4-FFF2-40B4-BE49-F238E27FC236}">
                <a16:creationId xmlns:a16="http://schemas.microsoft.com/office/drawing/2014/main" id="{D62C860A-EA57-3292-4A1A-229702AB392F}"/>
              </a:ext>
            </a:extLst>
          </p:cNvPr>
          <p:cNvSpPr/>
          <p:nvPr/>
        </p:nvSpPr>
        <p:spPr>
          <a:xfrm>
            <a:off x="11274552" y="6446520"/>
            <a:ext cx="457200" cy="27432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10</a:t>
            </a:r>
            <a:endParaRPr lang="en-US" sz="900" dirty="0"/>
          </a:p>
        </p:txBody>
      </p:sp>
      <p:pic>
        <p:nvPicPr>
          <p:cNvPr id="14" name="Picture 13" descr="https://private-user-images.githubusercontent.com/235096874/616721494-5c5a62e4-ccca-4b27-8bc9-167c8fd506b7.png?jwt=eyJ0eXAiOiJKV1QiLCJhbGciOiJIUzI1NiJ9.eyJpc3MiOiJnaXRodWIuY29tIiwiYXVkIjoicmF3LmdpdGh1YnVzZXJjb250ZW50LmNvbSIsImtleSI6ImtleTUiLCJleHAiOjE3ODMwNjk0MzAsIm5iZiI6MTc4MzA2OTEzMCwicGF0aCI6Ii8yMzUwOTY4NzQvNjE2NzIxNDk0LTVjNWE2MmU0LWNjY2EtNGIyNy04YmM5LTE2N2M4ZmQ1MDZiNy5wbmc_WC1BbXotQWxnb3JpdGhtPUFXUzQtSE1BQy1TSEEyNTYmWC1BbXotQ3JlZGVudGlhbD1BS0lBVkNPRFlMU0E1M1BRSzRaQSUyRjIwMjYwNzAzJTJGdXMtZWFzdC0xJTJGczMlMkZhd3M0X3JlcXVlc3QmWC1BbXotRGF0ZT0yMDI2MDcwM1QwODU4NTBaJlgtQW16LUV4cGlyZXM9MzAwJlgtQW16LVNpZ25hdHVyZT00NjA5MWE3ZDdiNjYwNzc1N2Y4Y2NhYzQ0YzI2OTkwMzAyZWY5MjJiZWRmNmJiZjA1MTZkODMxYjg3NTAxNmIyJlgtQW16LVNpZ25lZEhlYWRlcnM9aG9zdCZyZXNwb25zZS1jb250ZW50LXR5cGU9aW1hZ2UlMkZwbmcifQ.QUUSpiAOLbA1Ni1O4hAc20_N2g0BvOzeY37tvyFQ-bI">
            <a:extLst>
              <a:ext uri="{FF2B5EF4-FFF2-40B4-BE49-F238E27FC236}">
                <a16:creationId xmlns:a16="http://schemas.microsoft.com/office/drawing/2014/main" id="{DBF3F1ED-27CB-3836-D5C8-C31DF991776D}"/>
              </a:ext>
            </a:extLst>
          </p:cNvPr>
          <p:cNvPicPr>
            <a:picLocks noChangeAspect="1"/>
          </p:cNvPicPr>
          <p:nvPr/>
        </p:nvPicPr>
        <p:blipFill>
          <a:blip r:embed="rId3"/>
          <a:stretch>
            <a:fillRect/>
          </a:stretch>
        </p:blipFill>
        <p:spPr>
          <a:xfrm>
            <a:off x="548640" y="-3929611"/>
            <a:ext cx="6713121" cy="3744453"/>
          </a:xfrm>
          <a:prstGeom prst="rect">
            <a:avLst/>
          </a:prstGeom>
        </p:spPr>
      </p:pic>
      <p:sp>
        <p:nvSpPr>
          <p:cNvPr id="3" name="Text 1">
            <a:extLst>
              <a:ext uri="{FF2B5EF4-FFF2-40B4-BE49-F238E27FC236}">
                <a16:creationId xmlns:a16="http://schemas.microsoft.com/office/drawing/2014/main" id="{8A6EF8C5-AB6D-46D9-8014-A3926E33AC1C}"/>
              </a:ext>
            </a:extLst>
          </p:cNvPr>
          <p:cNvSpPr/>
          <p:nvPr/>
        </p:nvSpPr>
        <p:spPr>
          <a:xfrm>
            <a:off x="548640" y="621792"/>
            <a:ext cx="10515600" cy="731520"/>
          </a:xfrm>
          <a:prstGeom prst="rect">
            <a:avLst/>
          </a:prstGeom>
          <a:noFill/>
          <a:ln/>
        </p:spPr>
        <p:txBody>
          <a:bodyPr wrap="square" lIns="0" tIns="0" rIns="0" bIns="0" rtlCol="0" anchor="ctr"/>
          <a:lstStyle/>
          <a:p>
            <a:pPr marL="0" indent="0">
              <a:buNone/>
            </a:pPr>
            <a:r>
              <a:rPr lang="en-US" sz="3200" b="1" dirty="0">
                <a:solidFill>
                  <a:srgbClr val="0B1F33"/>
                </a:solidFill>
                <a:latin typeface="Cambria" pitchFamily="34" charset="0"/>
                <a:ea typeface="Cambria" pitchFamily="34" charset="-122"/>
                <a:cs typeface="Cambria" pitchFamily="34" charset="-120"/>
              </a:rPr>
              <a:t> Tableau — Customers Dashboard</a:t>
            </a:r>
            <a:endParaRPr lang="en-US" sz="3200" dirty="0"/>
          </a:p>
        </p:txBody>
      </p:sp>
      <p:pic>
        <p:nvPicPr>
          <p:cNvPr id="17" name="Picture 16" descr="https://private-user-images.githubusercontent.com/235096874/616721856-e65999c4-7c6c-48bb-a88d-1f4d3b9b0eed.png?jwt=eyJ0eXAiOiJKV1QiLCJhbGciOiJIUzI1NiJ9.eyJpc3MiOiJnaXRodWIuY29tIiwiYXVkIjoicmF3LmdpdGh1YnVzZXJjb250ZW50LmNvbSIsImtleSI6ImtleTUiLCJleHAiOjE3ODMwNjk0MzAsIm5iZiI6MTc4MzA2OTEzMCwicGF0aCI6Ii8yMzUwOTY4NzQvNjE2NzIxODU2LWU2NTk5OWM0LTdjNmMtNDhiYi1hODhkLTFmNGQzYjliMGVlZC5wbmc_WC1BbXotQWxnb3JpdGhtPUFXUzQtSE1BQy1TSEEyNTYmWC1BbXotQ3JlZGVudGlhbD1BS0lBVkNPRFlMU0E1M1BRSzRaQSUyRjIwMjYwNzAzJTJGdXMtZWFzdC0xJTJGczMlMkZhd3M0X3JlcXVlc3QmWC1BbXotRGF0ZT0yMDI2MDcwM1QwODU4NTBaJlgtQW16LUV4cGlyZXM9MzAwJlgtQW16LVNpZ25hdHVyZT02NDkxMWJmOThkNmQ0NzY0YzBkODQ2YzA2NDUzODI4MjBhY2FhNmQwZTg5YzM3MTIwZjFhNGY4N2IxMjk1ODkyJlgtQW16LVNpZ25lZEhlYWRlcnM9aG9zdCZyZXNwb25zZS1jb250ZW50LXR5cGU9aW1hZ2UlMkZwbmcifQ.pyWvnmBscyJ_tRyf9Z1EB5cg4oylziGk0kQVRDNobxU">
            <a:extLst>
              <a:ext uri="{FF2B5EF4-FFF2-40B4-BE49-F238E27FC236}">
                <a16:creationId xmlns:a16="http://schemas.microsoft.com/office/drawing/2014/main" id="{9EAFE1F4-95BE-8FF6-F369-387CAC34CD78}"/>
              </a:ext>
            </a:extLst>
          </p:cNvPr>
          <p:cNvPicPr>
            <a:picLocks noChangeAspect="1"/>
          </p:cNvPicPr>
          <p:nvPr/>
        </p:nvPicPr>
        <p:blipFill>
          <a:blip r:embed="rId4"/>
          <a:stretch>
            <a:fillRect/>
          </a:stretch>
        </p:blipFill>
        <p:spPr>
          <a:xfrm>
            <a:off x="548640" y="7067500"/>
            <a:ext cx="6713121" cy="3781311"/>
          </a:xfrm>
          <a:prstGeom prst="rect">
            <a:avLst/>
          </a:prstGeom>
        </p:spPr>
      </p:pic>
      <p:sp>
        <p:nvSpPr>
          <p:cNvPr id="16" name="TextBox 15">
            <a:extLst>
              <a:ext uri="{FF2B5EF4-FFF2-40B4-BE49-F238E27FC236}">
                <a16:creationId xmlns:a16="http://schemas.microsoft.com/office/drawing/2014/main" id="{AA20BAAD-0F9C-4A0A-06DA-DD886CFDF85C}"/>
              </a:ext>
            </a:extLst>
          </p:cNvPr>
          <p:cNvSpPr txBox="1"/>
          <p:nvPr/>
        </p:nvSpPr>
        <p:spPr>
          <a:xfrm>
            <a:off x="7689932" y="4114800"/>
            <a:ext cx="5504872" cy="2246769"/>
          </a:xfrm>
          <a:prstGeom prst="rect">
            <a:avLst/>
          </a:prstGeom>
          <a:noFill/>
        </p:spPr>
        <p:txBody>
          <a:bodyPr wrap="square">
            <a:spAutoFit/>
          </a:bodyPr>
          <a:lstStyle/>
          <a:p>
            <a:pPr>
              <a:buFont typeface="Arial" panose="020B0604020202020204" pitchFamily="34" charset="0"/>
              <a:buChar char="•"/>
            </a:pPr>
            <a:r>
              <a:rPr lang="ar-EG" sz="1400" dirty="0"/>
              <a:t>Average Hospitalized Days </a:t>
            </a:r>
          </a:p>
          <a:p>
            <a:pPr>
              <a:buFont typeface="Arial" panose="020B0604020202020204" pitchFamily="34" charset="0"/>
              <a:buChar char="•"/>
            </a:pPr>
            <a:r>
              <a:rPr lang="ar-EG" sz="1400" dirty="0"/>
              <a:t>Average Cost per Chronic Condition </a:t>
            </a:r>
          </a:p>
          <a:p>
            <a:pPr>
              <a:buFont typeface="Arial" panose="020B0604020202020204" pitchFamily="34" charset="0"/>
              <a:buChar char="•"/>
            </a:pPr>
            <a:r>
              <a:rPr lang="ar-EG" sz="1400" dirty="0"/>
              <a:t>Total Claims Count </a:t>
            </a:r>
          </a:p>
          <a:p>
            <a:pPr>
              <a:buFont typeface="Arial" panose="020B0604020202020204" pitchFamily="34" charset="0"/>
              <a:buChar char="•"/>
            </a:pPr>
            <a:r>
              <a:rPr lang="ar-EG" sz="1400" dirty="0"/>
              <a:t>Blood Pressure Category Distribution </a:t>
            </a:r>
          </a:p>
          <a:p>
            <a:pPr>
              <a:buFont typeface="Arial" panose="020B0604020202020204" pitchFamily="34" charset="0"/>
              <a:buChar char="•"/>
            </a:pPr>
            <a:r>
              <a:rPr lang="ar-EG" sz="1400" dirty="0"/>
              <a:t>Hospitalization Days Analysis </a:t>
            </a:r>
          </a:p>
          <a:p>
            <a:pPr>
              <a:buFont typeface="Arial" panose="020B0604020202020204" pitchFamily="34" charset="0"/>
              <a:buChar char="•"/>
            </a:pPr>
            <a:r>
              <a:rPr lang="ar-EG" sz="1400" dirty="0"/>
              <a:t>Chronic Condition Distribution </a:t>
            </a:r>
          </a:p>
          <a:p>
            <a:pPr>
              <a:buFont typeface="Arial" panose="020B0604020202020204" pitchFamily="34" charset="0"/>
              <a:buChar char="•"/>
            </a:pPr>
            <a:r>
              <a:rPr lang="ar-EG" sz="1400" dirty="0"/>
              <a:t>Multi-condition Patients </a:t>
            </a:r>
          </a:p>
          <a:p>
            <a:pPr>
              <a:buFont typeface="Arial" panose="020B0604020202020204" pitchFamily="34" charset="0"/>
              <a:buChar char="•"/>
            </a:pPr>
            <a:r>
              <a:rPr lang="ar-EG" sz="1400" dirty="0"/>
              <a:t>Diabetes Category </a:t>
            </a:r>
          </a:p>
          <a:p>
            <a:pPr>
              <a:buFont typeface="Arial" panose="020B0604020202020204" pitchFamily="34" charset="0"/>
              <a:buChar char="•"/>
            </a:pPr>
            <a:r>
              <a:rPr lang="ar-EG" sz="1400" dirty="0"/>
              <a:t>Alcohol Frequency </a:t>
            </a:r>
          </a:p>
          <a:p>
            <a:pPr>
              <a:buFont typeface="Arial" panose="020B0604020202020204" pitchFamily="34" charset="0"/>
              <a:buChar char="•"/>
            </a:pPr>
            <a:r>
              <a:rPr lang="ar-EG" sz="1400" dirty="0"/>
              <a:t>BMI Category </a:t>
            </a:r>
          </a:p>
        </p:txBody>
      </p:sp>
      <p:pic>
        <p:nvPicPr>
          <p:cNvPr id="21" name="Picture 20">
            <a:extLst>
              <a:ext uri="{FF2B5EF4-FFF2-40B4-BE49-F238E27FC236}">
                <a16:creationId xmlns:a16="http://schemas.microsoft.com/office/drawing/2014/main" id="{9A0EA099-4C07-9076-4ED4-7F240ADDB2F5}"/>
              </a:ext>
            </a:extLst>
          </p:cNvPr>
          <p:cNvPicPr>
            <a:picLocks noChangeAspect="1"/>
          </p:cNvPicPr>
          <p:nvPr/>
        </p:nvPicPr>
        <p:blipFill>
          <a:blip r:embed="rId5"/>
          <a:stretch>
            <a:fillRect/>
          </a:stretch>
        </p:blipFill>
        <p:spPr>
          <a:xfrm>
            <a:off x="969709" y="1874520"/>
            <a:ext cx="5988418" cy="3871893"/>
          </a:xfrm>
          <a:prstGeom prst="rect">
            <a:avLst/>
          </a:prstGeom>
        </p:spPr>
      </p:pic>
    </p:spTree>
    <p:extLst>
      <p:ext uri="{BB962C8B-B14F-4D97-AF65-F5344CB8AC3E}">
        <p14:creationId xmlns:p14="http://schemas.microsoft.com/office/powerpoint/2010/main" val="29532282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DFE0449C-1680-17EC-2C70-37D0215743DA}"/>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0560BAA8-E594-C04C-62C5-38F828BFF893}"/>
              </a:ext>
            </a:extLst>
          </p:cNvPr>
          <p:cNvSpPr/>
          <p:nvPr/>
        </p:nvSpPr>
        <p:spPr>
          <a:xfrm>
            <a:off x="548640" y="384048"/>
            <a:ext cx="7315200" cy="274320"/>
          </a:xfrm>
          <a:prstGeom prst="rect">
            <a:avLst/>
          </a:prstGeom>
          <a:noFill/>
          <a:ln/>
        </p:spPr>
        <p:txBody>
          <a:bodyPr wrap="square" lIns="0" tIns="0" rIns="0" bIns="0" rtlCol="0" anchor="ctr"/>
          <a:lstStyle/>
          <a:p>
            <a:pPr marL="0" indent="0">
              <a:buNone/>
            </a:pPr>
            <a:r>
              <a:rPr lang="en-US" sz="1200" b="1" kern="0" spc="200" dirty="0">
                <a:solidFill>
                  <a:srgbClr val="1C7293"/>
                </a:solidFill>
                <a:latin typeface="Calibri" pitchFamily="34" charset="0"/>
                <a:ea typeface="Calibri" pitchFamily="34" charset="-122"/>
                <a:cs typeface="Calibri" pitchFamily="34" charset="-120"/>
              </a:rPr>
              <a:t>EXPLORATORY VIEW</a:t>
            </a:r>
            <a:endParaRPr lang="en-US" sz="1200" dirty="0"/>
          </a:p>
        </p:txBody>
      </p:sp>
      <p:sp>
        <p:nvSpPr>
          <p:cNvPr id="4" name="Shape 2">
            <a:extLst>
              <a:ext uri="{FF2B5EF4-FFF2-40B4-BE49-F238E27FC236}">
                <a16:creationId xmlns:a16="http://schemas.microsoft.com/office/drawing/2014/main" id="{671818A7-3D1B-A11C-3D4A-1BB2621A9246}"/>
              </a:ext>
            </a:extLst>
          </p:cNvPr>
          <p:cNvSpPr/>
          <p:nvPr/>
        </p:nvSpPr>
        <p:spPr>
          <a:xfrm>
            <a:off x="376448" y="1572768"/>
            <a:ext cx="7045630" cy="4206240"/>
          </a:xfrm>
          <a:prstGeom prst="roundRect">
            <a:avLst>
              <a:gd name="adj" fmla="val 1304"/>
            </a:avLst>
          </a:prstGeom>
          <a:solidFill>
            <a:srgbClr val="F1F6F8"/>
          </a:solidFill>
          <a:ln/>
          <a:effectLst>
            <a:outerShdw blurRad="101600" dist="38100" dir="2700000" algn="bl" rotWithShape="0">
              <a:srgbClr val="000000">
                <a:alpha val="12000"/>
              </a:srgbClr>
            </a:outerShdw>
          </a:effectLst>
        </p:spPr>
        <p:txBody>
          <a:bodyPr/>
          <a:lstStyle/>
          <a:p>
            <a:endParaRPr lang="en-US"/>
          </a:p>
        </p:txBody>
      </p:sp>
      <p:sp>
        <p:nvSpPr>
          <p:cNvPr id="6" name="Text 3">
            <a:extLst>
              <a:ext uri="{FF2B5EF4-FFF2-40B4-BE49-F238E27FC236}">
                <a16:creationId xmlns:a16="http://schemas.microsoft.com/office/drawing/2014/main" id="{BED2F3DE-A72E-F5A9-978B-78B894CC8C66}"/>
              </a:ext>
            </a:extLst>
          </p:cNvPr>
          <p:cNvSpPr/>
          <p:nvPr/>
        </p:nvSpPr>
        <p:spPr>
          <a:xfrm>
            <a:off x="7772400" y="1737360"/>
            <a:ext cx="3840480" cy="274320"/>
          </a:xfrm>
          <a:prstGeom prst="rect">
            <a:avLst/>
          </a:prstGeom>
          <a:noFill/>
          <a:ln/>
        </p:spPr>
        <p:txBody>
          <a:bodyPr wrap="square" lIns="0" tIns="0" rIns="0" bIns="0" rtlCol="0" anchor="ctr"/>
          <a:lstStyle/>
          <a:p>
            <a:pPr marL="0" indent="0">
              <a:buNone/>
            </a:pPr>
            <a:r>
              <a:rPr lang="en-US" sz="1250" b="1" dirty="0">
                <a:solidFill>
                  <a:srgbClr val="065A82"/>
                </a:solidFill>
                <a:latin typeface="Calibri" pitchFamily="34" charset="0"/>
                <a:ea typeface="Calibri" pitchFamily="34" charset="-122"/>
                <a:cs typeface="Calibri" pitchFamily="34" charset="-120"/>
              </a:rPr>
              <a:t>Answers</a:t>
            </a:r>
            <a:endParaRPr lang="en-US" sz="1250" dirty="0"/>
          </a:p>
        </p:txBody>
      </p:sp>
      <p:sp>
        <p:nvSpPr>
          <p:cNvPr id="7" name="Text 4">
            <a:extLst>
              <a:ext uri="{FF2B5EF4-FFF2-40B4-BE49-F238E27FC236}">
                <a16:creationId xmlns:a16="http://schemas.microsoft.com/office/drawing/2014/main" id="{95FB763F-21C7-B136-D515-284F310B582F}"/>
              </a:ext>
            </a:extLst>
          </p:cNvPr>
          <p:cNvSpPr/>
          <p:nvPr/>
        </p:nvSpPr>
        <p:spPr>
          <a:xfrm>
            <a:off x="7772400" y="2029968"/>
            <a:ext cx="4124036" cy="594360"/>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"How do risk levels and medical costs impact insurance profitability and financial performance?"</a:t>
            </a:r>
            <a:endParaRPr lang="en-US" sz="1150" dirty="0"/>
          </a:p>
        </p:txBody>
      </p:sp>
      <p:sp>
        <p:nvSpPr>
          <p:cNvPr id="8" name="Text 5">
            <a:extLst>
              <a:ext uri="{FF2B5EF4-FFF2-40B4-BE49-F238E27FC236}">
                <a16:creationId xmlns:a16="http://schemas.microsoft.com/office/drawing/2014/main" id="{F3509F33-4DEA-4877-A9AB-B92F30714FDF}"/>
              </a:ext>
            </a:extLst>
          </p:cNvPr>
          <p:cNvSpPr/>
          <p:nvPr/>
        </p:nvSpPr>
        <p:spPr>
          <a:xfrm>
            <a:off x="7772400" y="2788920"/>
            <a:ext cx="3840480" cy="274320"/>
          </a:xfrm>
          <a:prstGeom prst="rect">
            <a:avLst/>
          </a:prstGeom>
          <a:noFill/>
          <a:ln/>
        </p:spPr>
        <p:txBody>
          <a:bodyPr wrap="square" lIns="0" tIns="0" rIns="0" bIns="0" rtlCol="0" anchor="ctr"/>
          <a:lstStyle/>
          <a:p>
            <a:pPr marL="0" indent="0">
              <a:buNone/>
            </a:pPr>
            <a:r>
              <a:rPr lang="en-US" sz="1250" b="1" dirty="0">
                <a:solidFill>
                  <a:srgbClr val="065A82"/>
                </a:solidFill>
                <a:latin typeface="Calibri" pitchFamily="34" charset="0"/>
                <a:ea typeface="Calibri" pitchFamily="34" charset="-122"/>
                <a:cs typeface="Calibri" pitchFamily="34" charset="-120"/>
              </a:rPr>
              <a:t>Audience</a:t>
            </a:r>
            <a:endParaRPr lang="en-US" sz="1250" dirty="0"/>
          </a:p>
        </p:txBody>
      </p:sp>
      <p:sp>
        <p:nvSpPr>
          <p:cNvPr id="9" name="Text 6">
            <a:extLst>
              <a:ext uri="{FF2B5EF4-FFF2-40B4-BE49-F238E27FC236}">
                <a16:creationId xmlns:a16="http://schemas.microsoft.com/office/drawing/2014/main" id="{45924D80-141A-EB3E-D3B1-D16D83AF0FC9}"/>
              </a:ext>
            </a:extLst>
          </p:cNvPr>
          <p:cNvSpPr/>
          <p:nvPr/>
        </p:nvSpPr>
        <p:spPr>
          <a:xfrm>
            <a:off x="7772400" y="3081528"/>
            <a:ext cx="3840480" cy="594360"/>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Risk Analysts, Insurance Managers, and Executive Decision Makers</a:t>
            </a:r>
            <a:endParaRPr lang="en-US" sz="1150" dirty="0"/>
          </a:p>
        </p:txBody>
      </p:sp>
      <p:sp>
        <p:nvSpPr>
          <p:cNvPr id="10" name="Text 7">
            <a:extLst>
              <a:ext uri="{FF2B5EF4-FFF2-40B4-BE49-F238E27FC236}">
                <a16:creationId xmlns:a16="http://schemas.microsoft.com/office/drawing/2014/main" id="{227959CC-01C3-2D5D-EEE2-A1509177E0CA}"/>
              </a:ext>
            </a:extLst>
          </p:cNvPr>
          <p:cNvSpPr/>
          <p:nvPr/>
        </p:nvSpPr>
        <p:spPr>
          <a:xfrm>
            <a:off x="7772400" y="3840480"/>
            <a:ext cx="3840480" cy="274320"/>
          </a:xfrm>
          <a:prstGeom prst="rect">
            <a:avLst/>
          </a:prstGeom>
          <a:noFill/>
          <a:ln/>
        </p:spPr>
        <p:txBody>
          <a:bodyPr wrap="square" lIns="0" tIns="0" rIns="0" bIns="0" rtlCol="0" anchor="ctr"/>
          <a:lstStyle/>
          <a:p>
            <a:pPr marL="0" indent="0">
              <a:buNone/>
            </a:pPr>
            <a:r>
              <a:rPr lang="en-US" sz="1250" b="1" dirty="0">
                <a:solidFill>
                  <a:srgbClr val="065A82"/>
                </a:solidFill>
                <a:latin typeface="Calibri" pitchFamily="34" charset="0"/>
                <a:ea typeface="Calibri" pitchFamily="34" charset="-122"/>
                <a:cs typeface="Calibri" pitchFamily="34" charset="-120"/>
              </a:rPr>
              <a:t>Key Visuals</a:t>
            </a:r>
            <a:endParaRPr lang="en-US" sz="1250" dirty="0"/>
          </a:p>
        </p:txBody>
      </p:sp>
      <p:sp>
        <p:nvSpPr>
          <p:cNvPr id="11" name="Text 8">
            <a:extLst>
              <a:ext uri="{FF2B5EF4-FFF2-40B4-BE49-F238E27FC236}">
                <a16:creationId xmlns:a16="http://schemas.microsoft.com/office/drawing/2014/main" id="{42096B06-389A-98B2-3397-F796F6974F5E}"/>
              </a:ext>
            </a:extLst>
          </p:cNvPr>
          <p:cNvSpPr/>
          <p:nvPr/>
        </p:nvSpPr>
        <p:spPr>
          <a:xfrm>
            <a:off x="7772400" y="4544568"/>
            <a:ext cx="3840480" cy="594360"/>
          </a:xfrm>
          <a:prstGeom prst="rect">
            <a:avLst/>
          </a:prstGeom>
          <a:noFill/>
          <a:ln/>
        </p:spPr>
        <p:txBody>
          <a:bodyPr wrap="square" lIns="0" tIns="0" rIns="0" bIns="0" rtlCol="0" anchor="ctr"/>
          <a:lstStyle/>
          <a:p>
            <a:pPr>
              <a:buFont typeface="Arial" panose="020B0604020202020204" pitchFamily="34" charset="0"/>
              <a:buChar char="•"/>
            </a:pPr>
            <a:r>
              <a:rPr lang="ar-EG" sz="1200" dirty="0"/>
              <a:t>Profit Margin &amp; Loss KPIs </a:t>
            </a:r>
          </a:p>
          <a:p>
            <a:pPr>
              <a:buFont typeface="Arial" panose="020B0604020202020204" pitchFamily="34" charset="0"/>
              <a:buChar char="•"/>
            </a:pPr>
            <a:r>
              <a:rPr lang="ar-EG" sz="1200" dirty="0"/>
              <a:t>High-Risk Patients </a:t>
            </a:r>
          </a:p>
          <a:p>
            <a:pPr>
              <a:buFont typeface="Arial" panose="020B0604020202020204" pitchFamily="34" charset="0"/>
              <a:buChar char="•"/>
            </a:pPr>
            <a:r>
              <a:rPr lang="ar-EG" sz="1200" dirty="0"/>
              <a:t>Average Risk Score </a:t>
            </a:r>
          </a:p>
          <a:p>
            <a:pPr>
              <a:buFont typeface="Arial" panose="020B0604020202020204" pitchFamily="34" charset="0"/>
              <a:buChar char="•"/>
            </a:pPr>
            <a:r>
              <a:rPr lang="ar-EG" sz="1200" dirty="0"/>
              <a:t>Loss by Employment Status </a:t>
            </a:r>
          </a:p>
          <a:p>
            <a:pPr>
              <a:buFont typeface="Arial" panose="020B0604020202020204" pitchFamily="34" charset="0"/>
              <a:buChar char="•"/>
            </a:pPr>
            <a:r>
              <a:rPr lang="ar-EG" sz="1200" dirty="0"/>
              <a:t>Annual Medical Cost Distribution </a:t>
            </a:r>
          </a:p>
          <a:p>
            <a:pPr>
              <a:buFont typeface="Arial" panose="020B0604020202020204" pitchFamily="34" charset="0"/>
              <a:buChar char="•"/>
            </a:pPr>
            <a:r>
              <a:rPr lang="ar-EG" sz="1200" dirty="0"/>
              <a:t>Risk Segment Distribution </a:t>
            </a:r>
          </a:p>
          <a:p>
            <a:pPr>
              <a:buFont typeface="Arial" panose="020B0604020202020204" pitchFamily="34" charset="0"/>
              <a:buChar char="•"/>
            </a:pPr>
            <a:r>
              <a:rPr lang="ar-EG" sz="1200" dirty="0"/>
              <a:t>Risk Score vs Annual Medical Cost</a:t>
            </a:r>
          </a:p>
        </p:txBody>
      </p:sp>
      <p:sp>
        <p:nvSpPr>
          <p:cNvPr id="12" name="Text 9">
            <a:extLst>
              <a:ext uri="{FF2B5EF4-FFF2-40B4-BE49-F238E27FC236}">
                <a16:creationId xmlns:a16="http://schemas.microsoft.com/office/drawing/2014/main" id="{B117A876-C028-3709-819F-0D697523B619}"/>
              </a:ext>
            </a:extLst>
          </p:cNvPr>
          <p:cNvSpPr/>
          <p:nvPr/>
        </p:nvSpPr>
        <p:spPr>
          <a:xfrm>
            <a:off x="457200" y="6446520"/>
            <a:ext cx="6400800" cy="274320"/>
          </a:xfrm>
          <a:prstGeom prst="rect">
            <a:avLst/>
          </a:prstGeom>
          <a:noFill/>
          <a:ln/>
        </p:spPr>
        <p:txBody>
          <a:bodyPr wrap="square" lIns="0" tIns="0" rIns="0" bIns="0" rtlCol="0" anchor="ctr"/>
          <a:lstStyle/>
          <a:p>
            <a:pPr marL="0" indent="0" algn="l">
              <a:buNone/>
            </a:pPr>
            <a:endParaRPr lang="en-US" sz="900" dirty="0"/>
          </a:p>
        </p:txBody>
      </p:sp>
      <p:sp>
        <p:nvSpPr>
          <p:cNvPr id="13" name="Text 10">
            <a:extLst>
              <a:ext uri="{FF2B5EF4-FFF2-40B4-BE49-F238E27FC236}">
                <a16:creationId xmlns:a16="http://schemas.microsoft.com/office/drawing/2014/main" id="{B48513C0-C03F-517F-179F-B434CF0BE00B}"/>
              </a:ext>
            </a:extLst>
          </p:cNvPr>
          <p:cNvSpPr/>
          <p:nvPr/>
        </p:nvSpPr>
        <p:spPr>
          <a:xfrm>
            <a:off x="11274552" y="6446520"/>
            <a:ext cx="457200" cy="27432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10</a:t>
            </a:r>
            <a:endParaRPr lang="en-US" sz="900" dirty="0"/>
          </a:p>
        </p:txBody>
      </p:sp>
      <p:pic>
        <p:nvPicPr>
          <p:cNvPr id="15" name="Picture 14" descr="https://private-user-images.githubusercontent.com/235096874/616721669-1532530b-ff39-4512-b4d7-ce08a3e69b8f.png?jwt=eyJ0eXAiOiJKV1QiLCJhbGciOiJIUzI1NiJ9.eyJpc3MiOiJnaXRodWIuY29tIiwiYXVkIjoicmF3LmdpdGh1YnVzZXJjb250ZW50LmNvbSIsImtleSI6ImtleTUiLCJleHAiOjE3ODMwNjk0MzAsIm5iZiI6MTc4MzA2OTEzMCwicGF0aCI6Ii8yMzUwOTY4NzQvNjE2NzIxNjY5LTE1MzI1MzBiLWZmMzktNDUxMi1iNGQ3LWNlMDhhM2U2OWI4Zi5wbmc_WC1BbXotQWxnb3JpdGhtPUFXUzQtSE1BQy1TSEEyNTYmWC1BbXotQ3JlZGVudGlhbD1BS0lBVkNPRFlMU0E1M1BRSzRaQSUyRjIwMjYwNzAzJTJGdXMtZWFzdC0xJTJGczMlMkZhd3M0X3JlcXVlc3QmWC1BbXotRGF0ZT0yMDI2MDcwM1QwODU4NTBaJlgtQW16LUV4cGlyZXM9MzAwJlgtQW16LVNpZ25hdHVyZT05ZmVlYTUzZmNmYzE0NGVmZjAxOTUzYjg2MzUyZGU4MGJkMGZhZmI2MGQ1MDcxYjJkZGQxMmUyYjM1MzRkOGFkJlgtQW16LVNpZ25lZEhlYWRlcnM9aG9zdCZyZXNwb25zZS1jb250ZW50LXR5cGU9aW1hZ2UlMkZwbmcifQ.iDAL127vdRpGnMrlF4NcaEA3Cwj9_DA2e3UIAPGx5wU">
            <a:extLst>
              <a:ext uri="{FF2B5EF4-FFF2-40B4-BE49-F238E27FC236}">
                <a16:creationId xmlns:a16="http://schemas.microsoft.com/office/drawing/2014/main" id="{E61155C5-0FC0-3EF8-04B8-9BB70C00841C}"/>
              </a:ext>
            </a:extLst>
          </p:cNvPr>
          <p:cNvPicPr>
            <a:picLocks noChangeAspect="1"/>
          </p:cNvPicPr>
          <p:nvPr/>
        </p:nvPicPr>
        <p:blipFill>
          <a:blip r:embed="rId3"/>
          <a:stretch>
            <a:fillRect/>
          </a:stretch>
        </p:blipFill>
        <p:spPr>
          <a:xfrm>
            <a:off x="548640" y="-3899146"/>
            <a:ext cx="6713121" cy="3724143"/>
          </a:xfrm>
          <a:prstGeom prst="rect">
            <a:avLst/>
          </a:prstGeom>
        </p:spPr>
      </p:pic>
      <p:sp>
        <p:nvSpPr>
          <p:cNvPr id="3" name="Text 1">
            <a:extLst>
              <a:ext uri="{FF2B5EF4-FFF2-40B4-BE49-F238E27FC236}">
                <a16:creationId xmlns:a16="http://schemas.microsoft.com/office/drawing/2014/main" id="{B235C9A0-82F5-A2EF-6636-BC27724BA250}"/>
              </a:ext>
            </a:extLst>
          </p:cNvPr>
          <p:cNvSpPr/>
          <p:nvPr/>
        </p:nvSpPr>
        <p:spPr>
          <a:xfrm>
            <a:off x="548640" y="621792"/>
            <a:ext cx="10515600" cy="731520"/>
          </a:xfrm>
          <a:prstGeom prst="rect">
            <a:avLst/>
          </a:prstGeom>
          <a:noFill/>
          <a:ln/>
        </p:spPr>
        <p:txBody>
          <a:bodyPr wrap="square" lIns="0" tIns="0" rIns="0" bIns="0" rtlCol="0" anchor="ctr"/>
          <a:lstStyle/>
          <a:p>
            <a:pPr marL="0" indent="0">
              <a:buNone/>
            </a:pPr>
            <a:r>
              <a:rPr lang="en-US" sz="3200" b="1" dirty="0">
                <a:solidFill>
                  <a:srgbClr val="0B1F33"/>
                </a:solidFill>
                <a:latin typeface="Cambria" pitchFamily="34" charset="0"/>
                <a:ea typeface="Cambria" pitchFamily="34" charset="-122"/>
                <a:cs typeface="Cambria" pitchFamily="34" charset="-120"/>
              </a:rPr>
              <a:t> Tableau —Risk analysis Dashboard</a:t>
            </a:r>
            <a:endParaRPr lang="en-US" sz="3200" dirty="0"/>
          </a:p>
        </p:txBody>
      </p:sp>
      <p:pic>
        <p:nvPicPr>
          <p:cNvPr id="5" name="Picture 4" descr="https://private-user-images.githubusercontent.com/235096874/616722030-24e64612-80c2-44e6-8885-0cdacbe6bb4a.png?jwt=eyJ0eXAiOiJKV1QiLCJhbGciOiJIUzI1NiJ9.eyJpc3MiOiJnaXRodWIuY29tIiwiYXVkIjoicmF3LmdpdGh1YnVzZXJjb250ZW50LmNvbSIsImtleSI6ImtleTUiLCJleHAiOjE3ODMwNjk0MzAsIm5iZiI6MTc4MzA2OTEzMCwicGF0aCI6Ii8yMzUwOTY4NzQvNjE2NzIyMDMwLTI0ZTY0NjEyLTgwYzItNDRlNi04ODg1LTBjZGFjYmU2YmI0YS5wbmc_WC1BbXotQWxnb3JpdGhtPUFXUzQtSE1BQy1TSEEyNTYmWC1BbXotQ3JlZGVudGlhbD1BS0lBVkNPRFlMU0E1M1BRSzRaQSUyRjIwMjYwNzAzJTJGdXMtZWFzdC0xJTJGczMlMkZhd3M0X3JlcXVlc3QmWC1BbXotRGF0ZT0yMDI2MDcwM1QwODU4NTBaJlgtQW16LUV4cGlyZXM9MzAwJlgtQW16LVNpZ25hdHVyZT01OGExNGUwNTgxODRkZTY3ZDYzYjkwNTgzOGM3NWI0NjU0NGYyNmFiYWY2NDAyOGY2YTI0MDAyYTE1YTI3NmRjJlgtQW16LVNpZ25lZEhlYWRlcnM9aG9zdCZyZXNwb25zZS1jb250ZW50LXR5cGU9aW1hZ2UlMkZwbmcifQ.wcG27850O-fOgP-PDqjxVIoXqOfkS-ARvrfx1aMskC8">
            <a:extLst>
              <a:ext uri="{FF2B5EF4-FFF2-40B4-BE49-F238E27FC236}">
                <a16:creationId xmlns:a16="http://schemas.microsoft.com/office/drawing/2014/main" id="{82AF2B7F-19ED-1D54-5A01-6F89CE2A0AAF}"/>
              </a:ext>
            </a:extLst>
          </p:cNvPr>
          <p:cNvPicPr>
            <a:picLocks noChangeAspect="1"/>
          </p:cNvPicPr>
          <p:nvPr/>
        </p:nvPicPr>
        <p:blipFill>
          <a:blip r:embed="rId4"/>
          <a:stretch>
            <a:fillRect/>
          </a:stretch>
        </p:blipFill>
        <p:spPr>
          <a:xfrm>
            <a:off x="579120" y="7129151"/>
            <a:ext cx="6606110" cy="3691249"/>
          </a:xfrm>
          <a:prstGeom prst="rect">
            <a:avLst/>
          </a:prstGeom>
        </p:spPr>
      </p:pic>
      <p:pic>
        <p:nvPicPr>
          <p:cNvPr id="16" name="Picture 15">
            <a:extLst>
              <a:ext uri="{FF2B5EF4-FFF2-40B4-BE49-F238E27FC236}">
                <a16:creationId xmlns:a16="http://schemas.microsoft.com/office/drawing/2014/main" id="{47332A68-232D-B5D6-E04C-6A160D558D72}"/>
              </a:ext>
            </a:extLst>
          </p:cNvPr>
          <p:cNvPicPr>
            <a:picLocks noChangeAspect="1"/>
          </p:cNvPicPr>
          <p:nvPr/>
        </p:nvPicPr>
        <p:blipFill>
          <a:blip r:embed="rId5"/>
          <a:stretch>
            <a:fillRect/>
          </a:stretch>
        </p:blipFill>
        <p:spPr>
          <a:xfrm>
            <a:off x="740087" y="1828153"/>
            <a:ext cx="6318351" cy="3794760"/>
          </a:xfrm>
          <a:prstGeom prst="rect">
            <a:avLst/>
          </a:prstGeom>
        </p:spPr>
      </p:pic>
    </p:spTree>
    <p:extLst>
      <p:ext uri="{BB962C8B-B14F-4D97-AF65-F5344CB8AC3E}">
        <p14:creationId xmlns:p14="http://schemas.microsoft.com/office/powerpoint/2010/main" val="1117909817"/>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005921ED-423F-5488-157A-F8E780C043F5}"/>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49BA1732-93F1-64B2-74BF-5896B89F7F25}"/>
              </a:ext>
            </a:extLst>
          </p:cNvPr>
          <p:cNvSpPr/>
          <p:nvPr/>
        </p:nvSpPr>
        <p:spPr>
          <a:xfrm>
            <a:off x="548640" y="384048"/>
            <a:ext cx="7315200" cy="274320"/>
          </a:xfrm>
          <a:prstGeom prst="rect">
            <a:avLst/>
          </a:prstGeom>
          <a:noFill/>
          <a:ln/>
        </p:spPr>
        <p:txBody>
          <a:bodyPr wrap="square" lIns="0" tIns="0" rIns="0" bIns="0" rtlCol="0" anchor="ctr"/>
          <a:lstStyle/>
          <a:p>
            <a:pPr marL="0" indent="0">
              <a:buNone/>
            </a:pPr>
            <a:r>
              <a:rPr lang="en-US" sz="1200" b="1" kern="0" spc="200" dirty="0">
                <a:solidFill>
                  <a:srgbClr val="1C7293"/>
                </a:solidFill>
                <a:latin typeface="Calibri" pitchFamily="34" charset="0"/>
                <a:ea typeface="Calibri" pitchFamily="34" charset="-122"/>
                <a:cs typeface="Calibri" pitchFamily="34" charset="-120"/>
              </a:rPr>
              <a:t>EXPLORATORY VIEW</a:t>
            </a:r>
            <a:endParaRPr lang="en-US" sz="1200" dirty="0"/>
          </a:p>
        </p:txBody>
      </p:sp>
      <p:sp>
        <p:nvSpPr>
          <p:cNvPr id="4" name="Shape 2">
            <a:extLst>
              <a:ext uri="{FF2B5EF4-FFF2-40B4-BE49-F238E27FC236}">
                <a16:creationId xmlns:a16="http://schemas.microsoft.com/office/drawing/2014/main" id="{59EAC808-D87B-93FF-4848-E700951E0307}"/>
              </a:ext>
            </a:extLst>
          </p:cNvPr>
          <p:cNvSpPr/>
          <p:nvPr/>
        </p:nvSpPr>
        <p:spPr>
          <a:xfrm>
            <a:off x="376448" y="1572768"/>
            <a:ext cx="7045630" cy="4206240"/>
          </a:xfrm>
          <a:prstGeom prst="roundRect">
            <a:avLst>
              <a:gd name="adj" fmla="val 1304"/>
            </a:avLst>
          </a:prstGeom>
          <a:solidFill>
            <a:srgbClr val="F1F6F8"/>
          </a:solidFill>
          <a:ln/>
          <a:effectLst>
            <a:outerShdw blurRad="101600" dist="38100" dir="2700000" algn="bl" rotWithShape="0">
              <a:srgbClr val="000000">
                <a:alpha val="12000"/>
              </a:srgbClr>
            </a:outerShdw>
          </a:effectLst>
        </p:spPr>
        <p:txBody>
          <a:bodyPr/>
          <a:lstStyle/>
          <a:p>
            <a:endParaRPr lang="en-US"/>
          </a:p>
        </p:txBody>
      </p:sp>
      <p:sp>
        <p:nvSpPr>
          <p:cNvPr id="6" name="Text 3">
            <a:extLst>
              <a:ext uri="{FF2B5EF4-FFF2-40B4-BE49-F238E27FC236}">
                <a16:creationId xmlns:a16="http://schemas.microsoft.com/office/drawing/2014/main" id="{00383027-F866-50D8-3411-F7A5C7794000}"/>
              </a:ext>
            </a:extLst>
          </p:cNvPr>
          <p:cNvSpPr/>
          <p:nvPr/>
        </p:nvSpPr>
        <p:spPr>
          <a:xfrm>
            <a:off x="7772400" y="1737360"/>
            <a:ext cx="3840480" cy="274320"/>
          </a:xfrm>
          <a:prstGeom prst="rect">
            <a:avLst/>
          </a:prstGeom>
          <a:noFill/>
          <a:ln/>
        </p:spPr>
        <p:txBody>
          <a:bodyPr wrap="square" lIns="0" tIns="0" rIns="0" bIns="0" rtlCol="0" anchor="ctr"/>
          <a:lstStyle/>
          <a:p>
            <a:pPr marL="0" indent="0">
              <a:buNone/>
            </a:pPr>
            <a:r>
              <a:rPr lang="en-US" sz="1250" b="1" dirty="0">
                <a:solidFill>
                  <a:srgbClr val="065A82"/>
                </a:solidFill>
                <a:latin typeface="Calibri" pitchFamily="34" charset="0"/>
                <a:ea typeface="Calibri" pitchFamily="34" charset="-122"/>
                <a:cs typeface="Calibri" pitchFamily="34" charset="-120"/>
              </a:rPr>
              <a:t>Answers</a:t>
            </a:r>
            <a:endParaRPr lang="en-US" sz="1250" dirty="0"/>
          </a:p>
        </p:txBody>
      </p:sp>
      <p:sp>
        <p:nvSpPr>
          <p:cNvPr id="7" name="Text 4">
            <a:extLst>
              <a:ext uri="{FF2B5EF4-FFF2-40B4-BE49-F238E27FC236}">
                <a16:creationId xmlns:a16="http://schemas.microsoft.com/office/drawing/2014/main" id="{3CC51620-E77F-B43D-2412-125C1DA4979D}"/>
              </a:ext>
            </a:extLst>
          </p:cNvPr>
          <p:cNvSpPr/>
          <p:nvPr/>
        </p:nvSpPr>
        <p:spPr>
          <a:xfrm>
            <a:off x="7772400" y="2029968"/>
            <a:ext cx="3840480" cy="594360"/>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"How do policy features and operational factors influence claims, utilization, and insurance profitability?"</a:t>
            </a:r>
            <a:endParaRPr lang="en-US" sz="1150" dirty="0"/>
          </a:p>
        </p:txBody>
      </p:sp>
      <p:sp>
        <p:nvSpPr>
          <p:cNvPr id="8" name="Text 5">
            <a:extLst>
              <a:ext uri="{FF2B5EF4-FFF2-40B4-BE49-F238E27FC236}">
                <a16:creationId xmlns:a16="http://schemas.microsoft.com/office/drawing/2014/main" id="{79F05E2B-DC01-6FC5-5AF6-C0E49220E049}"/>
              </a:ext>
            </a:extLst>
          </p:cNvPr>
          <p:cNvSpPr/>
          <p:nvPr/>
        </p:nvSpPr>
        <p:spPr>
          <a:xfrm>
            <a:off x="7772400" y="2788920"/>
            <a:ext cx="3840480" cy="274320"/>
          </a:xfrm>
          <a:prstGeom prst="rect">
            <a:avLst/>
          </a:prstGeom>
          <a:noFill/>
          <a:ln/>
        </p:spPr>
        <p:txBody>
          <a:bodyPr wrap="square" lIns="0" tIns="0" rIns="0" bIns="0" rtlCol="0" anchor="ctr"/>
          <a:lstStyle/>
          <a:p>
            <a:pPr marL="0" indent="0">
              <a:buNone/>
            </a:pPr>
            <a:r>
              <a:rPr lang="en-US" sz="1250" b="1" dirty="0">
                <a:solidFill>
                  <a:srgbClr val="065A82"/>
                </a:solidFill>
                <a:latin typeface="Calibri" pitchFamily="34" charset="0"/>
                <a:ea typeface="Calibri" pitchFamily="34" charset="-122"/>
                <a:cs typeface="Calibri" pitchFamily="34" charset="-120"/>
              </a:rPr>
              <a:t>Audience</a:t>
            </a:r>
            <a:endParaRPr lang="en-US" sz="1250" dirty="0"/>
          </a:p>
        </p:txBody>
      </p:sp>
      <p:sp>
        <p:nvSpPr>
          <p:cNvPr id="9" name="Text 6">
            <a:extLst>
              <a:ext uri="{FF2B5EF4-FFF2-40B4-BE49-F238E27FC236}">
                <a16:creationId xmlns:a16="http://schemas.microsoft.com/office/drawing/2014/main" id="{484C6958-7BDC-21D6-D117-8475312DA2A6}"/>
              </a:ext>
            </a:extLst>
          </p:cNvPr>
          <p:cNvSpPr/>
          <p:nvPr/>
        </p:nvSpPr>
        <p:spPr>
          <a:xfrm>
            <a:off x="7772400" y="3081528"/>
            <a:ext cx="3840480" cy="594360"/>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Operations Managers, Policy Managers, and Insurance Executive</a:t>
            </a:r>
            <a:endParaRPr lang="en-US" sz="1150" dirty="0"/>
          </a:p>
        </p:txBody>
      </p:sp>
      <p:sp>
        <p:nvSpPr>
          <p:cNvPr id="10" name="Text 7">
            <a:extLst>
              <a:ext uri="{FF2B5EF4-FFF2-40B4-BE49-F238E27FC236}">
                <a16:creationId xmlns:a16="http://schemas.microsoft.com/office/drawing/2014/main" id="{542D188B-5189-9FD4-07F0-65E81C16CA92}"/>
              </a:ext>
            </a:extLst>
          </p:cNvPr>
          <p:cNvSpPr/>
          <p:nvPr/>
        </p:nvSpPr>
        <p:spPr>
          <a:xfrm>
            <a:off x="7772400" y="3840480"/>
            <a:ext cx="3840480" cy="274320"/>
          </a:xfrm>
          <a:prstGeom prst="rect">
            <a:avLst/>
          </a:prstGeom>
          <a:noFill/>
          <a:ln/>
        </p:spPr>
        <p:txBody>
          <a:bodyPr wrap="square" lIns="0" tIns="0" rIns="0" bIns="0" rtlCol="0" anchor="ctr"/>
          <a:lstStyle/>
          <a:p>
            <a:pPr marL="0" indent="0">
              <a:buNone/>
            </a:pPr>
            <a:r>
              <a:rPr lang="en-US" sz="1250" b="1" dirty="0">
                <a:solidFill>
                  <a:srgbClr val="065A82"/>
                </a:solidFill>
                <a:latin typeface="Calibri" pitchFamily="34" charset="0"/>
                <a:ea typeface="Calibri" pitchFamily="34" charset="-122"/>
                <a:cs typeface="Calibri" pitchFamily="34" charset="-120"/>
              </a:rPr>
              <a:t>Key Visuals</a:t>
            </a:r>
            <a:endParaRPr lang="en-US" sz="1250" dirty="0"/>
          </a:p>
        </p:txBody>
      </p:sp>
      <p:sp>
        <p:nvSpPr>
          <p:cNvPr id="11" name="Text 8">
            <a:extLst>
              <a:ext uri="{FF2B5EF4-FFF2-40B4-BE49-F238E27FC236}">
                <a16:creationId xmlns:a16="http://schemas.microsoft.com/office/drawing/2014/main" id="{B0D035CB-075B-A66E-10D0-E66FFF1DD8B4}"/>
              </a:ext>
            </a:extLst>
          </p:cNvPr>
          <p:cNvSpPr/>
          <p:nvPr/>
        </p:nvSpPr>
        <p:spPr>
          <a:xfrm>
            <a:off x="7772400" y="4658868"/>
            <a:ext cx="3840480" cy="594360"/>
          </a:xfrm>
          <a:prstGeom prst="rect">
            <a:avLst/>
          </a:prstGeom>
          <a:noFill/>
          <a:ln/>
        </p:spPr>
        <p:txBody>
          <a:bodyPr wrap="square" lIns="0" tIns="0" rIns="0" bIns="0" rtlCol="0" anchor="ctr"/>
          <a:lstStyle/>
          <a:p>
            <a:pPr>
              <a:buFont typeface="Arial" panose="020B0604020202020204" pitchFamily="34" charset="0"/>
              <a:buChar char="•"/>
            </a:pPr>
            <a:r>
              <a:rPr lang="ar-EG" sz="1200" dirty="0"/>
              <a:t>Total Claims Paid </a:t>
            </a:r>
          </a:p>
          <a:p>
            <a:pPr>
              <a:buFont typeface="Arial" panose="020B0604020202020204" pitchFamily="34" charset="0"/>
              <a:buChar char="•"/>
            </a:pPr>
            <a:r>
              <a:rPr lang="ar-EG" sz="1200" dirty="0"/>
              <a:t>Total Members </a:t>
            </a:r>
          </a:p>
          <a:p>
            <a:pPr>
              <a:buFont typeface="Arial" panose="020B0604020202020204" pitchFamily="34" charset="0"/>
              <a:buChar char="•"/>
            </a:pPr>
            <a:r>
              <a:rPr lang="ar-EG" sz="1200" dirty="0"/>
              <a:t>Profit Margin </a:t>
            </a:r>
          </a:p>
          <a:p>
            <a:pPr>
              <a:buFont typeface="Arial" panose="020B0604020202020204" pitchFamily="34" charset="0"/>
              <a:buChar char="•"/>
            </a:pPr>
            <a:r>
              <a:rPr lang="ar-EG" sz="1200" dirty="0"/>
              <a:t>Claims vs. Chronic Conditions </a:t>
            </a:r>
          </a:p>
          <a:p>
            <a:pPr>
              <a:buFont typeface="Arial" panose="020B0604020202020204" pitchFamily="34" charset="0"/>
              <a:buChar char="•"/>
            </a:pPr>
            <a:r>
              <a:rPr lang="ar-EG" sz="1200" dirty="0"/>
              <a:t>Copay vs. Utilization </a:t>
            </a:r>
          </a:p>
          <a:p>
            <a:pPr>
              <a:buFont typeface="Arial" panose="020B0604020202020204" pitchFamily="34" charset="0"/>
              <a:buChar char="•"/>
            </a:pPr>
            <a:r>
              <a:rPr lang="ar-EG" sz="1200" dirty="0"/>
              <a:t>Deductible Impact on Claims </a:t>
            </a:r>
          </a:p>
          <a:p>
            <a:pPr>
              <a:buFont typeface="Arial" panose="020B0604020202020204" pitchFamily="34" charset="0"/>
              <a:buChar char="•"/>
            </a:pPr>
            <a:r>
              <a:rPr lang="ar-EG" sz="1200" dirty="0"/>
              <a:t>Policy Term Analysis </a:t>
            </a:r>
          </a:p>
          <a:p>
            <a:pPr>
              <a:buFont typeface="Arial" panose="020B0604020202020204" pitchFamily="34" charset="0"/>
              <a:buChar char="•"/>
            </a:pPr>
            <a:r>
              <a:rPr lang="ar-EG" sz="1200" dirty="0"/>
              <a:t>Major Procedure Distribution </a:t>
            </a:r>
          </a:p>
          <a:p>
            <a:pPr>
              <a:buFont typeface="Arial" panose="020B0604020202020204" pitchFamily="34" charset="0"/>
              <a:buChar char="•"/>
            </a:pPr>
            <a:r>
              <a:rPr lang="ar-EG" sz="1200" dirty="0"/>
              <a:t>Provider Quality vs. Risk Score </a:t>
            </a:r>
          </a:p>
        </p:txBody>
      </p:sp>
      <p:sp>
        <p:nvSpPr>
          <p:cNvPr id="12" name="Text 9">
            <a:extLst>
              <a:ext uri="{FF2B5EF4-FFF2-40B4-BE49-F238E27FC236}">
                <a16:creationId xmlns:a16="http://schemas.microsoft.com/office/drawing/2014/main" id="{FC0BD62D-9683-66EC-8C41-2510B3B48E27}"/>
              </a:ext>
            </a:extLst>
          </p:cNvPr>
          <p:cNvSpPr/>
          <p:nvPr/>
        </p:nvSpPr>
        <p:spPr>
          <a:xfrm>
            <a:off x="457200" y="6446520"/>
            <a:ext cx="6400800" cy="274320"/>
          </a:xfrm>
          <a:prstGeom prst="rect">
            <a:avLst/>
          </a:prstGeom>
          <a:noFill/>
          <a:ln/>
        </p:spPr>
        <p:txBody>
          <a:bodyPr wrap="square" lIns="0" tIns="0" rIns="0" bIns="0" rtlCol="0" anchor="ctr"/>
          <a:lstStyle/>
          <a:p>
            <a:pPr marL="0" indent="0" algn="l">
              <a:buNone/>
            </a:pPr>
            <a:endParaRPr lang="en-US" sz="900" dirty="0"/>
          </a:p>
        </p:txBody>
      </p:sp>
      <p:sp>
        <p:nvSpPr>
          <p:cNvPr id="13" name="Text 10">
            <a:extLst>
              <a:ext uri="{FF2B5EF4-FFF2-40B4-BE49-F238E27FC236}">
                <a16:creationId xmlns:a16="http://schemas.microsoft.com/office/drawing/2014/main" id="{A735FC7E-4FC6-A0BE-EC4A-C43F76062069}"/>
              </a:ext>
            </a:extLst>
          </p:cNvPr>
          <p:cNvSpPr/>
          <p:nvPr/>
        </p:nvSpPr>
        <p:spPr>
          <a:xfrm>
            <a:off x="11274552" y="6446520"/>
            <a:ext cx="457200" cy="27432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10</a:t>
            </a:r>
            <a:endParaRPr lang="en-US" sz="900" dirty="0"/>
          </a:p>
        </p:txBody>
      </p:sp>
      <p:sp>
        <p:nvSpPr>
          <p:cNvPr id="3" name="Text 1">
            <a:extLst>
              <a:ext uri="{FF2B5EF4-FFF2-40B4-BE49-F238E27FC236}">
                <a16:creationId xmlns:a16="http://schemas.microsoft.com/office/drawing/2014/main" id="{5564C59F-0EE8-2561-989B-B31DECBFF7E2}"/>
              </a:ext>
            </a:extLst>
          </p:cNvPr>
          <p:cNvSpPr/>
          <p:nvPr/>
        </p:nvSpPr>
        <p:spPr>
          <a:xfrm>
            <a:off x="548640" y="621792"/>
            <a:ext cx="10515600" cy="731520"/>
          </a:xfrm>
          <a:prstGeom prst="rect">
            <a:avLst/>
          </a:prstGeom>
          <a:noFill/>
          <a:ln/>
        </p:spPr>
        <p:txBody>
          <a:bodyPr wrap="square" lIns="0" tIns="0" rIns="0" bIns="0" rtlCol="0" anchor="ctr"/>
          <a:lstStyle/>
          <a:p>
            <a:pPr marL="0" indent="0">
              <a:buNone/>
            </a:pPr>
            <a:r>
              <a:rPr lang="en-US" sz="3200" b="1" dirty="0">
                <a:solidFill>
                  <a:srgbClr val="0B1F33"/>
                </a:solidFill>
                <a:latin typeface="Cambria" pitchFamily="34" charset="0"/>
                <a:ea typeface="Cambria" pitchFamily="34" charset="-122"/>
                <a:cs typeface="Cambria" pitchFamily="34" charset="-120"/>
              </a:rPr>
              <a:t> Tableau — Policy &amp; Operations  Dashboard</a:t>
            </a:r>
            <a:endParaRPr lang="en-US" sz="3200" dirty="0"/>
          </a:p>
        </p:txBody>
      </p:sp>
      <p:pic>
        <p:nvPicPr>
          <p:cNvPr id="17" name="Picture 16" descr="https://private-user-images.githubusercontent.com/235096874/616721856-e65999c4-7c6c-48bb-a88d-1f4d3b9b0eed.png?jwt=eyJ0eXAiOiJKV1QiLCJhbGciOiJIUzI1NiJ9.eyJpc3MiOiJnaXRodWIuY29tIiwiYXVkIjoicmF3LmdpdGh1YnVzZXJjb250ZW50LmNvbSIsImtleSI6ImtleTUiLCJleHAiOjE3ODMwNjk0MzAsIm5iZiI6MTc4MzA2OTEzMCwicGF0aCI6Ii8yMzUwOTY4NzQvNjE2NzIxODU2LWU2NTk5OWM0LTdjNmMtNDhiYi1hODhkLTFmNGQzYjliMGVlZC5wbmc_WC1BbXotQWxnb3JpdGhtPUFXUzQtSE1BQy1TSEEyNTYmWC1BbXotQ3JlZGVudGlhbD1BS0lBVkNPRFlMU0E1M1BRSzRaQSUyRjIwMjYwNzAzJTJGdXMtZWFzdC0xJTJGczMlMkZhd3M0X3JlcXVlc3QmWC1BbXotRGF0ZT0yMDI2MDcwM1QwODU4NTBaJlgtQW16LUV4cGlyZXM9MzAwJlgtQW16LVNpZ25hdHVyZT02NDkxMWJmOThkNmQ0NzY0YzBkODQ2YzA2NDUzODI4MjBhY2FhNmQwZTg5YzM3MTIwZjFhNGY4N2IxMjk1ODkyJlgtQW16LVNpZ25lZEhlYWRlcnM9aG9zdCZyZXNwb25zZS1jb250ZW50LXR5cGU9aW1hZ2UlMkZwbmcifQ.pyWvnmBscyJ_tRyf9Z1EB5cg4oylziGk0kQVRDNobxU">
            <a:extLst>
              <a:ext uri="{FF2B5EF4-FFF2-40B4-BE49-F238E27FC236}">
                <a16:creationId xmlns:a16="http://schemas.microsoft.com/office/drawing/2014/main" id="{50DCCA32-7A35-BBB7-68A7-CF77BAD8F9AC}"/>
              </a:ext>
            </a:extLst>
          </p:cNvPr>
          <p:cNvPicPr>
            <a:picLocks noChangeAspect="1"/>
          </p:cNvPicPr>
          <p:nvPr/>
        </p:nvPicPr>
        <p:blipFill>
          <a:blip r:embed="rId3"/>
          <a:stretch>
            <a:fillRect/>
          </a:stretch>
        </p:blipFill>
        <p:spPr>
          <a:xfrm>
            <a:off x="548640" y="-3984898"/>
            <a:ext cx="6713121" cy="3781311"/>
          </a:xfrm>
          <a:prstGeom prst="rect">
            <a:avLst/>
          </a:prstGeom>
        </p:spPr>
      </p:pic>
      <p:pic>
        <p:nvPicPr>
          <p:cNvPr id="15" name="Picture 14">
            <a:extLst>
              <a:ext uri="{FF2B5EF4-FFF2-40B4-BE49-F238E27FC236}">
                <a16:creationId xmlns:a16="http://schemas.microsoft.com/office/drawing/2014/main" id="{B41817D6-A105-BDDA-3766-3D03AB963A4E}"/>
              </a:ext>
            </a:extLst>
          </p:cNvPr>
          <p:cNvPicPr>
            <a:picLocks noChangeAspect="1"/>
          </p:cNvPicPr>
          <p:nvPr/>
        </p:nvPicPr>
        <p:blipFill>
          <a:blip r:embed="rId4"/>
          <a:stretch>
            <a:fillRect/>
          </a:stretch>
        </p:blipFill>
        <p:spPr>
          <a:xfrm>
            <a:off x="579120" y="1737360"/>
            <a:ext cx="6405150" cy="3961476"/>
          </a:xfrm>
          <a:prstGeom prst="rect">
            <a:avLst/>
          </a:prstGeom>
        </p:spPr>
      </p:pic>
    </p:spTree>
    <p:extLst>
      <p:ext uri="{BB962C8B-B14F-4D97-AF65-F5344CB8AC3E}">
        <p14:creationId xmlns:p14="http://schemas.microsoft.com/office/powerpoint/2010/main" val="413815868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84048"/>
            <a:ext cx="7315200" cy="274320"/>
          </a:xfrm>
          <a:prstGeom prst="rect">
            <a:avLst/>
          </a:prstGeom>
          <a:noFill/>
          <a:ln/>
        </p:spPr>
        <p:txBody>
          <a:bodyPr wrap="square" lIns="0" tIns="0" rIns="0" bIns="0" rtlCol="0" anchor="ctr"/>
          <a:lstStyle/>
          <a:p>
            <a:pPr marL="0" indent="0">
              <a:buNone/>
            </a:pPr>
            <a:r>
              <a:rPr lang="en-US" sz="1200" b="1" kern="0" spc="200" dirty="0">
                <a:solidFill>
                  <a:srgbClr val="1C7293"/>
                </a:solidFill>
                <a:latin typeface="Calibri" pitchFamily="34" charset="0"/>
                <a:ea typeface="Calibri" pitchFamily="34" charset="-122"/>
                <a:cs typeface="Calibri" pitchFamily="34" charset="-120"/>
              </a:rPr>
              <a:t>EXECUTIVE VIEW</a:t>
            </a:r>
            <a:endParaRPr lang="en-US" sz="1200" dirty="0"/>
          </a:p>
        </p:txBody>
      </p:sp>
      <p:sp>
        <p:nvSpPr>
          <p:cNvPr id="4" name="Shape 2"/>
          <p:cNvSpPr/>
          <p:nvPr/>
        </p:nvSpPr>
        <p:spPr>
          <a:xfrm>
            <a:off x="548640" y="1600200"/>
            <a:ext cx="6949440" cy="4206240"/>
          </a:xfrm>
          <a:prstGeom prst="roundRect">
            <a:avLst>
              <a:gd name="adj" fmla="val 1304"/>
            </a:avLst>
          </a:prstGeom>
          <a:solidFill>
            <a:srgbClr val="F1F6F8"/>
          </a:solidFill>
          <a:ln/>
          <a:effectLst>
            <a:outerShdw blurRad="101600" dist="38100" dir="2700000" algn="bl" rotWithShape="0">
              <a:srgbClr val="000000">
                <a:alpha val="12000"/>
              </a:srgbClr>
            </a:outerShdw>
          </a:effectLst>
        </p:spPr>
        <p:txBody>
          <a:bodyPr/>
          <a:lstStyle/>
          <a:p>
            <a:endParaRPr lang="en-US"/>
          </a:p>
        </p:txBody>
      </p:sp>
      <p:sp>
        <p:nvSpPr>
          <p:cNvPr id="7" name="Text 4"/>
          <p:cNvSpPr/>
          <p:nvPr/>
        </p:nvSpPr>
        <p:spPr>
          <a:xfrm>
            <a:off x="7802880" y="2121408"/>
            <a:ext cx="3840480" cy="594360"/>
          </a:xfrm>
          <a:prstGeom prst="rect">
            <a:avLst/>
          </a:prstGeom>
          <a:noFill/>
          <a:ln/>
        </p:spPr>
        <p:txBody>
          <a:bodyPr wrap="square" lIns="0" tIns="0" rIns="0" bIns="0" rtlCol="0" anchor="ctr"/>
          <a:lstStyle/>
          <a:p>
            <a:pPr>
              <a:buNone/>
            </a:pPr>
            <a:r>
              <a:rPr lang="ar-EG" sz="1200" dirty="0"/>
              <a:t> A Star Schema data model was built to organize insurance data into one central fact table connected to multiple dimension tables. This structure ensures efficient analysis, consistent calculations, and scalable dashboard development.</a:t>
            </a:r>
          </a:p>
          <a:p>
            <a:pPr>
              <a:buNone/>
            </a:pPr>
            <a:endParaRPr lang="en-US" sz="1150" dirty="0"/>
          </a:p>
        </p:txBody>
      </p:sp>
      <p:sp>
        <p:nvSpPr>
          <p:cNvPr id="8" name="Text 5"/>
          <p:cNvSpPr/>
          <p:nvPr/>
        </p:nvSpPr>
        <p:spPr>
          <a:xfrm>
            <a:off x="7802880" y="2967151"/>
            <a:ext cx="3840480" cy="274320"/>
          </a:xfrm>
          <a:prstGeom prst="rect">
            <a:avLst/>
          </a:prstGeom>
          <a:noFill/>
          <a:ln/>
        </p:spPr>
        <p:txBody>
          <a:bodyPr wrap="square" lIns="0" tIns="0" rIns="0" bIns="0" rtlCol="0" anchor="ctr"/>
          <a:lstStyle/>
          <a:p>
            <a:pPr marL="0" indent="0">
              <a:buNone/>
            </a:pPr>
            <a:r>
              <a:rPr lang="en-US" sz="1250" b="1" dirty="0">
                <a:solidFill>
                  <a:srgbClr val="065A82"/>
                </a:solidFill>
                <a:latin typeface="Calibri" pitchFamily="34" charset="0"/>
                <a:ea typeface="Calibri" pitchFamily="34" charset="-122"/>
                <a:cs typeface="Calibri" pitchFamily="34" charset="-120"/>
              </a:rPr>
              <a:t>Core Tables</a:t>
            </a:r>
            <a:endParaRPr lang="en-US" sz="1250" dirty="0"/>
          </a:p>
        </p:txBody>
      </p:sp>
      <p:sp>
        <p:nvSpPr>
          <p:cNvPr id="9" name="Text 6"/>
          <p:cNvSpPr/>
          <p:nvPr/>
        </p:nvSpPr>
        <p:spPr>
          <a:xfrm>
            <a:off x="7802880" y="3450963"/>
            <a:ext cx="3492916" cy="1150195"/>
          </a:xfrm>
          <a:prstGeom prst="rect">
            <a:avLst/>
          </a:prstGeom>
          <a:noFill/>
          <a:ln/>
        </p:spPr>
        <p:txBody>
          <a:bodyPr wrap="square" lIns="0" tIns="0" rIns="0" bIns="0" rtlCol="0" anchor="ctr"/>
          <a:lstStyle/>
          <a:p>
            <a:pPr>
              <a:buFont typeface="Arial" panose="020B0604020202020204" pitchFamily="34" charset="0"/>
              <a:buChar char="•"/>
            </a:pPr>
            <a:r>
              <a:rPr lang="ar-EG" sz="1200" dirty="0"/>
              <a:t>Fact Insurance </a:t>
            </a:r>
          </a:p>
          <a:p>
            <a:pPr>
              <a:buFont typeface="Arial" panose="020B0604020202020204" pitchFamily="34" charset="0"/>
              <a:buChar char="•"/>
            </a:pPr>
            <a:r>
              <a:rPr lang="ar-EG" sz="1200" dirty="0"/>
              <a:t>Person </a:t>
            </a:r>
          </a:p>
          <a:p>
            <a:pPr>
              <a:buFont typeface="Arial" panose="020B0604020202020204" pitchFamily="34" charset="0"/>
              <a:buChar char="•"/>
            </a:pPr>
            <a:r>
              <a:rPr lang="ar-EG" sz="1200" dirty="0"/>
              <a:t>Clinical </a:t>
            </a:r>
          </a:p>
          <a:p>
            <a:pPr>
              <a:buFont typeface="Arial" panose="020B0604020202020204" pitchFamily="34" charset="0"/>
              <a:buChar char="•"/>
            </a:pPr>
            <a:r>
              <a:rPr lang="ar-EG" sz="1200" dirty="0"/>
              <a:t>Policy </a:t>
            </a:r>
          </a:p>
          <a:p>
            <a:pPr>
              <a:buFont typeface="Arial" panose="020B0604020202020204" pitchFamily="34" charset="0"/>
              <a:buChar char="•"/>
            </a:pPr>
            <a:r>
              <a:rPr lang="ar-EG" sz="1200" dirty="0"/>
              <a:t>Plan Type </a:t>
            </a:r>
          </a:p>
          <a:p>
            <a:pPr>
              <a:buFont typeface="Arial" panose="020B0604020202020204" pitchFamily="34" charset="0"/>
              <a:buChar char="•"/>
            </a:pPr>
            <a:r>
              <a:rPr lang="ar-EG" sz="1200" dirty="0"/>
              <a:t>Network Tier </a:t>
            </a:r>
          </a:p>
          <a:p>
            <a:pPr>
              <a:buFont typeface="Arial" panose="020B0604020202020204" pitchFamily="34" charset="0"/>
              <a:buChar char="•"/>
            </a:pPr>
            <a:r>
              <a:rPr lang="ar-EG" sz="1200" dirty="0"/>
              <a:t>Chronic </a:t>
            </a:r>
          </a:p>
          <a:p>
            <a:pPr>
              <a:buFont typeface="Arial" panose="020B0604020202020204" pitchFamily="34" charset="0"/>
              <a:buChar char="•"/>
            </a:pPr>
            <a:r>
              <a:rPr lang="ar-EG" sz="1200" dirty="0"/>
              <a:t>Socioeconomic </a:t>
            </a:r>
          </a:p>
        </p:txBody>
      </p:sp>
      <p:sp>
        <p:nvSpPr>
          <p:cNvPr id="10" name="Text 7"/>
          <p:cNvSpPr/>
          <p:nvPr/>
        </p:nvSpPr>
        <p:spPr>
          <a:xfrm>
            <a:off x="7891272" y="4783098"/>
            <a:ext cx="3840480" cy="274320"/>
          </a:xfrm>
          <a:prstGeom prst="rect">
            <a:avLst/>
          </a:prstGeom>
          <a:noFill/>
          <a:ln/>
        </p:spPr>
        <p:txBody>
          <a:bodyPr wrap="square" lIns="0" tIns="0" rIns="0" bIns="0" rtlCol="0" anchor="ctr"/>
          <a:lstStyle/>
          <a:p>
            <a:pPr marL="0" indent="0">
              <a:buNone/>
            </a:pPr>
            <a:r>
              <a:rPr lang="en-US" sz="1250" b="1" dirty="0">
                <a:solidFill>
                  <a:srgbClr val="065A82"/>
                </a:solidFill>
                <a:latin typeface="Calibri" pitchFamily="34" charset="0"/>
                <a:ea typeface="Calibri" pitchFamily="34" charset="-122"/>
                <a:cs typeface="Calibri" pitchFamily="34" charset="-120"/>
              </a:rPr>
              <a:t>Benefits</a:t>
            </a:r>
            <a:endParaRPr lang="en-US" sz="1250" dirty="0"/>
          </a:p>
        </p:txBody>
      </p:sp>
      <p:sp>
        <p:nvSpPr>
          <p:cNvPr id="11" name="Text 8"/>
          <p:cNvSpPr/>
          <p:nvPr/>
        </p:nvSpPr>
        <p:spPr>
          <a:xfrm>
            <a:off x="7891272" y="5239359"/>
            <a:ext cx="3840480" cy="594360"/>
          </a:xfrm>
          <a:prstGeom prst="rect">
            <a:avLst/>
          </a:prstGeom>
          <a:noFill/>
          <a:ln/>
        </p:spPr>
        <p:txBody>
          <a:bodyPr wrap="square" lIns="0" tIns="0" rIns="0" bIns="0" rtlCol="0" anchor="ctr"/>
          <a:lstStyle/>
          <a:p>
            <a:pPr>
              <a:buFont typeface="Arial" panose="020B0604020202020204" pitchFamily="34" charset="0"/>
              <a:buChar char="•"/>
            </a:pPr>
            <a:r>
              <a:rPr lang="ar-EG" sz="1200" dirty="0"/>
              <a:t>Faster data retrieval </a:t>
            </a:r>
          </a:p>
          <a:p>
            <a:pPr>
              <a:buFont typeface="Arial" panose="020B0604020202020204" pitchFamily="34" charset="0"/>
              <a:buChar char="•"/>
            </a:pPr>
            <a:r>
              <a:rPr lang="ar-EG" sz="1200" dirty="0"/>
              <a:t>Better analytical performance </a:t>
            </a:r>
          </a:p>
          <a:p>
            <a:pPr>
              <a:buFont typeface="Arial" panose="020B0604020202020204" pitchFamily="34" charset="0"/>
              <a:buChar char="•"/>
            </a:pPr>
            <a:r>
              <a:rPr lang="ar-EG" sz="1200" dirty="0"/>
              <a:t>Simplified relationships </a:t>
            </a:r>
          </a:p>
          <a:p>
            <a:pPr>
              <a:buFont typeface="Arial" panose="020B0604020202020204" pitchFamily="34" charset="0"/>
              <a:buChar char="•"/>
            </a:pPr>
            <a:r>
              <a:rPr lang="ar-EG" sz="1200" dirty="0"/>
              <a:t>Improved dashboard scalability </a:t>
            </a:r>
          </a:p>
        </p:txBody>
      </p:sp>
      <p:sp>
        <p:nvSpPr>
          <p:cNvPr id="12" name="Text 9"/>
          <p:cNvSpPr/>
          <p:nvPr/>
        </p:nvSpPr>
        <p:spPr>
          <a:xfrm>
            <a:off x="457200" y="6446520"/>
            <a:ext cx="6400800" cy="274320"/>
          </a:xfrm>
          <a:prstGeom prst="rect">
            <a:avLst/>
          </a:prstGeom>
          <a:noFill/>
          <a:ln/>
        </p:spPr>
        <p:txBody>
          <a:bodyPr wrap="square" lIns="0" tIns="0" rIns="0" bIns="0" rtlCol="0" anchor="ctr"/>
          <a:lstStyle/>
          <a:p>
            <a:pPr marL="0" indent="0" algn="l">
              <a:buNone/>
            </a:pPr>
            <a:endParaRPr lang="en-US" sz="900" dirty="0"/>
          </a:p>
        </p:txBody>
      </p:sp>
      <p:sp>
        <p:nvSpPr>
          <p:cNvPr id="13" name="Text 10"/>
          <p:cNvSpPr/>
          <p:nvPr/>
        </p:nvSpPr>
        <p:spPr>
          <a:xfrm>
            <a:off x="11274552" y="6446520"/>
            <a:ext cx="457200" cy="27432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9</a:t>
            </a:r>
            <a:endParaRPr lang="en-US" sz="900" dirty="0"/>
          </a:p>
        </p:txBody>
      </p:sp>
      <p:sp>
        <p:nvSpPr>
          <p:cNvPr id="3" name="Text 1"/>
          <p:cNvSpPr/>
          <p:nvPr/>
        </p:nvSpPr>
        <p:spPr>
          <a:xfrm>
            <a:off x="548639" y="621791"/>
            <a:ext cx="11375505" cy="923543"/>
          </a:xfrm>
          <a:prstGeom prst="rect">
            <a:avLst/>
          </a:prstGeom>
          <a:noFill/>
          <a:ln/>
        </p:spPr>
        <p:txBody>
          <a:bodyPr wrap="square" lIns="0" tIns="0" rIns="0" bIns="0" rtlCol="0" anchor="ctr"/>
          <a:lstStyle/>
          <a:p>
            <a:pPr marL="0" indent="0">
              <a:buNone/>
            </a:pPr>
            <a:r>
              <a:rPr lang="en-US" sz="3200" b="1" dirty="0">
                <a:solidFill>
                  <a:srgbClr val="0B1F33"/>
                </a:solidFill>
                <a:latin typeface="Cambria" pitchFamily="34" charset="0"/>
                <a:ea typeface="Cambria" pitchFamily="34" charset="-122"/>
                <a:cs typeface="Cambria" pitchFamily="34" charset="-120"/>
              </a:rPr>
              <a:t>Power BI Dashboard—</a:t>
            </a:r>
            <a:r>
              <a:rPr lang="ar-EG" sz="3200" b="1" dirty="0"/>
              <a:t>Data Modeling</a:t>
            </a:r>
            <a:r>
              <a:rPr lang="ar-EG" sz="3200" dirty="0"/>
              <a:t>.</a:t>
            </a:r>
            <a:endParaRPr lang="en-US" sz="3200" dirty="0"/>
          </a:p>
        </p:txBody>
      </p:sp>
      <p:pic>
        <p:nvPicPr>
          <p:cNvPr id="17" name="Picture 16">
            <a:extLst>
              <a:ext uri="{FF2B5EF4-FFF2-40B4-BE49-F238E27FC236}">
                <a16:creationId xmlns:a16="http://schemas.microsoft.com/office/drawing/2014/main" id="{46AF27C8-6C82-374F-F0CB-84C00DE91974}"/>
              </a:ext>
            </a:extLst>
          </p:cNvPr>
          <p:cNvPicPr>
            <a:picLocks noChangeAspect="1"/>
          </p:cNvPicPr>
          <p:nvPr/>
        </p:nvPicPr>
        <p:blipFill>
          <a:blip r:embed="rId3"/>
          <a:stretch>
            <a:fillRect/>
          </a:stretch>
        </p:blipFill>
        <p:spPr>
          <a:xfrm>
            <a:off x="1148069" y="1699609"/>
            <a:ext cx="5926985" cy="3952558"/>
          </a:xfrm>
          <a:prstGeom prst="rect">
            <a:avLst/>
          </a:prstGeom>
        </p:spPr>
      </p:pic>
      <p:sp>
        <p:nvSpPr>
          <p:cNvPr id="22" name="TextBox 21">
            <a:extLst>
              <a:ext uri="{FF2B5EF4-FFF2-40B4-BE49-F238E27FC236}">
                <a16:creationId xmlns:a16="http://schemas.microsoft.com/office/drawing/2014/main" id="{AD3BAB9D-4756-DA3C-D8BA-E7199EB5D375}"/>
              </a:ext>
            </a:extLst>
          </p:cNvPr>
          <p:cNvSpPr txBox="1"/>
          <p:nvPr/>
        </p:nvSpPr>
        <p:spPr>
          <a:xfrm>
            <a:off x="7725563" y="1524909"/>
            <a:ext cx="6096000" cy="284693"/>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dirty="0">
                <a:ln>
                  <a:noFill/>
                </a:ln>
                <a:solidFill>
                  <a:srgbClr val="065A82"/>
                </a:solidFill>
                <a:effectLst/>
                <a:uLnTx/>
                <a:uFillTx/>
                <a:latin typeface="Calibri" pitchFamily="34" charset="0"/>
                <a:ea typeface="Calibri" pitchFamily="34" charset="-122"/>
                <a:cs typeface="Calibri" pitchFamily="34" charset="-120"/>
              </a:rPr>
              <a:t>Data Model Design</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876C0CA6-B284-D0E8-763A-FB9316B6CCBB}"/>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8D66AB83-AC4B-1D43-0A04-622B5BDAA65F}"/>
              </a:ext>
            </a:extLst>
          </p:cNvPr>
          <p:cNvSpPr/>
          <p:nvPr/>
        </p:nvSpPr>
        <p:spPr>
          <a:xfrm>
            <a:off x="548640" y="384048"/>
            <a:ext cx="7315200" cy="274320"/>
          </a:xfrm>
          <a:prstGeom prst="rect">
            <a:avLst/>
          </a:prstGeom>
          <a:noFill/>
          <a:ln/>
        </p:spPr>
        <p:txBody>
          <a:bodyPr wrap="square" lIns="0" tIns="0" rIns="0" bIns="0" rtlCol="0" anchor="ctr"/>
          <a:lstStyle/>
          <a:p>
            <a:pPr marL="0" indent="0">
              <a:buNone/>
            </a:pPr>
            <a:r>
              <a:rPr lang="en-US" sz="1200" b="1" kern="0" spc="200" dirty="0">
                <a:solidFill>
                  <a:srgbClr val="1C7293"/>
                </a:solidFill>
                <a:latin typeface="Calibri" pitchFamily="34" charset="0"/>
                <a:ea typeface="Calibri" pitchFamily="34" charset="-122"/>
                <a:cs typeface="Calibri" pitchFamily="34" charset="-120"/>
              </a:rPr>
              <a:t>EXECUTIVE VIEW</a:t>
            </a:r>
            <a:endParaRPr lang="en-US" sz="1200" dirty="0"/>
          </a:p>
        </p:txBody>
      </p:sp>
      <p:sp>
        <p:nvSpPr>
          <p:cNvPr id="4" name="Shape 2">
            <a:extLst>
              <a:ext uri="{FF2B5EF4-FFF2-40B4-BE49-F238E27FC236}">
                <a16:creationId xmlns:a16="http://schemas.microsoft.com/office/drawing/2014/main" id="{B3B88C6A-33CC-3007-FD90-B2477E4CD435}"/>
              </a:ext>
            </a:extLst>
          </p:cNvPr>
          <p:cNvSpPr/>
          <p:nvPr/>
        </p:nvSpPr>
        <p:spPr>
          <a:xfrm>
            <a:off x="548640" y="1600200"/>
            <a:ext cx="6949440" cy="4206240"/>
          </a:xfrm>
          <a:prstGeom prst="roundRect">
            <a:avLst>
              <a:gd name="adj" fmla="val 1304"/>
            </a:avLst>
          </a:prstGeom>
          <a:solidFill>
            <a:srgbClr val="F1F6F8"/>
          </a:solidFill>
          <a:ln/>
          <a:effectLst>
            <a:outerShdw blurRad="101600" dist="38100" dir="2700000" algn="bl" rotWithShape="0">
              <a:srgbClr val="000000">
                <a:alpha val="12000"/>
              </a:srgbClr>
            </a:outerShdw>
          </a:effectLst>
        </p:spPr>
        <p:txBody>
          <a:bodyPr/>
          <a:lstStyle/>
          <a:p>
            <a:endParaRPr lang="en-US"/>
          </a:p>
        </p:txBody>
      </p:sp>
      <p:sp>
        <p:nvSpPr>
          <p:cNvPr id="6" name="Text 3">
            <a:extLst>
              <a:ext uri="{FF2B5EF4-FFF2-40B4-BE49-F238E27FC236}">
                <a16:creationId xmlns:a16="http://schemas.microsoft.com/office/drawing/2014/main" id="{EDB4EE61-61CD-2B10-F687-9BFBA3A67FC3}"/>
              </a:ext>
            </a:extLst>
          </p:cNvPr>
          <p:cNvSpPr/>
          <p:nvPr/>
        </p:nvSpPr>
        <p:spPr>
          <a:xfrm>
            <a:off x="7772400" y="1737360"/>
            <a:ext cx="3840480" cy="274320"/>
          </a:xfrm>
          <a:prstGeom prst="rect">
            <a:avLst/>
          </a:prstGeom>
          <a:noFill/>
          <a:ln/>
        </p:spPr>
        <p:txBody>
          <a:bodyPr wrap="square" lIns="0" tIns="0" rIns="0" bIns="0" rtlCol="0" anchor="ctr"/>
          <a:lstStyle/>
          <a:p>
            <a:pPr marL="0" indent="0">
              <a:buNone/>
            </a:pPr>
            <a:r>
              <a:rPr lang="en-US" sz="1250" b="1" dirty="0">
                <a:solidFill>
                  <a:srgbClr val="065A82"/>
                </a:solidFill>
                <a:latin typeface="Calibri" pitchFamily="34" charset="0"/>
                <a:ea typeface="Calibri" pitchFamily="34" charset="-122"/>
                <a:cs typeface="Calibri" pitchFamily="34" charset="-120"/>
              </a:rPr>
              <a:t>Answers</a:t>
            </a:r>
            <a:endParaRPr lang="en-US" sz="1250" dirty="0"/>
          </a:p>
        </p:txBody>
      </p:sp>
      <p:sp>
        <p:nvSpPr>
          <p:cNvPr id="7" name="Text 4">
            <a:extLst>
              <a:ext uri="{FF2B5EF4-FFF2-40B4-BE49-F238E27FC236}">
                <a16:creationId xmlns:a16="http://schemas.microsoft.com/office/drawing/2014/main" id="{C43F8F95-AFAF-7BCF-0ABA-CA4A369C566D}"/>
              </a:ext>
            </a:extLst>
          </p:cNvPr>
          <p:cNvSpPr/>
          <p:nvPr/>
        </p:nvSpPr>
        <p:spPr>
          <a:xfrm>
            <a:off x="7772400" y="2029968"/>
            <a:ext cx="3840480" cy="594360"/>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"Where is claims cost concentrated, and by whom?"</a:t>
            </a:r>
            <a:endParaRPr lang="en-US" sz="1150" dirty="0"/>
          </a:p>
        </p:txBody>
      </p:sp>
      <p:sp>
        <p:nvSpPr>
          <p:cNvPr id="8" name="Text 5">
            <a:extLst>
              <a:ext uri="{FF2B5EF4-FFF2-40B4-BE49-F238E27FC236}">
                <a16:creationId xmlns:a16="http://schemas.microsoft.com/office/drawing/2014/main" id="{BD903B27-A9D7-609B-D855-62FA2FC8FC06}"/>
              </a:ext>
            </a:extLst>
          </p:cNvPr>
          <p:cNvSpPr/>
          <p:nvPr/>
        </p:nvSpPr>
        <p:spPr>
          <a:xfrm>
            <a:off x="7772400" y="2788920"/>
            <a:ext cx="3840480" cy="274320"/>
          </a:xfrm>
          <a:prstGeom prst="rect">
            <a:avLst/>
          </a:prstGeom>
          <a:noFill/>
          <a:ln/>
        </p:spPr>
        <p:txBody>
          <a:bodyPr wrap="square" lIns="0" tIns="0" rIns="0" bIns="0" rtlCol="0" anchor="ctr"/>
          <a:lstStyle/>
          <a:p>
            <a:pPr marL="0" indent="0">
              <a:buNone/>
            </a:pPr>
            <a:r>
              <a:rPr lang="en-US" sz="1250" b="1" dirty="0">
                <a:solidFill>
                  <a:srgbClr val="065A82"/>
                </a:solidFill>
                <a:latin typeface="Calibri" pitchFamily="34" charset="0"/>
                <a:ea typeface="Calibri" pitchFamily="34" charset="-122"/>
                <a:cs typeface="Calibri" pitchFamily="34" charset="-120"/>
              </a:rPr>
              <a:t>Audience</a:t>
            </a:r>
            <a:endParaRPr lang="en-US" sz="1250" dirty="0"/>
          </a:p>
        </p:txBody>
      </p:sp>
      <p:sp>
        <p:nvSpPr>
          <p:cNvPr id="9" name="Text 6">
            <a:extLst>
              <a:ext uri="{FF2B5EF4-FFF2-40B4-BE49-F238E27FC236}">
                <a16:creationId xmlns:a16="http://schemas.microsoft.com/office/drawing/2014/main" id="{A7C3AB49-57DF-BF17-6D57-B702123A38AB}"/>
              </a:ext>
            </a:extLst>
          </p:cNvPr>
          <p:cNvSpPr/>
          <p:nvPr/>
        </p:nvSpPr>
        <p:spPr>
          <a:xfrm>
            <a:off x="7772400" y="3081528"/>
            <a:ext cx="3840480" cy="594360"/>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Managers &amp; underwriters — high-level, filterable</a:t>
            </a:r>
            <a:endParaRPr lang="en-US" sz="1150" dirty="0"/>
          </a:p>
        </p:txBody>
      </p:sp>
      <p:sp>
        <p:nvSpPr>
          <p:cNvPr id="10" name="Text 7">
            <a:extLst>
              <a:ext uri="{FF2B5EF4-FFF2-40B4-BE49-F238E27FC236}">
                <a16:creationId xmlns:a16="http://schemas.microsoft.com/office/drawing/2014/main" id="{E11224E4-BCCE-C309-F26E-1A4080A8E194}"/>
              </a:ext>
            </a:extLst>
          </p:cNvPr>
          <p:cNvSpPr/>
          <p:nvPr/>
        </p:nvSpPr>
        <p:spPr>
          <a:xfrm>
            <a:off x="7772400" y="3840480"/>
            <a:ext cx="3840480" cy="274320"/>
          </a:xfrm>
          <a:prstGeom prst="rect">
            <a:avLst/>
          </a:prstGeom>
          <a:noFill/>
          <a:ln/>
        </p:spPr>
        <p:txBody>
          <a:bodyPr wrap="square" lIns="0" tIns="0" rIns="0" bIns="0" rtlCol="0" anchor="ctr"/>
          <a:lstStyle/>
          <a:p>
            <a:pPr marL="0" indent="0">
              <a:buNone/>
            </a:pPr>
            <a:r>
              <a:rPr lang="en-US" sz="1250" b="1" dirty="0">
                <a:solidFill>
                  <a:srgbClr val="065A82"/>
                </a:solidFill>
                <a:latin typeface="Calibri" pitchFamily="34" charset="0"/>
                <a:ea typeface="Calibri" pitchFamily="34" charset="-122"/>
                <a:cs typeface="Calibri" pitchFamily="34" charset="-120"/>
              </a:rPr>
              <a:t>Key Visuals</a:t>
            </a:r>
            <a:endParaRPr lang="en-US" sz="1250" dirty="0"/>
          </a:p>
        </p:txBody>
      </p:sp>
      <p:sp>
        <p:nvSpPr>
          <p:cNvPr id="11" name="Text 8">
            <a:extLst>
              <a:ext uri="{FF2B5EF4-FFF2-40B4-BE49-F238E27FC236}">
                <a16:creationId xmlns:a16="http://schemas.microsoft.com/office/drawing/2014/main" id="{71450DB5-A24D-B527-429D-96F37593DB70}"/>
              </a:ext>
            </a:extLst>
          </p:cNvPr>
          <p:cNvSpPr/>
          <p:nvPr/>
        </p:nvSpPr>
        <p:spPr>
          <a:xfrm>
            <a:off x="7772400" y="4133088"/>
            <a:ext cx="3840480" cy="594360"/>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Premium vs. claims vs. profit by region, risk donut</a:t>
            </a:r>
            <a:endParaRPr lang="en-US" sz="1150" dirty="0"/>
          </a:p>
        </p:txBody>
      </p:sp>
      <p:sp>
        <p:nvSpPr>
          <p:cNvPr id="12" name="Text 9">
            <a:extLst>
              <a:ext uri="{FF2B5EF4-FFF2-40B4-BE49-F238E27FC236}">
                <a16:creationId xmlns:a16="http://schemas.microsoft.com/office/drawing/2014/main" id="{ED8D3A5A-42B4-A8B8-6848-CF53616E2403}"/>
              </a:ext>
            </a:extLst>
          </p:cNvPr>
          <p:cNvSpPr/>
          <p:nvPr/>
        </p:nvSpPr>
        <p:spPr>
          <a:xfrm>
            <a:off x="457200" y="6446520"/>
            <a:ext cx="6400800" cy="274320"/>
          </a:xfrm>
          <a:prstGeom prst="rect">
            <a:avLst/>
          </a:prstGeom>
          <a:noFill/>
          <a:ln/>
        </p:spPr>
        <p:txBody>
          <a:bodyPr wrap="square" lIns="0" tIns="0" rIns="0" bIns="0" rtlCol="0" anchor="ctr"/>
          <a:lstStyle/>
          <a:p>
            <a:pPr marL="0" indent="0" algn="l">
              <a:buNone/>
            </a:pPr>
            <a:endParaRPr lang="en-US" sz="900" dirty="0"/>
          </a:p>
        </p:txBody>
      </p:sp>
      <p:sp>
        <p:nvSpPr>
          <p:cNvPr id="13" name="Text 10">
            <a:extLst>
              <a:ext uri="{FF2B5EF4-FFF2-40B4-BE49-F238E27FC236}">
                <a16:creationId xmlns:a16="http://schemas.microsoft.com/office/drawing/2014/main" id="{6E0405C5-E2C8-D391-8E96-64B2575C2936}"/>
              </a:ext>
            </a:extLst>
          </p:cNvPr>
          <p:cNvSpPr/>
          <p:nvPr/>
        </p:nvSpPr>
        <p:spPr>
          <a:xfrm>
            <a:off x="11274552" y="6446520"/>
            <a:ext cx="457200" cy="27432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9</a:t>
            </a:r>
            <a:endParaRPr lang="en-US" sz="900" dirty="0"/>
          </a:p>
        </p:txBody>
      </p:sp>
      <p:sp>
        <p:nvSpPr>
          <p:cNvPr id="3" name="Text 1">
            <a:extLst>
              <a:ext uri="{FF2B5EF4-FFF2-40B4-BE49-F238E27FC236}">
                <a16:creationId xmlns:a16="http://schemas.microsoft.com/office/drawing/2014/main" id="{F45194F4-559C-BE35-16EB-FAF8F7F64575}"/>
              </a:ext>
            </a:extLst>
          </p:cNvPr>
          <p:cNvSpPr/>
          <p:nvPr/>
        </p:nvSpPr>
        <p:spPr>
          <a:xfrm>
            <a:off x="548639" y="621791"/>
            <a:ext cx="11375505" cy="923543"/>
          </a:xfrm>
          <a:prstGeom prst="rect">
            <a:avLst/>
          </a:prstGeom>
          <a:noFill/>
          <a:ln/>
        </p:spPr>
        <p:txBody>
          <a:bodyPr wrap="square" lIns="0" tIns="0" rIns="0" bIns="0" rtlCol="0" anchor="ctr"/>
          <a:lstStyle/>
          <a:p>
            <a:pPr marL="0" indent="0">
              <a:buNone/>
            </a:pPr>
            <a:r>
              <a:rPr lang="en-US" sz="3200" b="1" dirty="0">
                <a:solidFill>
                  <a:srgbClr val="0B1F33"/>
                </a:solidFill>
                <a:latin typeface="Cambria" pitchFamily="34" charset="0"/>
                <a:ea typeface="Cambria" pitchFamily="34" charset="-122"/>
                <a:cs typeface="Cambria" pitchFamily="34" charset="-120"/>
              </a:rPr>
              <a:t>Power BI Dashboard— Healthcare Insurance Executive Overview</a:t>
            </a:r>
            <a:endParaRPr lang="en-US" sz="3200" dirty="0"/>
          </a:p>
        </p:txBody>
      </p:sp>
      <p:pic>
        <p:nvPicPr>
          <p:cNvPr id="15" name="Picture 14">
            <a:extLst>
              <a:ext uri="{FF2B5EF4-FFF2-40B4-BE49-F238E27FC236}">
                <a16:creationId xmlns:a16="http://schemas.microsoft.com/office/drawing/2014/main" id="{ED07F70C-82FB-5E68-47E7-A02101B205A3}"/>
              </a:ext>
            </a:extLst>
          </p:cNvPr>
          <p:cNvPicPr>
            <a:picLocks noChangeAspect="1"/>
          </p:cNvPicPr>
          <p:nvPr/>
        </p:nvPicPr>
        <p:blipFill>
          <a:blip r:embed="rId3"/>
          <a:stretch>
            <a:fillRect/>
          </a:stretch>
        </p:blipFill>
        <p:spPr>
          <a:xfrm>
            <a:off x="761348" y="1874520"/>
            <a:ext cx="6486308" cy="3685034"/>
          </a:xfrm>
          <a:prstGeom prst="rect">
            <a:avLst/>
          </a:prstGeom>
        </p:spPr>
      </p:pic>
    </p:spTree>
    <p:extLst>
      <p:ext uri="{BB962C8B-B14F-4D97-AF65-F5344CB8AC3E}">
        <p14:creationId xmlns:p14="http://schemas.microsoft.com/office/powerpoint/2010/main" val="1176760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6D38B482-1CBB-D819-60A8-0168A034A847}"/>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F2F34CFF-1589-B671-FD65-30E44C3B796D}"/>
              </a:ext>
            </a:extLst>
          </p:cNvPr>
          <p:cNvSpPr/>
          <p:nvPr/>
        </p:nvSpPr>
        <p:spPr>
          <a:xfrm>
            <a:off x="548640" y="384048"/>
            <a:ext cx="7315200" cy="274320"/>
          </a:xfrm>
          <a:prstGeom prst="rect">
            <a:avLst/>
          </a:prstGeom>
          <a:noFill/>
          <a:ln/>
        </p:spPr>
        <p:txBody>
          <a:bodyPr wrap="square" lIns="0" tIns="0" rIns="0" bIns="0" rtlCol="0" anchor="ctr"/>
          <a:lstStyle/>
          <a:p>
            <a:pPr marL="0" indent="0">
              <a:buNone/>
            </a:pPr>
            <a:r>
              <a:rPr lang="en-US" sz="1200" b="1" kern="0" spc="200" dirty="0">
                <a:solidFill>
                  <a:srgbClr val="1C7293"/>
                </a:solidFill>
                <a:latin typeface="Calibri" pitchFamily="34" charset="0"/>
                <a:ea typeface="Calibri" pitchFamily="34" charset="-122"/>
                <a:cs typeface="Calibri" pitchFamily="34" charset="-120"/>
              </a:rPr>
              <a:t>EXECUTIVE VIEW</a:t>
            </a:r>
            <a:endParaRPr lang="en-US" sz="1200" dirty="0"/>
          </a:p>
        </p:txBody>
      </p:sp>
      <p:sp>
        <p:nvSpPr>
          <p:cNvPr id="4" name="Shape 2">
            <a:extLst>
              <a:ext uri="{FF2B5EF4-FFF2-40B4-BE49-F238E27FC236}">
                <a16:creationId xmlns:a16="http://schemas.microsoft.com/office/drawing/2014/main" id="{4A89AA04-39DD-5CF8-459B-610EA2913041}"/>
              </a:ext>
            </a:extLst>
          </p:cNvPr>
          <p:cNvSpPr/>
          <p:nvPr/>
        </p:nvSpPr>
        <p:spPr>
          <a:xfrm>
            <a:off x="548640" y="1600200"/>
            <a:ext cx="6949440" cy="4206240"/>
          </a:xfrm>
          <a:prstGeom prst="roundRect">
            <a:avLst>
              <a:gd name="adj" fmla="val 1304"/>
            </a:avLst>
          </a:prstGeom>
          <a:solidFill>
            <a:srgbClr val="F1F6F8"/>
          </a:solidFill>
          <a:ln/>
          <a:effectLst>
            <a:outerShdw blurRad="101600" dist="38100" dir="2700000" algn="bl" rotWithShape="0">
              <a:srgbClr val="000000">
                <a:alpha val="12000"/>
              </a:srgbClr>
            </a:outerShdw>
          </a:effectLst>
        </p:spPr>
        <p:txBody>
          <a:bodyPr/>
          <a:lstStyle/>
          <a:p>
            <a:endParaRPr lang="en-US"/>
          </a:p>
        </p:txBody>
      </p:sp>
      <p:sp>
        <p:nvSpPr>
          <p:cNvPr id="6" name="Text 3">
            <a:extLst>
              <a:ext uri="{FF2B5EF4-FFF2-40B4-BE49-F238E27FC236}">
                <a16:creationId xmlns:a16="http://schemas.microsoft.com/office/drawing/2014/main" id="{C54D69DA-633B-DAD5-D892-0CAFCF414D21}"/>
              </a:ext>
            </a:extLst>
          </p:cNvPr>
          <p:cNvSpPr/>
          <p:nvPr/>
        </p:nvSpPr>
        <p:spPr>
          <a:xfrm>
            <a:off x="7772400" y="1737360"/>
            <a:ext cx="3840480" cy="274320"/>
          </a:xfrm>
          <a:prstGeom prst="rect">
            <a:avLst/>
          </a:prstGeom>
          <a:noFill/>
          <a:ln/>
        </p:spPr>
        <p:txBody>
          <a:bodyPr wrap="square" lIns="0" tIns="0" rIns="0" bIns="0" rtlCol="0" anchor="ctr"/>
          <a:lstStyle/>
          <a:p>
            <a:pPr marL="0" indent="0">
              <a:buNone/>
            </a:pPr>
            <a:r>
              <a:rPr lang="en-US" sz="1250" b="1" dirty="0">
                <a:solidFill>
                  <a:srgbClr val="065A82"/>
                </a:solidFill>
                <a:latin typeface="Calibri" pitchFamily="34" charset="0"/>
                <a:ea typeface="Calibri" pitchFamily="34" charset="-122"/>
                <a:cs typeface="Calibri" pitchFamily="34" charset="-120"/>
              </a:rPr>
              <a:t>Answers</a:t>
            </a:r>
            <a:endParaRPr lang="en-US" sz="1250" dirty="0"/>
          </a:p>
        </p:txBody>
      </p:sp>
      <p:sp>
        <p:nvSpPr>
          <p:cNvPr id="7" name="Text 4">
            <a:extLst>
              <a:ext uri="{FF2B5EF4-FFF2-40B4-BE49-F238E27FC236}">
                <a16:creationId xmlns:a16="http://schemas.microsoft.com/office/drawing/2014/main" id="{BC4839BC-3FC4-14C2-528C-2DFDC5CB708D}"/>
              </a:ext>
            </a:extLst>
          </p:cNvPr>
          <p:cNvSpPr/>
          <p:nvPr/>
        </p:nvSpPr>
        <p:spPr>
          <a:xfrm>
            <a:off x="7772400" y="2029968"/>
            <a:ext cx="3840480" cy="594360"/>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"Where is claims cost concentrated, and by whom?"</a:t>
            </a:r>
            <a:endParaRPr lang="en-US" sz="1150" dirty="0"/>
          </a:p>
        </p:txBody>
      </p:sp>
      <p:sp>
        <p:nvSpPr>
          <p:cNvPr id="8" name="Text 5">
            <a:extLst>
              <a:ext uri="{FF2B5EF4-FFF2-40B4-BE49-F238E27FC236}">
                <a16:creationId xmlns:a16="http://schemas.microsoft.com/office/drawing/2014/main" id="{8B38F6AA-5BC3-B59C-B280-94018FD8A9B5}"/>
              </a:ext>
            </a:extLst>
          </p:cNvPr>
          <p:cNvSpPr/>
          <p:nvPr/>
        </p:nvSpPr>
        <p:spPr>
          <a:xfrm>
            <a:off x="7772400" y="2788920"/>
            <a:ext cx="3840480" cy="274320"/>
          </a:xfrm>
          <a:prstGeom prst="rect">
            <a:avLst/>
          </a:prstGeom>
          <a:noFill/>
          <a:ln/>
        </p:spPr>
        <p:txBody>
          <a:bodyPr wrap="square" lIns="0" tIns="0" rIns="0" bIns="0" rtlCol="0" anchor="ctr"/>
          <a:lstStyle/>
          <a:p>
            <a:pPr marL="0" indent="0">
              <a:buNone/>
            </a:pPr>
            <a:r>
              <a:rPr lang="en-US" sz="1250" b="1" dirty="0">
                <a:solidFill>
                  <a:srgbClr val="065A82"/>
                </a:solidFill>
                <a:latin typeface="Calibri" pitchFamily="34" charset="0"/>
                <a:ea typeface="Calibri" pitchFamily="34" charset="-122"/>
                <a:cs typeface="Calibri" pitchFamily="34" charset="-120"/>
              </a:rPr>
              <a:t>Audience</a:t>
            </a:r>
            <a:endParaRPr lang="en-US" sz="1250" dirty="0"/>
          </a:p>
        </p:txBody>
      </p:sp>
      <p:sp>
        <p:nvSpPr>
          <p:cNvPr id="9" name="Text 6">
            <a:extLst>
              <a:ext uri="{FF2B5EF4-FFF2-40B4-BE49-F238E27FC236}">
                <a16:creationId xmlns:a16="http://schemas.microsoft.com/office/drawing/2014/main" id="{B006EDF2-0DC5-1429-FBE5-662B56264F9A}"/>
              </a:ext>
            </a:extLst>
          </p:cNvPr>
          <p:cNvSpPr/>
          <p:nvPr/>
        </p:nvSpPr>
        <p:spPr>
          <a:xfrm>
            <a:off x="7772400" y="3081528"/>
            <a:ext cx="3840480" cy="594360"/>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Managers &amp; underwriters — high-level, filterable</a:t>
            </a:r>
            <a:endParaRPr lang="en-US" sz="1150" dirty="0"/>
          </a:p>
        </p:txBody>
      </p:sp>
      <p:sp>
        <p:nvSpPr>
          <p:cNvPr id="10" name="Text 7">
            <a:extLst>
              <a:ext uri="{FF2B5EF4-FFF2-40B4-BE49-F238E27FC236}">
                <a16:creationId xmlns:a16="http://schemas.microsoft.com/office/drawing/2014/main" id="{09F47937-56AC-1D41-9646-D820F0EDE326}"/>
              </a:ext>
            </a:extLst>
          </p:cNvPr>
          <p:cNvSpPr/>
          <p:nvPr/>
        </p:nvSpPr>
        <p:spPr>
          <a:xfrm>
            <a:off x="7772400" y="3840480"/>
            <a:ext cx="3840480" cy="274320"/>
          </a:xfrm>
          <a:prstGeom prst="rect">
            <a:avLst/>
          </a:prstGeom>
          <a:noFill/>
          <a:ln/>
        </p:spPr>
        <p:txBody>
          <a:bodyPr wrap="square" lIns="0" tIns="0" rIns="0" bIns="0" rtlCol="0" anchor="ctr"/>
          <a:lstStyle/>
          <a:p>
            <a:pPr marL="0" indent="0">
              <a:buNone/>
            </a:pPr>
            <a:r>
              <a:rPr lang="en-US" sz="1250" b="1" dirty="0">
                <a:solidFill>
                  <a:srgbClr val="065A82"/>
                </a:solidFill>
                <a:latin typeface="Calibri" pitchFamily="34" charset="0"/>
                <a:ea typeface="Calibri" pitchFamily="34" charset="-122"/>
                <a:cs typeface="Calibri" pitchFamily="34" charset="-120"/>
              </a:rPr>
              <a:t>Key Visuals</a:t>
            </a:r>
            <a:endParaRPr lang="en-US" sz="1250" dirty="0"/>
          </a:p>
        </p:txBody>
      </p:sp>
      <p:sp>
        <p:nvSpPr>
          <p:cNvPr id="11" name="Text 8">
            <a:extLst>
              <a:ext uri="{FF2B5EF4-FFF2-40B4-BE49-F238E27FC236}">
                <a16:creationId xmlns:a16="http://schemas.microsoft.com/office/drawing/2014/main" id="{DA431851-A3CD-44A8-CB9C-77237EDD2C57}"/>
              </a:ext>
            </a:extLst>
          </p:cNvPr>
          <p:cNvSpPr/>
          <p:nvPr/>
        </p:nvSpPr>
        <p:spPr>
          <a:xfrm>
            <a:off x="7772400" y="4133088"/>
            <a:ext cx="3840480" cy="594360"/>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Premium vs. claims vs. profit by region, risk donut</a:t>
            </a:r>
            <a:endParaRPr lang="en-US" sz="1150" dirty="0"/>
          </a:p>
        </p:txBody>
      </p:sp>
      <p:sp>
        <p:nvSpPr>
          <p:cNvPr id="12" name="Text 9">
            <a:extLst>
              <a:ext uri="{FF2B5EF4-FFF2-40B4-BE49-F238E27FC236}">
                <a16:creationId xmlns:a16="http://schemas.microsoft.com/office/drawing/2014/main" id="{D4483EAD-2BAB-C484-D4F9-8F416837C639}"/>
              </a:ext>
            </a:extLst>
          </p:cNvPr>
          <p:cNvSpPr/>
          <p:nvPr/>
        </p:nvSpPr>
        <p:spPr>
          <a:xfrm>
            <a:off x="457200" y="6446520"/>
            <a:ext cx="6400800" cy="274320"/>
          </a:xfrm>
          <a:prstGeom prst="rect">
            <a:avLst/>
          </a:prstGeom>
          <a:noFill/>
          <a:ln/>
        </p:spPr>
        <p:txBody>
          <a:bodyPr wrap="square" lIns="0" tIns="0" rIns="0" bIns="0" rtlCol="0" anchor="ctr"/>
          <a:lstStyle/>
          <a:p>
            <a:pPr marL="0" indent="0" algn="l">
              <a:buNone/>
            </a:pPr>
            <a:endParaRPr lang="en-US" sz="900" dirty="0"/>
          </a:p>
        </p:txBody>
      </p:sp>
      <p:sp>
        <p:nvSpPr>
          <p:cNvPr id="13" name="Text 10">
            <a:extLst>
              <a:ext uri="{FF2B5EF4-FFF2-40B4-BE49-F238E27FC236}">
                <a16:creationId xmlns:a16="http://schemas.microsoft.com/office/drawing/2014/main" id="{3F43EF21-DAEF-12B9-2EAF-2B2608C47854}"/>
              </a:ext>
            </a:extLst>
          </p:cNvPr>
          <p:cNvSpPr/>
          <p:nvPr/>
        </p:nvSpPr>
        <p:spPr>
          <a:xfrm>
            <a:off x="11274552" y="6446520"/>
            <a:ext cx="457200" cy="27432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9</a:t>
            </a:r>
            <a:endParaRPr lang="en-US" sz="900" dirty="0"/>
          </a:p>
        </p:txBody>
      </p:sp>
      <p:sp>
        <p:nvSpPr>
          <p:cNvPr id="3" name="Text 1">
            <a:extLst>
              <a:ext uri="{FF2B5EF4-FFF2-40B4-BE49-F238E27FC236}">
                <a16:creationId xmlns:a16="http://schemas.microsoft.com/office/drawing/2014/main" id="{F0052433-086A-19D7-9E7B-DF2A9B5ED1F0}"/>
              </a:ext>
            </a:extLst>
          </p:cNvPr>
          <p:cNvSpPr/>
          <p:nvPr/>
        </p:nvSpPr>
        <p:spPr>
          <a:xfrm>
            <a:off x="548640" y="621792"/>
            <a:ext cx="10515600" cy="731520"/>
          </a:xfrm>
          <a:prstGeom prst="rect">
            <a:avLst/>
          </a:prstGeom>
          <a:noFill/>
          <a:ln/>
        </p:spPr>
        <p:txBody>
          <a:bodyPr wrap="square" lIns="0" tIns="0" rIns="0" bIns="0" rtlCol="0" anchor="ctr"/>
          <a:lstStyle/>
          <a:p>
            <a:pPr marL="0" indent="0">
              <a:buNone/>
            </a:pPr>
            <a:r>
              <a:rPr lang="en-US" sz="3200" b="1" dirty="0">
                <a:solidFill>
                  <a:srgbClr val="0B1F33"/>
                </a:solidFill>
                <a:latin typeface="Cambria" pitchFamily="34" charset="0"/>
                <a:ea typeface="Cambria" pitchFamily="34" charset="-122"/>
                <a:cs typeface="Cambria" pitchFamily="34" charset="-120"/>
              </a:rPr>
              <a:t>Power BI Dashboard— Claims &amp; Healthcare Utilization</a:t>
            </a:r>
            <a:endParaRPr lang="en-US" sz="3200" dirty="0"/>
          </a:p>
        </p:txBody>
      </p:sp>
      <p:pic>
        <p:nvPicPr>
          <p:cNvPr id="15" name="Picture 14">
            <a:extLst>
              <a:ext uri="{FF2B5EF4-FFF2-40B4-BE49-F238E27FC236}">
                <a16:creationId xmlns:a16="http://schemas.microsoft.com/office/drawing/2014/main" id="{CC9B5E79-4D01-FFB1-4073-017187447C7F}"/>
              </a:ext>
            </a:extLst>
          </p:cNvPr>
          <p:cNvPicPr>
            <a:picLocks noChangeAspect="1"/>
          </p:cNvPicPr>
          <p:nvPr/>
        </p:nvPicPr>
        <p:blipFill>
          <a:blip r:embed="rId3"/>
          <a:stretch>
            <a:fillRect/>
          </a:stretch>
        </p:blipFill>
        <p:spPr>
          <a:xfrm>
            <a:off x="626948" y="1874520"/>
            <a:ext cx="6580221" cy="3682987"/>
          </a:xfrm>
          <a:prstGeom prst="rect">
            <a:avLst/>
          </a:prstGeom>
        </p:spPr>
      </p:pic>
    </p:spTree>
    <p:extLst>
      <p:ext uri="{BB962C8B-B14F-4D97-AF65-F5344CB8AC3E}">
        <p14:creationId xmlns:p14="http://schemas.microsoft.com/office/powerpoint/2010/main" val="27361400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C82C54CE-507B-A417-0AF9-7040FA9BD556}"/>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6BF418BD-7DF5-9732-1178-0A8A7948475C}"/>
              </a:ext>
            </a:extLst>
          </p:cNvPr>
          <p:cNvSpPr/>
          <p:nvPr/>
        </p:nvSpPr>
        <p:spPr>
          <a:xfrm>
            <a:off x="548640" y="384048"/>
            <a:ext cx="7315200" cy="274320"/>
          </a:xfrm>
          <a:prstGeom prst="rect">
            <a:avLst/>
          </a:prstGeom>
          <a:noFill/>
          <a:ln/>
        </p:spPr>
        <p:txBody>
          <a:bodyPr wrap="square" lIns="0" tIns="0" rIns="0" bIns="0" rtlCol="0" anchor="ctr"/>
          <a:lstStyle/>
          <a:p>
            <a:pPr marL="0" indent="0">
              <a:buNone/>
            </a:pPr>
            <a:r>
              <a:rPr lang="en-US" sz="1200" b="1" kern="0" spc="200" dirty="0">
                <a:solidFill>
                  <a:srgbClr val="1C7293"/>
                </a:solidFill>
                <a:latin typeface="Calibri" pitchFamily="34" charset="0"/>
                <a:ea typeface="Calibri" pitchFamily="34" charset="-122"/>
                <a:cs typeface="Calibri" pitchFamily="34" charset="-120"/>
              </a:rPr>
              <a:t>EXECUTIVE VIEW</a:t>
            </a:r>
            <a:endParaRPr lang="en-US" sz="1200" dirty="0"/>
          </a:p>
        </p:txBody>
      </p:sp>
      <p:sp>
        <p:nvSpPr>
          <p:cNvPr id="4" name="Shape 2">
            <a:extLst>
              <a:ext uri="{FF2B5EF4-FFF2-40B4-BE49-F238E27FC236}">
                <a16:creationId xmlns:a16="http://schemas.microsoft.com/office/drawing/2014/main" id="{4CAD1CB9-F1C7-32D6-9F06-53B6EC073358}"/>
              </a:ext>
            </a:extLst>
          </p:cNvPr>
          <p:cNvSpPr/>
          <p:nvPr/>
        </p:nvSpPr>
        <p:spPr>
          <a:xfrm>
            <a:off x="548640" y="1600200"/>
            <a:ext cx="6949440" cy="4206240"/>
          </a:xfrm>
          <a:prstGeom prst="roundRect">
            <a:avLst>
              <a:gd name="adj" fmla="val 1304"/>
            </a:avLst>
          </a:prstGeom>
          <a:solidFill>
            <a:srgbClr val="F1F6F8"/>
          </a:solidFill>
          <a:ln/>
          <a:effectLst>
            <a:outerShdw blurRad="101600" dist="38100" dir="2700000" algn="bl" rotWithShape="0">
              <a:srgbClr val="000000">
                <a:alpha val="12000"/>
              </a:srgbClr>
            </a:outerShdw>
          </a:effectLst>
        </p:spPr>
        <p:txBody>
          <a:bodyPr/>
          <a:lstStyle/>
          <a:p>
            <a:endParaRPr lang="en-US"/>
          </a:p>
        </p:txBody>
      </p:sp>
      <p:sp>
        <p:nvSpPr>
          <p:cNvPr id="6" name="Text 3">
            <a:extLst>
              <a:ext uri="{FF2B5EF4-FFF2-40B4-BE49-F238E27FC236}">
                <a16:creationId xmlns:a16="http://schemas.microsoft.com/office/drawing/2014/main" id="{E40BB014-6949-9CEA-A524-FB105CE53DBA}"/>
              </a:ext>
            </a:extLst>
          </p:cNvPr>
          <p:cNvSpPr/>
          <p:nvPr/>
        </p:nvSpPr>
        <p:spPr>
          <a:xfrm>
            <a:off x="7772400" y="1737360"/>
            <a:ext cx="3840480" cy="274320"/>
          </a:xfrm>
          <a:prstGeom prst="rect">
            <a:avLst/>
          </a:prstGeom>
          <a:noFill/>
          <a:ln/>
        </p:spPr>
        <p:txBody>
          <a:bodyPr wrap="square" lIns="0" tIns="0" rIns="0" bIns="0" rtlCol="0" anchor="ctr"/>
          <a:lstStyle/>
          <a:p>
            <a:pPr marL="0" indent="0">
              <a:buNone/>
            </a:pPr>
            <a:r>
              <a:rPr lang="en-US" sz="1250" b="1" dirty="0">
                <a:solidFill>
                  <a:srgbClr val="065A82"/>
                </a:solidFill>
                <a:latin typeface="Calibri" pitchFamily="34" charset="0"/>
                <a:ea typeface="Calibri" pitchFamily="34" charset="-122"/>
                <a:cs typeface="Calibri" pitchFamily="34" charset="-120"/>
              </a:rPr>
              <a:t>Answers</a:t>
            </a:r>
            <a:endParaRPr lang="en-US" sz="1250" dirty="0"/>
          </a:p>
        </p:txBody>
      </p:sp>
      <p:sp>
        <p:nvSpPr>
          <p:cNvPr id="7" name="Text 4">
            <a:extLst>
              <a:ext uri="{FF2B5EF4-FFF2-40B4-BE49-F238E27FC236}">
                <a16:creationId xmlns:a16="http://schemas.microsoft.com/office/drawing/2014/main" id="{B3874A4C-3000-B94A-A5CE-2C0BE02F0C89}"/>
              </a:ext>
            </a:extLst>
          </p:cNvPr>
          <p:cNvSpPr/>
          <p:nvPr/>
        </p:nvSpPr>
        <p:spPr>
          <a:xfrm>
            <a:off x="7772400" y="2029968"/>
            <a:ext cx="3840480" cy="594360"/>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"Where is claims cost concentrated, and by whom?"</a:t>
            </a:r>
            <a:endParaRPr lang="en-US" sz="1150" dirty="0"/>
          </a:p>
        </p:txBody>
      </p:sp>
      <p:sp>
        <p:nvSpPr>
          <p:cNvPr id="8" name="Text 5">
            <a:extLst>
              <a:ext uri="{FF2B5EF4-FFF2-40B4-BE49-F238E27FC236}">
                <a16:creationId xmlns:a16="http://schemas.microsoft.com/office/drawing/2014/main" id="{51725A3D-729A-404D-A1B1-503B71DAA22A}"/>
              </a:ext>
            </a:extLst>
          </p:cNvPr>
          <p:cNvSpPr/>
          <p:nvPr/>
        </p:nvSpPr>
        <p:spPr>
          <a:xfrm>
            <a:off x="7772400" y="2788920"/>
            <a:ext cx="3840480" cy="274320"/>
          </a:xfrm>
          <a:prstGeom prst="rect">
            <a:avLst/>
          </a:prstGeom>
          <a:noFill/>
          <a:ln/>
        </p:spPr>
        <p:txBody>
          <a:bodyPr wrap="square" lIns="0" tIns="0" rIns="0" bIns="0" rtlCol="0" anchor="ctr"/>
          <a:lstStyle/>
          <a:p>
            <a:pPr marL="0" indent="0">
              <a:buNone/>
            </a:pPr>
            <a:r>
              <a:rPr lang="en-US" sz="1250" b="1" dirty="0">
                <a:solidFill>
                  <a:srgbClr val="065A82"/>
                </a:solidFill>
                <a:latin typeface="Calibri" pitchFamily="34" charset="0"/>
                <a:ea typeface="Calibri" pitchFamily="34" charset="-122"/>
                <a:cs typeface="Calibri" pitchFamily="34" charset="-120"/>
              </a:rPr>
              <a:t>Audience</a:t>
            </a:r>
            <a:endParaRPr lang="en-US" sz="1250" dirty="0"/>
          </a:p>
        </p:txBody>
      </p:sp>
      <p:sp>
        <p:nvSpPr>
          <p:cNvPr id="9" name="Text 6">
            <a:extLst>
              <a:ext uri="{FF2B5EF4-FFF2-40B4-BE49-F238E27FC236}">
                <a16:creationId xmlns:a16="http://schemas.microsoft.com/office/drawing/2014/main" id="{1A7D7CAD-0FE2-ECC2-E5D9-4A4E5F33F58F}"/>
              </a:ext>
            </a:extLst>
          </p:cNvPr>
          <p:cNvSpPr/>
          <p:nvPr/>
        </p:nvSpPr>
        <p:spPr>
          <a:xfrm>
            <a:off x="7772400" y="3081528"/>
            <a:ext cx="3840480" cy="594360"/>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Managers &amp; underwriters — high-level, filterable</a:t>
            </a:r>
            <a:endParaRPr lang="en-US" sz="1150" dirty="0"/>
          </a:p>
        </p:txBody>
      </p:sp>
      <p:sp>
        <p:nvSpPr>
          <p:cNvPr id="10" name="Text 7">
            <a:extLst>
              <a:ext uri="{FF2B5EF4-FFF2-40B4-BE49-F238E27FC236}">
                <a16:creationId xmlns:a16="http://schemas.microsoft.com/office/drawing/2014/main" id="{9BC35B62-CF61-57F6-ACA3-3BFA67BB3960}"/>
              </a:ext>
            </a:extLst>
          </p:cNvPr>
          <p:cNvSpPr/>
          <p:nvPr/>
        </p:nvSpPr>
        <p:spPr>
          <a:xfrm>
            <a:off x="7772400" y="3840480"/>
            <a:ext cx="3840480" cy="274320"/>
          </a:xfrm>
          <a:prstGeom prst="rect">
            <a:avLst/>
          </a:prstGeom>
          <a:noFill/>
          <a:ln/>
        </p:spPr>
        <p:txBody>
          <a:bodyPr wrap="square" lIns="0" tIns="0" rIns="0" bIns="0" rtlCol="0" anchor="ctr"/>
          <a:lstStyle/>
          <a:p>
            <a:pPr marL="0" indent="0">
              <a:buNone/>
            </a:pPr>
            <a:r>
              <a:rPr lang="en-US" sz="1250" b="1" dirty="0">
                <a:solidFill>
                  <a:srgbClr val="065A82"/>
                </a:solidFill>
                <a:latin typeface="Calibri" pitchFamily="34" charset="0"/>
                <a:ea typeface="Calibri" pitchFamily="34" charset="-122"/>
                <a:cs typeface="Calibri" pitchFamily="34" charset="-120"/>
              </a:rPr>
              <a:t>Key Visuals</a:t>
            </a:r>
            <a:endParaRPr lang="en-US" sz="1250" dirty="0"/>
          </a:p>
        </p:txBody>
      </p:sp>
      <p:sp>
        <p:nvSpPr>
          <p:cNvPr id="11" name="Text 8">
            <a:extLst>
              <a:ext uri="{FF2B5EF4-FFF2-40B4-BE49-F238E27FC236}">
                <a16:creationId xmlns:a16="http://schemas.microsoft.com/office/drawing/2014/main" id="{34B7315B-6798-4F36-F96B-17D835617800}"/>
              </a:ext>
            </a:extLst>
          </p:cNvPr>
          <p:cNvSpPr/>
          <p:nvPr/>
        </p:nvSpPr>
        <p:spPr>
          <a:xfrm>
            <a:off x="7772400" y="4133088"/>
            <a:ext cx="3840480" cy="594360"/>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Premium vs. claims vs. profit by region, risk donut</a:t>
            </a:r>
            <a:endParaRPr lang="en-US" sz="1150" dirty="0"/>
          </a:p>
        </p:txBody>
      </p:sp>
      <p:sp>
        <p:nvSpPr>
          <p:cNvPr id="12" name="Text 9">
            <a:extLst>
              <a:ext uri="{FF2B5EF4-FFF2-40B4-BE49-F238E27FC236}">
                <a16:creationId xmlns:a16="http://schemas.microsoft.com/office/drawing/2014/main" id="{CF0FFF08-78C7-ECF4-1EA7-10F6CBCB2C5A}"/>
              </a:ext>
            </a:extLst>
          </p:cNvPr>
          <p:cNvSpPr/>
          <p:nvPr/>
        </p:nvSpPr>
        <p:spPr>
          <a:xfrm>
            <a:off x="457200" y="6446520"/>
            <a:ext cx="6400800" cy="274320"/>
          </a:xfrm>
          <a:prstGeom prst="rect">
            <a:avLst/>
          </a:prstGeom>
          <a:noFill/>
          <a:ln/>
        </p:spPr>
        <p:txBody>
          <a:bodyPr wrap="square" lIns="0" tIns="0" rIns="0" bIns="0" rtlCol="0" anchor="ctr"/>
          <a:lstStyle/>
          <a:p>
            <a:pPr marL="0" indent="0" algn="l">
              <a:buNone/>
            </a:pPr>
            <a:endParaRPr lang="en-US" sz="900" dirty="0"/>
          </a:p>
        </p:txBody>
      </p:sp>
      <p:sp>
        <p:nvSpPr>
          <p:cNvPr id="13" name="Text 10">
            <a:extLst>
              <a:ext uri="{FF2B5EF4-FFF2-40B4-BE49-F238E27FC236}">
                <a16:creationId xmlns:a16="http://schemas.microsoft.com/office/drawing/2014/main" id="{8D6E24E7-63FA-4478-6114-C848B930667F}"/>
              </a:ext>
            </a:extLst>
          </p:cNvPr>
          <p:cNvSpPr/>
          <p:nvPr/>
        </p:nvSpPr>
        <p:spPr>
          <a:xfrm>
            <a:off x="11274552" y="6446520"/>
            <a:ext cx="457200" cy="27432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9</a:t>
            </a:r>
            <a:endParaRPr lang="en-US" sz="900" dirty="0"/>
          </a:p>
        </p:txBody>
      </p:sp>
      <p:sp>
        <p:nvSpPr>
          <p:cNvPr id="3" name="Text 1">
            <a:extLst>
              <a:ext uri="{FF2B5EF4-FFF2-40B4-BE49-F238E27FC236}">
                <a16:creationId xmlns:a16="http://schemas.microsoft.com/office/drawing/2014/main" id="{78C836DC-207E-2782-1735-309BCA6C59A5}"/>
              </a:ext>
            </a:extLst>
          </p:cNvPr>
          <p:cNvSpPr/>
          <p:nvPr/>
        </p:nvSpPr>
        <p:spPr>
          <a:xfrm>
            <a:off x="548640" y="621792"/>
            <a:ext cx="11064240" cy="731520"/>
          </a:xfrm>
          <a:prstGeom prst="rect">
            <a:avLst/>
          </a:prstGeom>
          <a:noFill/>
          <a:ln/>
        </p:spPr>
        <p:txBody>
          <a:bodyPr wrap="square" lIns="0" tIns="0" rIns="0" bIns="0" rtlCol="0" anchor="ctr"/>
          <a:lstStyle/>
          <a:p>
            <a:pPr marL="0" indent="0">
              <a:buNone/>
            </a:pPr>
            <a:r>
              <a:rPr lang="en-US" sz="3200" b="1" dirty="0">
                <a:solidFill>
                  <a:srgbClr val="0B1F33"/>
                </a:solidFill>
                <a:latin typeface="Cambria" pitchFamily="34" charset="0"/>
                <a:ea typeface="Cambria" pitchFamily="34" charset="-122"/>
                <a:cs typeface="Cambria" pitchFamily="34" charset="-120"/>
              </a:rPr>
              <a:t>Power BI Dashboard— Population Health &amp; Risk Analysis</a:t>
            </a:r>
            <a:endParaRPr lang="en-US" sz="3200" dirty="0"/>
          </a:p>
        </p:txBody>
      </p:sp>
      <p:pic>
        <p:nvPicPr>
          <p:cNvPr id="15" name="Picture 14">
            <a:extLst>
              <a:ext uri="{FF2B5EF4-FFF2-40B4-BE49-F238E27FC236}">
                <a16:creationId xmlns:a16="http://schemas.microsoft.com/office/drawing/2014/main" id="{B2FFBC38-4BD5-42B9-45D1-B8EAAF919C7A}"/>
              </a:ext>
            </a:extLst>
          </p:cNvPr>
          <p:cNvPicPr>
            <a:picLocks noChangeAspect="1"/>
          </p:cNvPicPr>
          <p:nvPr/>
        </p:nvPicPr>
        <p:blipFill>
          <a:blip r:embed="rId3"/>
          <a:stretch>
            <a:fillRect/>
          </a:stretch>
        </p:blipFill>
        <p:spPr>
          <a:xfrm>
            <a:off x="842657" y="1868424"/>
            <a:ext cx="6361405" cy="3614928"/>
          </a:xfrm>
          <a:prstGeom prst="rect">
            <a:avLst/>
          </a:prstGeom>
        </p:spPr>
      </p:pic>
    </p:spTree>
    <p:extLst>
      <p:ext uri="{BB962C8B-B14F-4D97-AF65-F5344CB8AC3E}">
        <p14:creationId xmlns:p14="http://schemas.microsoft.com/office/powerpoint/2010/main" val="61305308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B323E433-FE9B-714A-6FBB-B2BAE62E872E}"/>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6AEECD89-8939-25B8-6D51-831E1D9F8EB2}"/>
              </a:ext>
            </a:extLst>
          </p:cNvPr>
          <p:cNvSpPr/>
          <p:nvPr/>
        </p:nvSpPr>
        <p:spPr>
          <a:xfrm>
            <a:off x="548640" y="384048"/>
            <a:ext cx="7315200" cy="274320"/>
          </a:xfrm>
          <a:prstGeom prst="rect">
            <a:avLst/>
          </a:prstGeom>
          <a:noFill/>
          <a:ln/>
        </p:spPr>
        <p:txBody>
          <a:bodyPr wrap="square" lIns="0" tIns="0" rIns="0" bIns="0" rtlCol="0" anchor="ctr"/>
          <a:lstStyle/>
          <a:p>
            <a:pPr marL="0" indent="0">
              <a:buNone/>
            </a:pPr>
            <a:r>
              <a:rPr lang="en-US" sz="1200" b="1" kern="0" spc="200" dirty="0">
                <a:solidFill>
                  <a:srgbClr val="1C7293"/>
                </a:solidFill>
                <a:latin typeface="Calibri" pitchFamily="34" charset="0"/>
                <a:ea typeface="Calibri" pitchFamily="34" charset="-122"/>
                <a:cs typeface="Calibri" pitchFamily="34" charset="-120"/>
              </a:rPr>
              <a:t>EXECUTIVE VIEW</a:t>
            </a:r>
            <a:endParaRPr lang="en-US" sz="1200" dirty="0"/>
          </a:p>
        </p:txBody>
      </p:sp>
      <p:sp>
        <p:nvSpPr>
          <p:cNvPr id="4" name="Shape 2">
            <a:extLst>
              <a:ext uri="{FF2B5EF4-FFF2-40B4-BE49-F238E27FC236}">
                <a16:creationId xmlns:a16="http://schemas.microsoft.com/office/drawing/2014/main" id="{723AC485-38B7-B297-814B-081877491030}"/>
              </a:ext>
            </a:extLst>
          </p:cNvPr>
          <p:cNvSpPr/>
          <p:nvPr/>
        </p:nvSpPr>
        <p:spPr>
          <a:xfrm>
            <a:off x="548640" y="1600200"/>
            <a:ext cx="6949440" cy="4206240"/>
          </a:xfrm>
          <a:prstGeom prst="roundRect">
            <a:avLst>
              <a:gd name="adj" fmla="val 1304"/>
            </a:avLst>
          </a:prstGeom>
          <a:solidFill>
            <a:srgbClr val="F1F6F8"/>
          </a:solidFill>
          <a:ln/>
          <a:effectLst>
            <a:outerShdw blurRad="101600" dist="38100" dir="2700000" algn="bl" rotWithShape="0">
              <a:srgbClr val="000000">
                <a:alpha val="12000"/>
              </a:srgbClr>
            </a:outerShdw>
          </a:effectLst>
        </p:spPr>
        <p:txBody>
          <a:bodyPr/>
          <a:lstStyle/>
          <a:p>
            <a:endParaRPr lang="en-US"/>
          </a:p>
        </p:txBody>
      </p:sp>
      <p:sp>
        <p:nvSpPr>
          <p:cNvPr id="6" name="Text 3">
            <a:extLst>
              <a:ext uri="{FF2B5EF4-FFF2-40B4-BE49-F238E27FC236}">
                <a16:creationId xmlns:a16="http://schemas.microsoft.com/office/drawing/2014/main" id="{D8AC05BF-2B4C-B1B3-9279-AA84DE75CF46}"/>
              </a:ext>
            </a:extLst>
          </p:cNvPr>
          <p:cNvSpPr/>
          <p:nvPr/>
        </p:nvSpPr>
        <p:spPr>
          <a:xfrm>
            <a:off x="7772400" y="1737360"/>
            <a:ext cx="3840480" cy="274320"/>
          </a:xfrm>
          <a:prstGeom prst="rect">
            <a:avLst/>
          </a:prstGeom>
          <a:noFill/>
          <a:ln/>
        </p:spPr>
        <p:txBody>
          <a:bodyPr wrap="square" lIns="0" tIns="0" rIns="0" bIns="0" rtlCol="0" anchor="ctr"/>
          <a:lstStyle/>
          <a:p>
            <a:pPr marL="0" indent="0">
              <a:buNone/>
            </a:pPr>
            <a:r>
              <a:rPr lang="en-US" sz="1250" b="1" dirty="0">
                <a:solidFill>
                  <a:srgbClr val="065A82"/>
                </a:solidFill>
                <a:latin typeface="Calibri" pitchFamily="34" charset="0"/>
                <a:ea typeface="Calibri" pitchFamily="34" charset="-122"/>
                <a:cs typeface="Calibri" pitchFamily="34" charset="-120"/>
              </a:rPr>
              <a:t>Answers</a:t>
            </a:r>
            <a:endParaRPr lang="en-US" sz="1250" dirty="0"/>
          </a:p>
        </p:txBody>
      </p:sp>
      <p:sp>
        <p:nvSpPr>
          <p:cNvPr id="7" name="Text 4">
            <a:extLst>
              <a:ext uri="{FF2B5EF4-FFF2-40B4-BE49-F238E27FC236}">
                <a16:creationId xmlns:a16="http://schemas.microsoft.com/office/drawing/2014/main" id="{60938619-4FDA-0FFA-0B28-AF372FFEEA0C}"/>
              </a:ext>
            </a:extLst>
          </p:cNvPr>
          <p:cNvSpPr/>
          <p:nvPr/>
        </p:nvSpPr>
        <p:spPr>
          <a:xfrm>
            <a:off x="7772400" y="2029968"/>
            <a:ext cx="3840480" cy="594360"/>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"Where is claims cost concentrated, and by whom?"</a:t>
            </a:r>
            <a:endParaRPr lang="en-US" sz="1150" dirty="0"/>
          </a:p>
        </p:txBody>
      </p:sp>
      <p:sp>
        <p:nvSpPr>
          <p:cNvPr id="8" name="Text 5">
            <a:extLst>
              <a:ext uri="{FF2B5EF4-FFF2-40B4-BE49-F238E27FC236}">
                <a16:creationId xmlns:a16="http://schemas.microsoft.com/office/drawing/2014/main" id="{F12512A2-0DC2-C933-A106-F942E5C6A9D7}"/>
              </a:ext>
            </a:extLst>
          </p:cNvPr>
          <p:cNvSpPr/>
          <p:nvPr/>
        </p:nvSpPr>
        <p:spPr>
          <a:xfrm>
            <a:off x="7772400" y="2788920"/>
            <a:ext cx="3840480" cy="274320"/>
          </a:xfrm>
          <a:prstGeom prst="rect">
            <a:avLst/>
          </a:prstGeom>
          <a:noFill/>
          <a:ln/>
        </p:spPr>
        <p:txBody>
          <a:bodyPr wrap="square" lIns="0" tIns="0" rIns="0" bIns="0" rtlCol="0" anchor="ctr"/>
          <a:lstStyle/>
          <a:p>
            <a:pPr marL="0" indent="0">
              <a:buNone/>
            </a:pPr>
            <a:r>
              <a:rPr lang="en-US" sz="1250" b="1" dirty="0">
                <a:solidFill>
                  <a:srgbClr val="065A82"/>
                </a:solidFill>
                <a:latin typeface="Calibri" pitchFamily="34" charset="0"/>
                <a:ea typeface="Calibri" pitchFamily="34" charset="-122"/>
                <a:cs typeface="Calibri" pitchFamily="34" charset="-120"/>
              </a:rPr>
              <a:t>Audience</a:t>
            </a:r>
            <a:endParaRPr lang="en-US" sz="1250" dirty="0"/>
          </a:p>
        </p:txBody>
      </p:sp>
      <p:sp>
        <p:nvSpPr>
          <p:cNvPr id="9" name="Text 6">
            <a:extLst>
              <a:ext uri="{FF2B5EF4-FFF2-40B4-BE49-F238E27FC236}">
                <a16:creationId xmlns:a16="http://schemas.microsoft.com/office/drawing/2014/main" id="{ABCA93D5-F595-4F16-C7BD-4FCD02A1AFA6}"/>
              </a:ext>
            </a:extLst>
          </p:cNvPr>
          <p:cNvSpPr/>
          <p:nvPr/>
        </p:nvSpPr>
        <p:spPr>
          <a:xfrm>
            <a:off x="7772400" y="3081528"/>
            <a:ext cx="3840480" cy="594360"/>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Managers &amp; underwriters — high-level, filterable</a:t>
            </a:r>
            <a:endParaRPr lang="en-US" sz="1150" dirty="0"/>
          </a:p>
        </p:txBody>
      </p:sp>
      <p:sp>
        <p:nvSpPr>
          <p:cNvPr id="10" name="Text 7">
            <a:extLst>
              <a:ext uri="{FF2B5EF4-FFF2-40B4-BE49-F238E27FC236}">
                <a16:creationId xmlns:a16="http://schemas.microsoft.com/office/drawing/2014/main" id="{5A8E6394-DDD3-C98C-363B-CA46159034B5}"/>
              </a:ext>
            </a:extLst>
          </p:cNvPr>
          <p:cNvSpPr/>
          <p:nvPr/>
        </p:nvSpPr>
        <p:spPr>
          <a:xfrm>
            <a:off x="7772400" y="3840480"/>
            <a:ext cx="3840480" cy="274320"/>
          </a:xfrm>
          <a:prstGeom prst="rect">
            <a:avLst/>
          </a:prstGeom>
          <a:noFill/>
          <a:ln/>
        </p:spPr>
        <p:txBody>
          <a:bodyPr wrap="square" lIns="0" tIns="0" rIns="0" bIns="0" rtlCol="0" anchor="ctr"/>
          <a:lstStyle/>
          <a:p>
            <a:pPr marL="0" indent="0">
              <a:buNone/>
            </a:pPr>
            <a:r>
              <a:rPr lang="en-US" sz="1250" b="1" dirty="0">
                <a:solidFill>
                  <a:srgbClr val="065A82"/>
                </a:solidFill>
                <a:latin typeface="Calibri" pitchFamily="34" charset="0"/>
                <a:ea typeface="Calibri" pitchFamily="34" charset="-122"/>
                <a:cs typeface="Calibri" pitchFamily="34" charset="-120"/>
              </a:rPr>
              <a:t>Key Visuals</a:t>
            </a:r>
            <a:endParaRPr lang="en-US" sz="1250" dirty="0"/>
          </a:p>
        </p:txBody>
      </p:sp>
      <p:sp>
        <p:nvSpPr>
          <p:cNvPr id="11" name="Text 8">
            <a:extLst>
              <a:ext uri="{FF2B5EF4-FFF2-40B4-BE49-F238E27FC236}">
                <a16:creationId xmlns:a16="http://schemas.microsoft.com/office/drawing/2014/main" id="{494C9AFE-A6C1-C16F-D04E-8EC01EA44FDD}"/>
              </a:ext>
            </a:extLst>
          </p:cNvPr>
          <p:cNvSpPr/>
          <p:nvPr/>
        </p:nvSpPr>
        <p:spPr>
          <a:xfrm>
            <a:off x="7772400" y="4133088"/>
            <a:ext cx="3840480" cy="594360"/>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Premium vs. claims vs. profit by region, risk donut</a:t>
            </a:r>
            <a:endParaRPr lang="en-US" sz="1150" dirty="0"/>
          </a:p>
        </p:txBody>
      </p:sp>
      <p:sp>
        <p:nvSpPr>
          <p:cNvPr id="12" name="Text 9">
            <a:extLst>
              <a:ext uri="{FF2B5EF4-FFF2-40B4-BE49-F238E27FC236}">
                <a16:creationId xmlns:a16="http://schemas.microsoft.com/office/drawing/2014/main" id="{A463921B-2511-162E-D830-BFB397FFDA5F}"/>
              </a:ext>
            </a:extLst>
          </p:cNvPr>
          <p:cNvSpPr/>
          <p:nvPr/>
        </p:nvSpPr>
        <p:spPr>
          <a:xfrm>
            <a:off x="457200" y="6446520"/>
            <a:ext cx="6400800" cy="274320"/>
          </a:xfrm>
          <a:prstGeom prst="rect">
            <a:avLst/>
          </a:prstGeom>
          <a:noFill/>
          <a:ln/>
        </p:spPr>
        <p:txBody>
          <a:bodyPr wrap="square" lIns="0" tIns="0" rIns="0" bIns="0" rtlCol="0" anchor="ctr"/>
          <a:lstStyle/>
          <a:p>
            <a:pPr marL="0" indent="0" algn="l">
              <a:buNone/>
            </a:pPr>
            <a:endParaRPr lang="en-US" sz="900" dirty="0"/>
          </a:p>
        </p:txBody>
      </p:sp>
      <p:sp>
        <p:nvSpPr>
          <p:cNvPr id="13" name="Text 10">
            <a:extLst>
              <a:ext uri="{FF2B5EF4-FFF2-40B4-BE49-F238E27FC236}">
                <a16:creationId xmlns:a16="http://schemas.microsoft.com/office/drawing/2014/main" id="{12316906-1307-148C-84D1-4E7BECDE700F}"/>
              </a:ext>
            </a:extLst>
          </p:cNvPr>
          <p:cNvSpPr/>
          <p:nvPr/>
        </p:nvSpPr>
        <p:spPr>
          <a:xfrm>
            <a:off x="11274552" y="6446520"/>
            <a:ext cx="457200" cy="27432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9</a:t>
            </a:r>
            <a:endParaRPr lang="en-US" sz="900" dirty="0"/>
          </a:p>
        </p:txBody>
      </p:sp>
      <p:sp>
        <p:nvSpPr>
          <p:cNvPr id="3" name="Text 1">
            <a:extLst>
              <a:ext uri="{FF2B5EF4-FFF2-40B4-BE49-F238E27FC236}">
                <a16:creationId xmlns:a16="http://schemas.microsoft.com/office/drawing/2014/main" id="{B9B7CC0B-6A59-C7E3-BEB0-A3E1F44C9DBC}"/>
              </a:ext>
            </a:extLst>
          </p:cNvPr>
          <p:cNvSpPr/>
          <p:nvPr/>
        </p:nvSpPr>
        <p:spPr>
          <a:xfrm>
            <a:off x="548640" y="621792"/>
            <a:ext cx="11283142" cy="731520"/>
          </a:xfrm>
          <a:prstGeom prst="rect">
            <a:avLst/>
          </a:prstGeom>
          <a:noFill/>
          <a:ln/>
        </p:spPr>
        <p:txBody>
          <a:bodyPr wrap="square" lIns="0" tIns="0" rIns="0" bIns="0" rtlCol="0" anchor="ctr"/>
          <a:lstStyle/>
          <a:p>
            <a:pPr marL="0" indent="0">
              <a:buNone/>
            </a:pPr>
            <a:r>
              <a:rPr lang="en-US" sz="3200" b="1" dirty="0">
                <a:solidFill>
                  <a:srgbClr val="0B1F33"/>
                </a:solidFill>
                <a:latin typeface="Cambria" pitchFamily="34" charset="0"/>
                <a:ea typeface="Cambria" pitchFamily="34" charset="-122"/>
                <a:cs typeface="Cambria" pitchFamily="34" charset="-120"/>
              </a:rPr>
              <a:t>Power BI Dashboard— Members Demographics &amp; Policy Insights</a:t>
            </a:r>
            <a:endParaRPr lang="en-US" sz="3200" dirty="0"/>
          </a:p>
        </p:txBody>
      </p:sp>
      <p:pic>
        <p:nvPicPr>
          <p:cNvPr id="15" name="Picture 14">
            <a:extLst>
              <a:ext uri="{FF2B5EF4-FFF2-40B4-BE49-F238E27FC236}">
                <a16:creationId xmlns:a16="http://schemas.microsoft.com/office/drawing/2014/main" id="{A926694F-D883-07DF-3BD4-4C1158842CB1}"/>
              </a:ext>
            </a:extLst>
          </p:cNvPr>
          <p:cNvPicPr>
            <a:picLocks noChangeAspect="1"/>
          </p:cNvPicPr>
          <p:nvPr/>
        </p:nvPicPr>
        <p:blipFill>
          <a:blip r:embed="rId3"/>
          <a:stretch>
            <a:fillRect/>
          </a:stretch>
        </p:blipFill>
        <p:spPr>
          <a:xfrm>
            <a:off x="1323444" y="1955315"/>
            <a:ext cx="6174636" cy="3441145"/>
          </a:xfrm>
          <a:prstGeom prst="rect">
            <a:avLst/>
          </a:prstGeom>
        </p:spPr>
      </p:pic>
    </p:spTree>
    <p:extLst>
      <p:ext uri="{BB962C8B-B14F-4D97-AF65-F5344CB8AC3E}">
        <p14:creationId xmlns:p14="http://schemas.microsoft.com/office/powerpoint/2010/main" val="410315321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6B31FFE5-3890-9180-B06B-D4167EB2C98D}"/>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66F2D2B2-81FD-BBE2-84A9-AD93458714B7}"/>
              </a:ext>
            </a:extLst>
          </p:cNvPr>
          <p:cNvSpPr/>
          <p:nvPr/>
        </p:nvSpPr>
        <p:spPr>
          <a:xfrm>
            <a:off x="548640" y="384048"/>
            <a:ext cx="7315200" cy="274320"/>
          </a:xfrm>
          <a:prstGeom prst="rect">
            <a:avLst/>
          </a:prstGeom>
          <a:noFill/>
          <a:ln/>
        </p:spPr>
        <p:txBody>
          <a:bodyPr wrap="square" lIns="0" tIns="0" rIns="0" bIns="0" rtlCol="0" anchor="ctr"/>
          <a:lstStyle/>
          <a:p>
            <a:pPr marL="0" indent="0">
              <a:buNone/>
            </a:pPr>
            <a:r>
              <a:rPr lang="en-US" sz="1200" b="1" kern="0" spc="200" dirty="0">
                <a:solidFill>
                  <a:srgbClr val="1C7293"/>
                </a:solidFill>
                <a:latin typeface="Calibri" pitchFamily="34" charset="0"/>
                <a:ea typeface="Calibri" pitchFamily="34" charset="-122"/>
                <a:cs typeface="Calibri" pitchFamily="34" charset="-120"/>
              </a:rPr>
              <a:t>EXECUTIVE VIEW</a:t>
            </a:r>
            <a:endParaRPr lang="en-US" sz="1200" dirty="0"/>
          </a:p>
        </p:txBody>
      </p:sp>
      <p:sp>
        <p:nvSpPr>
          <p:cNvPr id="4" name="Shape 2">
            <a:extLst>
              <a:ext uri="{FF2B5EF4-FFF2-40B4-BE49-F238E27FC236}">
                <a16:creationId xmlns:a16="http://schemas.microsoft.com/office/drawing/2014/main" id="{C7053D74-B6FD-FBE3-2983-DF1AD6604064}"/>
              </a:ext>
            </a:extLst>
          </p:cNvPr>
          <p:cNvSpPr/>
          <p:nvPr/>
        </p:nvSpPr>
        <p:spPr>
          <a:xfrm>
            <a:off x="548640" y="1600200"/>
            <a:ext cx="6949440" cy="4206240"/>
          </a:xfrm>
          <a:prstGeom prst="roundRect">
            <a:avLst>
              <a:gd name="adj" fmla="val 1304"/>
            </a:avLst>
          </a:prstGeom>
          <a:solidFill>
            <a:srgbClr val="F1F6F8"/>
          </a:solidFill>
          <a:ln/>
          <a:effectLst>
            <a:outerShdw blurRad="101600" dist="38100" dir="2700000" algn="bl" rotWithShape="0">
              <a:srgbClr val="000000">
                <a:alpha val="12000"/>
              </a:srgbClr>
            </a:outerShdw>
          </a:effectLst>
        </p:spPr>
        <p:txBody>
          <a:bodyPr/>
          <a:lstStyle/>
          <a:p>
            <a:endParaRPr lang="en-US"/>
          </a:p>
        </p:txBody>
      </p:sp>
      <p:sp>
        <p:nvSpPr>
          <p:cNvPr id="6" name="Text 3">
            <a:extLst>
              <a:ext uri="{FF2B5EF4-FFF2-40B4-BE49-F238E27FC236}">
                <a16:creationId xmlns:a16="http://schemas.microsoft.com/office/drawing/2014/main" id="{01D5BECF-53E2-B8FE-B9EE-5C251064816F}"/>
              </a:ext>
            </a:extLst>
          </p:cNvPr>
          <p:cNvSpPr/>
          <p:nvPr/>
        </p:nvSpPr>
        <p:spPr>
          <a:xfrm>
            <a:off x="7772400" y="1737360"/>
            <a:ext cx="3840480" cy="274320"/>
          </a:xfrm>
          <a:prstGeom prst="rect">
            <a:avLst/>
          </a:prstGeom>
          <a:noFill/>
          <a:ln/>
        </p:spPr>
        <p:txBody>
          <a:bodyPr wrap="square" lIns="0" tIns="0" rIns="0" bIns="0" rtlCol="0" anchor="ctr"/>
          <a:lstStyle/>
          <a:p>
            <a:pPr marL="0" indent="0">
              <a:buNone/>
            </a:pPr>
            <a:r>
              <a:rPr lang="en-US" sz="1250" b="1" dirty="0">
                <a:solidFill>
                  <a:srgbClr val="065A82"/>
                </a:solidFill>
                <a:latin typeface="Calibri" pitchFamily="34" charset="0"/>
                <a:ea typeface="Calibri" pitchFamily="34" charset="-122"/>
                <a:cs typeface="Calibri" pitchFamily="34" charset="-120"/>
              </a:rPr>
              <a:t>Answers</a:t>
            </a:r>
            <a:endParaRPr lang="en-US" sz="1250" dirty="0"/>
          </a:p>
        </p:txBody>
      </p:sp>
      <p:sp>
        <p:nvSpPr>
          <p:cNvPr id="7" name="Text 4">
            <a:extLst>
              <a:ext uri="{FF2B5EF4-FFF2-40B4-BE49-F238E27FC236}">
                <a16:creationId xmlns:a16="http://schemas.microsoft.com/office/drawing/2014/main" id="{F57B69C7-B28F-EC0C-6934-127275BEEE77}"/>
              </a:ext>
            </a:extLst>
          </p:cNvPr>
          <p:cNvSpPr/>
          <p:nvPr/>
        </p:nvSpPr>
        <p:spPr>
          <a:xfrm>
            <a:off x="7772400" y="2029968"/>
            <a:ext cx="3840480" cy="594360"/>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"Where is claims cost concentrated, and by whom?"</a:t>
            </a:r>
            <a:endParaRPr lang="en-US" sz="1150" dirty="0"/>
          </a:p>
        </p:txBody>
      </p:sp>
      <p:sp>
        <p:nvSpPr>
          <p:cNvPr id="8" name="Text 5">
            <a:extLst>
              <a:ext uri="{FF2B5EF4-FFF2-40B4-BE49-F238E27FC236}">
                <a16:creationId xmlns:a16="http://schemas.microsoft.com/office/drawing/2014/main" id="{3B4D74DB-75E6-E6E7-C40A-D7D85EBE1B3F}"/>
              </a:ext>
            </a:extLst>
          </p:cNvPr>
          <p:cNvSpPr/>
          <p:nvPr/>
        </p:nvSpPr>
        <p:spPr>
          <a:xfrm>
            <a:off x="7772400" y="2788920"/>
            <a:ext cx="3840480" cy="274320"/>
          </a:xfrm>
          <a:prstGeom prst="rect">
            <a:avLst/>
          </a:prstGeom>
          <a:noFill/>
          <a:ln/>
        </p:spPr>
        <p:txBody>
          <a:bodyPr wrap="square" lIns="0" tIns="0" rIns="0" bIns="0" rtlCol="0" anchor="ctr"/>
          <a:lstStyle/>
          <a:p>
            <a:pPr marL="0" indent="0">
              <a:buNone/>
            </a:pPr>
            <a:r>
              <a:rPr lang="en-US" sz="1250" b="1" dirty="0">
                <a:solidFill>
                  <a:srgbClr val="065A82"/>
                </a:solidFill>
                <a:latin typeface="Calibri" pitchFamily="34" charset="0"/>
                <a:ea typeface="Calibri" pitchFamily="34" charset="-122"/>
                <a:cs typeface="Calibri" pitchFamily="34" charset="-120"/>
              </a:rPr>
              <a:t>Audience</a:t>
            </a:r>
            <a:endParaRPr lang="en-US" sz="1250" dirty="0"/>
          </a:p>
        </p:txBody>
      </p:sp>
      <p:sp>
        <p:nvSpPr>
          <p:cNvPr id="9" name="Text 6">
            <a:extLst>
              <a:ext uri="{FF2B5EF4-FFF2-40B4-BE49-F238E27FC236}">
                <a16:creationId xmlns:a16="http://schemas.microsoft.com/office/drawing/2014/main" id="{B9DD5DD2-A449-2662-A20D-87B3234FBEAC}"/>
              </a:ext>
            </a:extLst>
          </p:cNvPr>
          <p:cNvSpPr/>
          <p:nvPr/>
        </p:nvSpPr>
        <p:spPr>
          <a:xfrm>
            <a:off x="7772400" y="3081528"/>
            <a:ext cx="3840480" cy="594360"/>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Managers &amp; underwriters — high-level, filterable</a:t>
            </a:r>
            <a:endParaRPr lang="en-US" sz="1150" dirty="0"/>
          </a:p>
        </p:txBody>
      </p:sp>
      <p:sp>
        <p:nvSpPr>
          <p:cNvPr id="10" name="Text 7">
            <a:extLst>
              <a:ext uri="{FF2B5EF4-FFF2-40B4-BE49-F238E27FC236}">
                <a16:creationId xmlns:a16="http://schemas.microsoft.com/office/drawing/2014/main" id="{225C1EF5-1293-007A-453E-3D3935622722}"/>
              </a:ext>
            </a:extLst>
          </p:cNvPr>
          <p:cNvSpPr/>
          <p:nvPr/>
        </p:nvSpPr>
        <p:spPr>
          <a:xfrm>
            <a:off x="7772400" y="3840480"/>
            <a:ext cx="3840480" cy="274320"/>
          </a:xfrm>
          <a:prstGeom prst="rect">
            <a:avLst/>
          </a:prstGeom>
          <a:noFill/>
          <a:ln/>
        </p:spPr>
        <p:txBody>
          <a:bodyPr wrap="square" lIns="0" tIns="0" rIns="0" bIns="0" rtlCol="0" anchor="ctr"/>
          <a:lstStyle/>
          <a:p>
            <a:pPr marL="0" indent="0">
              <a:buNone/>
            </a:pPr>
            <a:r>
              <a:rPr lang="en-US" sz="1250" b="1" dirty="0">
                <a:solidFill>
                  <a:srgbClr val="065A82"/>
                </a:solidFill>
                <a:latin typeface="Calibri" pitchFamily="34" charset="0"/>
                <a:ea typeface="Calibri" pitchFamily="34" charset="-122"/>
                <a:cs typeface="Calibri" pitchFamily="34" charset="-120"/>
              </a:rPr>
              <a:t>Key Visuals</a:t>
            </a:r>
            <a:endParaRPr lang="en-US" sz="1250" dirty="0"/>
          </a:p>
        </p:txBody>
      </p:sp>
      <p:sp>
        <p:nvSpPr>
          <p:cNvPr id="11" name="Text 8">
            <a:extLst>
              <a:ext uri="{FF2B5EF4-FFF2-40B4-BE49-F238E27FC236}">
                <a16:creationId xmlns:a16="http://schemas.microsoft.com/office/drawing/2014/main" id="{C920B6FF-1FDD-F58D-E095-6CF76D66A649}"/>
              </a:ext>
            </a:extLst>
          </p:cNvPr>
          <p:cNvSpPr/>
          <p:nvPr/>
        </p:nvSpPr>
        <p:spPr>
          <a:xfrm>
            <a:off x="7772400" y="4133088"/>
            <a:ext cx="3840480" cy="594360"/>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Premium vs. claims vs. profit by region, risk donut</a:t>
            </a:r>
            <a:endParaRPr lang="en-US" sz="1150" dirty="0"/>
          </a:p>
        </p:txBody>
      </p:sp>
      <p:sp>
        <p:nvSpPr>
          <p:cNvPr id="12" name="Text 9">
            <a:extLst>
              <a:ext uri="{FF2B5EF4-FFF2-40B4-BE49-F238E27FC236}">
                <a16:creationId xmlns:a16="http://schemas.microsoft.com/office/drawing/2014/main" id="{32709D9C-BB2D-84CD-F079-C5FD358BB422}"/>
              </a:ext>
            </a:extLst>
          </p:cNvPr>
          <p:cNvSpPr/>
          <p:nvPr/>
        </p:nvSpPr>
        <p:spPr>
          <a:xfrm>
            <a:off x="457200" y="6446520"/>
            <a:ext cx="6400800" cy="274320"/>
          </a:xfrm>
          <a:prstGeom prst="rect">
            <a:avLst/>
          </a:prstGeom>
          <a:noFill/>
          <a:ln/>
        </p:spPr>
        <p:txBody>
          <a:bodyPr wrap="square" lIns="0" tIns="0" rIns="0" bIns="0" rtlCol="0" anchor="ctr"/>
          <a:lstStyle/>
          <a:p>
            <a:pPr marL="0" indent="0" algn="l">
              <a:buNone/>
            </a:pPr>
            <a:endParaRPr lang="en-US" sz="900" dirty="0"/>
          </a:p>
        </p:txBody>
      </p:sp>
      <p:sp>
        <p:nvSpPr>
          <p:cNvPr id="13" name="Text 10">
            <a:extLst>
              <a:ext uri="{FF2B5EF4-FFF2-40B4-BE49-F238E27FC236}">
                <a16:creationId xmlns:a16="http://schemas.microsoft.com/office/drawing/2014/main" id="{9F0FD1F7-31C9-6C7F-33DD-68597BB0B6A2}"/>
              </a:ext>
            </a:extLst>
          </p:cNvPr>
          <p:cNvSpPr/>
          <p:nvPr/>
        </p:nvSpPr>
        <p:spPr>
          <a:xfrm>
            <a:off x="11274552" y="6446520"/>
            <a:ext cx="457200" cy="27432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9</a:t>
            </a:r>
            <a:endParaRPr lang="en-US" sz="900" dirty="0"/>
          </a:p>
        </p:txBody>
      </p:sp>
      <p:sp>
        <p:nvSpPr>
          <p:cNvPr id="3" name="Text 1">
            <a:extLst>
              <a:ext uri="{FF2B5EF4-FFF2-40B4-BE49-F238E27FC236}">
                <a16:creationId xmlns:a16="http://schemas.microsoft.com/office/drawing/2014/main" id="{9BAA665C-CC07-8E46-7CB1-E53AD50E8484}"/>
              </a:ext>
            </a:extLst>
          </p:cNvPr>
          <p:cNvSpPr/>
          <p:nvPr/>
        </p:nvSpPr>
        <p:spPr>
          <a:xfrm>
            <a:off x="548640" y="621792"/>
            <a:ext cx="10515600" cy="731520"/>
          </a:xfrm>
          <a:prstGeom prst="rect">
            <a:avLst/>
          </a:prstGeom>
          <a:noFill/>
          <a:ln/>
        </p:spPr>
        <p:txBody>
          <a:bodyPr wrap="square" lIns="0" tIns="0" rIns="0" bIns="0" rtlCol="0" anchor="ctr"/>
          <a:lstStyle/>
          <a:p>
            <a:pPr marL="0" indent="0">
              <a:buNone/>
            </a:pPr>
            <a:r>
              <a:rPr lang="en-US" sz="3200" b="1" dirty="0">
                <a:solidFill>
                  <a:srgbClr val="0B1F33"/>
                </a:solidFill>
                <a:latin typeface="Cambria" pitchFamily="34" charset="0"/>
                <a:ea typeface="Cambria" pitchFamily="34" charset="-122"/>
                <a:cs typeface="Cambria" pitchFamily="34" charset="-120"/>
              </a:rPr>
              <a:t>Power BI Dashboard— Financial Performance Analysis</a:t>
            </a:r>
            <a:endParaRPr lang="en-US" sz="3200" dirty="0"/>
          </a:p>
        </p:txBody>
      </p:sp>
      <p:pic>
        <p:nvPicPr>
          <p:cNvPr id="15" name="Picture 14">
            <a:extLst>
              <a:ext uri="{FF2B5EF4-FFF2-40B4-BE49-F238E27FC236}">
                <a16:creationId xmlns:a16="http://schemas.microsoft.com/office/drawing/2014/main" id="{D330C2F9-BD22-CB40-D00E-48ADEE83FCDA}"/>
              </a:ext>
            </a:extLst>
          </p:cNvPr>
          <p:cNvPicPr>
            <a:picLocks noChangeAspect="1"/>
          </p:cNvPicPr>
          <p:nvPr/>
        </p:nvPicPr>
        <p:blipFill>
          <a:blip r:embed="rId3"/>
          <a:stretch>
            <a:fillRect/>
          </a:stretch>
        </p:blipFill>
        <p:spPr>
          <a:xfrm>
            <a:off x="732896" y="1874520"/>
            <a:ext cx="6580928" cy="3714618"/>
          </a:xfrm>
          <a:prstGeom prst="rect">
            <a:avLst/>
          </a:prstGeom>
        </p:spPr>
      </p:pic>
    </p:spTree>
    <p:extLst>
      <p:ext uri="{BB962C8B-B14F-4D97-AF65-F5344CB8AC3E}">
        <p14:creationId xmlns:p14="http://schemas.microsoft.com/office/powerpoint/2010/main" val="101758921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84048"/>
            <a:ext cx="7315200" cy="274320"/>
          </a:xfrm>
          <a:prstGeom prst="rect">
            <a:avLst/>
          </a:prstGeom>
          <a:noFill/>
          <a:ln/>
        </p:spPr>
        <p:txBody>
          <a:bodyPr wrap="square" lIns="0" tIns="0" rIns="0" bIns="0" rtlCol="0" anchor="ctr"/>
          <a:lstStyle/>
          <a:p>
            <a:pPr marL="0" indent="0">
              <a:buNone/>
            </a:pPr>
            <a:r>
              <a:rPr lang="en-US" sz="1200" b="1" kern="0" spc="200" dirty="0">
                <a:solidFill>
                  <a:srgbClr val="1C7293"/>
                </a:solidFill>
                <a:latin typeface="Calibri" pitchFamily="34" charset="0"/>
                <a:ea typeface="Calibri" pitchFamily="34" charset="-122"/>
                <a:cs typeface="Calibri" pitchFamily="34" charset="-120"/>
              </a:rPr>
              <a:t>WHAT THE DATA SHOWS</a:t>
            </a:r>
            <a:endParaRPr lang="en-US" sz="1200" dirty="0"/>
          </a:p>
        </p:txBody>
      </p:sp>
      <p:sp>
        <p:nvSpPr>
          <p:cNvPr id="3" name="Text 1"/>
          <p:cNvSpPr/>
          <p:nvPr/>
        </p:nvSpPr>
        <p:spPr>
          <a:xfrm>
            <a:off x="548640" y="621792"/>
            <a:ext cx="10515600" cy="731520"/>
          </a:xfrm>
          <a:prstGeom prst="rect">
            <a:avLst/>
          </a:prstGeom>
          <a:noFill/>
          <a:ln/>
        </p:spPr>
        <p:txBody>
          <a:bodyPr wrap="square" lIns="0" tIns="0" rIns="0" bIns="0" rtlCol="0" anchor="ctr"/>
          <a:lstStyle/>
          <a:p>
            <a:pPr marL="0" indent="0">
              <a:buNone/>
            </a:pPr>
            <a:r>
              <a:rPr lang="en-US" sz="3200" b="1" dirty="0">
                <a:solidFill>
                  <a:srgbClr val="0B1F33"/>
                </a:solidFill>
                <a:latin typeface="Cambria" pitchFamily="34" charset="0"/>
                <a:ea typeface="Cambria" pitchFamily="34" charset="-122"/>
                <a:cs typeface="Cambria" pitchFamily="34" charset="-120"/>
              </a:rPr>
              <a:t>Key Insights</a:t>
            </a:r>
            <a:endParaRPr lang="en-US" sz="3200" dirty="0"/>
          </a:p>
        </p:txBody>
      </p:sp>
      <p:sp>
        <p:nvSpPr>
          <p:cNvPr id="4" name="Shape 2"/>
          <p:cNvSpPr/>
          <p:nvPr/>
        </p:nvSpPr>
        <p:spPr>
          <a:xfrm>
            <a:off x="548640" y="1645920"/>
            <a:ext cx="5349240" cy="1920240"/>
          </a:xfrm>
          <a:prstGeom prst="roundRect">
            <a:avLst>
              <a:gd name="adj" fmla="val 3810"/>
            </a:avLst>
          </a:prstGeom>
          <a:solidFill>
            <a:srgbClr val="F1F6F8"/>
          </a:solidFill>
          <a:ln/>
          <a:effectLst>
            <a:outerShdw blurRad="101600" dist="38100" dir="2700000" algn="bl" rotWithShape="0">
              <a:srgbClr val="000000">
                <a:alpha val="12000"/>
              </a:srgbClr>
            </a:outerShdw>
          </a:effectLst>
        </p:spPr>
        <p:txBody>
          <a:bodyPr/>
          <a:lstStyle/>
          <a:p>
            <a:endParaRPr lang="en-US"/>
          </a:p>
        </p:txBody>
      </p:sp>
      <p:sp>
        <p:nvSpPr>
          <p:cNvPr id="5" name="Text 3"/>
          <p:cNvSpPr/>
          <p:nvPr/>
        </p:nvSpPr>
        <p:spPr>
          <a:xfrm>
            <a:off x="777240" y="1810512"/>
            <a:ext cx="1188720" cy="822960"/>
          </a:xfrm>
          <a:prstGeom prst="rect">
            <a:avLst/>
          </a:prstGeom>
          <a:noFill/>
          <a:ln/>
        </p:spPr>
        <p:txBody>
          <a:bodyPr wrap="square" lIns="0" tIns="0" rIns="0" bIns="0" rtlCol="0" anchor="ctr"/>
          <a:lstStyle/>
          <a:p>
            <a:pPr marL="0" indent="0">
              <a:buNone/>
            </a:pPr>
            <a:r>
              <a:rPr lang="en-US" sz="3400" b="1" dirty="0">
                <a:solidFill>
                  <a:srgbClr val="471DE1"/>
                </a:solidFill>
                <a:latin typeface="Cambria" pitchFamily="34" charset="0"/>
                <a:ea typeface="Cambria" pitchFamily="34" charset="-122"/>
                <a:cs typeface="Cambria" pitchFamily="34" charset="-120"/>
              </a:rPr>
              <a:t>1</a:t>
            </a:r>
            <a:endParaRPr lang="en-US" sz="3400" dirty="0">
              <a:solidFill>
                <a:srgbClr val="471DE1"/>
              </a:solidFill>
            </a:endParaRPr>
          </a:p>
        </p:txBody>
      </p:sp>
      <p:sp>
        <p:nvSpPr>
          <p:cNvPr id="6" name="Text 4"/>
          <p:cNvSpPr/>
          <p:nvPr/>
        </p:nvSpPr>
        <p:spPr>
          <a:xfrm>
            <a:off x="777240" y="2606040"/>
            <a:ext cx="4846320" cy="320040"/>
          </a:xfrm>
          <a:prstGeom prst="rect">
            <a:avLst/>
          </a:prstGeom>
          <a:noFill/>
          <a:ln/>
        </p:spPr>
        <p:txBody>
          <a:bodyPr wrap="square" lIns="0" tIns="0" rIns="0" bIns="0" rtlCol="0" anchor="ctr"/>
          <a:lstStyle/>
          <a:p>
            <a:pPr marL="0" indent="0">
              <a:buNone/>
            </a:pPr>
            <a:r>
              <a:rPr lang="en-US" sz="1400" b="1" dirty="0">
                <a:solidFill>
                  <a:srgbClr val="0B1F33"/>
                </a:solidFill>
                <a:latin typeface="Cambria" pitchFamily="34" charset="0"/>
                <a:ea typeface="Cambria" pitchFamily="34" charset="-122"/>
                <a:cs typeface="Cambria" pitchFamily="34" charset="-120"/>
              </a:rPr>
              <a:t>Book Is Underwater</a:t>
            </a:r>
            <a:endParaRPr lang="en-US" sz="1400" dirty="0"/>
          </a:p>
        </p:txBody>
      </p:sp>
      <p:sp>
        <p:nvSpPr>
          <p:cNvPr id="7" name="Text 5"/>
          <p:cNvSpPr/>
          <p:nvPr/>
        </p:nvSpPr>
        <p:spPr>
          <a:xfrm>
            <a:off x="777240" y="2926080"/>
            <a:ext cx="4892040" cy="594360"/>
          </a:xfrm>
          <a:prstGeom prst="rect">
            <a:avLst/>
          </a:prstGeom>
          <a:noFill/>
          <a:ln/>
        </p:spPr>
        <p:txBody>
          <a:bodyPr wrap="square" lIns="0" tIns="0" rIns="0" bIns="0" rtlCol="0" anchor="ctr"/>
          <a:lstStyle/>
          <a:p>
            <a:pPr marL="0" indent="0">
              <a:buNone/>
            </a:pPr>
            <a:r>
              <a:rPr lang="en-US" sz="1050" i="1" dirty="0">
                <a:solidFill>
                  <a:srgbClr val="64748B"/>
                </a:solidFill>
                <a:latin typeface="Calibri" pitchFamily="34" charset="0"/>
                <a:ea typeface="Calibri" pitchFamily="34" charset="-122"/>
                <a:cs typeface="Calibri" pitchFamily="34" charset="-120"/>
              </a:rPr>
              <a:t>Loss ratio of 236.62% — $137.79M in claims against $58.23M in premium drives a $79.56M loss</a:t>
            </a:r>
            <a:endParaRPr lang="en-US" sz="1050" dirty="0"/>
          </a:p>
        </p:txBody>
      </p:sp>
      <p:sp>
        <p:nvSpPr>
          <p:cNvPr id="8" name="Shape 6"/>
          <p:cNvSpPr/>
          <p:nvPr/>
        </p:nvSpPr>
        <p:spPr>
          <a:xfrm>
            <a:off x="6263640" y="1645920"/>
            <a:ext cx="5349240" cy="1920240"/>
          </a:xfrm>
          <a:prstGeom prst="roundRect">
            <a:avLst>
              <a:gd name="adj" fmla="val 3810"/>
            </a:avLst>
          </a:prstGeom>
          <a:solidFill>
            <a:srgbClr val="F1F6F8"/>
          </a:solidFill>
          <a:ln/>
          <a:effectLst>
            <a:outerShdw blurRad="101600" dist="38100" dir="2700000" algn="bl" rotWithShape="0">
              <a:srgbClr val="000000">
                <a:alpha val="12000"/>
              </a:srgbClr>
            </a:outerShdw>
          </a:effectLst>
        </p:spPr>
        <p:txBody>
          <a:bodyPr/>
          <a:lstStyle/>
          <a:p>
            <a:endParaRPr lang="en-US"/>
          </a:p>
        </p:txBody>
      </p:sp>
      <p:sp>
        <p:nvSpPr>
          <p:cNvPr id="9" name="Text 7"/>
          <p:cNvSpPr/>
          <p:nvPr/>
        </p:nvSpPr>
        <p:spPr>
          <a:xfrm>
            <a:off x="6492240" y="1810512"/>
            <a:ext cx="1188720" cy="822960"/>
          </a:xfrm>
          <a:prstGeom prst="rect">
            <a:avLst/>
          </a:prstGeom>
          <a:noFill/>
          <a:ln/>
        </p:spPr>
        <p:txBody>
          <a:bodyPr wrap="square" lIns="0" tIns="0" rIns="0" bIns="0" rtlCol="0" anchor="ctr"/>
          <a:lstStyle/>
          <a:p>
            <a:pPr marL="0" indent="0">
              <a:buNone/>
            </a:pPr>
            <a:r>
              <a:rPr lang="en-US" sz="3400" b="1" dirty="0">
                <a:solidFill>
                  <a:srgbClr val="471DE1"/>
                </a:solidFill>
                <a:latin typeface="Cambria" pitchFamily="34" charset="0"/>
                <a:ea typeface="Cambria" pitchFamily="34" charset="-122"/>
                <a:cs typeface="Cambria" pitchFamily="34" charset="-120"/>
              </a:rPr>
              <a:t>2</a:t>
            </a:r>
            <a:endParaRPr lang="en-US" sz="3400" dirty="0">
              <a:solidFill>
                <a:srgbClr val="471DE1"/>
              </a:solidFill>
            </a:endParaRPr>
          </a:p>
        </p:txBody>
      </p:sp>
      <p:sp>
        <p:nvSpPr>
          <p:cNvPr id="10" name="Text 8"/>
          <p:cNvSpPr/>
          <p:nvPr/>
        </p:nvSpPr>
        <p:spPr>
          <a:xfrm>
            <a:off x="6492240" y="2606040"/>
            <a:ext cx="4846320" cy="320040"/>
          </a:xfrm>
          <a:prstGeom prst="rect">
            <a:avLst/>
          </a:prstGeom>
          <a:noFill/>
          <a:ln/>
        </p:spPr>
        <p:txBody>
          <a:bodyPr wrap="square" lIns="0" tIns="0" rIns="0" bIns="0" rtlCol="0" anchor="ctr"/>
          <a:lstStyle/>
          <a:p>
            <a:pPr marL="0" indent="0">
              <a:buNone/>
            </a:pPr>
            <a:r>
              <a:rPr lang="en-US" sz="1400" b="1" dirty="0">
                <a:solidFill>
                  <a:srgbClr val="0B1F33"/>
                </a:solidFill>
                <a:latin typeface="Cambria" pitchFamily="34" charset="0"/>
                <a:ea typeface="Cambria" pitchFamily="34" charset="-122"/>
                <a:cs typeface="Cambria" pitchFamily="34" charset="-120"/>
              </a:rPr>
              <a:t>Risk Is Concentrated</a:t>
            </a:r>
            <a:endParaRPr lang="en-US" sz="1400" dirty="0"/>
          </a:p>
        </p:txBody>
      </p:sp>
      <p:sp>
        <p:nvSpPr>
          <p:cNvPr id="11" name="Text 9"/>
          <p:cNvSpPr/>
          <p:nvPr/>
        </p:nvSpPr>
        <p:spPr>
          <a:xfrm>
            <a:off x="6492240" y="2926080"/>
            <a:ext cx="4892040" cy="594360"/>
          </a:xfrm>
          <a:prstGeom prst="rect">
            <a:avLst/>
          </a:prstGeom>
          <a:noFill/>
          <a:ln/>
        </p:spPr>
        <p:txBody>
          <a:bodyPr wrap="square" lIns="0" tIns="0" rIns="0" bIns="0" rtlCol="0" anchor="ctr"/>
          <a:lstStyle/>
          <a:p>
            <a:pPr marL="0" indent="0">
              <a:buNone/>
            </a:pPr>
            <a:r>
              <a:rPr lang="en-US" sz="1050" i="1" dirty="0">
                <a:solidFill>
                  <a:srgbClr val="64748B"/>
                </a:solidFill>
                <a:latin typeface="Calibri" pitchFamily="34" charset="0"/>
                <a:ea typeface="Calibri" pitchFamily="34" charset="-122"/>
                <a:cs typeface="Calibri" pitchFamily="34" charset="-120"/>
              </a:rPr>
              <a:t>36.78K members (~37%) are flagged high-risk, pulling the average risk score to 0.52</a:t>
            </a:r>
            <a:endParaRPr lang="en-US" sz="1050" dirty="0"/>
          </a:p>
        </p:txBody>
      </p:sp>
      <p:sp>
        <p:nvSpPr>
          <p:cNvPr id="12" name="Shape 10"/>
          <p:cNvSpPr/>
          <p:nvPr/>
        </p:nvSpPr>
        <p:spPr>
          <a:xfrm>
            <a:off x="548640" y="3794760"/>
            <a:ext cx="5349240" cy="1920240"/>
          </a:xfrm>
          <a:prstGeom prst="roundRect">
            <a:avLst>
              <a:gd name="adj" fmla="val 3810"/>
            </a:avLst>
          </a:prstGeom>
          <a:solidFill>
            <a:srgbClr val="F1F6F8"/>
          </a:solidFill>
          <a:ln/>
          <a:effectLst>
            <a:outerShdw blurRad="101600" dist="38100" dir="2700000" algn="bl" rotWithShape="0">
              <a:srgbClr val="000000">
                <a:alpha val="12000"/>
              </a:srgbClr>
            </a:outerShdw>
          </a:effectLst>
        </p:spPr>
        <p:txBody>
          <a:bodyPr/>
          <a:lstStyle/>
          <a:p>
            <a:endParaRPr lang="en-US"/>
          </a:p>
        </p:txBody>
      </p:sp>
      <p:sp>
        <p:nvSpPr>
          <p:cNvPr id="13" name="Text 11"/>
          <p:cNvSpPr/>
          <p:nvPr/>
        </p:nvSpPr>
        <p:spPr>
          <a:xfrm>
            <a:off x="777240" y="3959352"/>
            <a:ext cx="1188720" cy="822960"/>
          </a:xfrm>
          <a:prstGeom prst="rect">
            <a:avLst/>
          </a:prstGeom>
          <a:noFill/>
          <a:ln/>
        </p:spPr>
        <p:txBody>
          <a:bodyPr wrap="square" lIns="0" tIns="0" rIns="0" bIns="0" rtlCol="0" anchor="ctr"/>
          <a:lstStyle/>
          <a:p>
            <a:pPr marL="0" indent="0">
              <a:buNone/>
            </a:pPr>
            <a:r>
              <a:rPr lang="en-US" sz="3400" b="1" dirty="0">
                <a:solidFill>
                  <a:srgbClr val="471DE1"/>
                </a:solidFill>
                <a:latin typeface="Cambria" pitchFamily="34" charset="0"/>
                <a:ea typeface="Cambria" pitchFamily="34" charset="-122"/>
                <a:cs typeface="Cambria" pitchFamily="34" charset="-120"/>
              </a:rPr>
              <a:t>3</a:t>
            </a:r>
            <a:endParaRPr lang="en-US" sz="3400" dirty="0">
              <a:solidFill>
                <a:srgbClr val="471DE1"/>
              </a:solidFill>
            </a:endParaRPr>
          </a:p>
        </p:txBody>
      </p:sp>
      <p:sp>
        <p:nvSpPr>
          <p:cNvPr id="14" name="Text 12"/>
          <p:cNvSpPr/>
          <p:nvPr/>
        </p:nvSpPr>
        <p:spPr>
          <a:xfrm>
            <a:off x="777240" y="4754880"/>
            <a:ext cx="4846320" cy="320040"/>
          </a:xfrm>
          <a:prstGeom prst="rect">
            <a:avLst/>
          </a:prstGeom>
          <a:noFill/>
          <a:ln/>
        </p:spPr>
        <p:txBody>
          <a:bodyPr wrap="square" lIns="0" tIns="0" rIns="0" bIns="0" rtlCol="0" anchor="ctr"/>
          <a:lstStyle/>
          <a:p>
            <a:pPr marL="0" indent="0">
              <a:buNone/>
            </a:pPr>
            <a:r>
              <a:rPr lang="en-US" sz="1400" b="1" dirty="0">
                <a:solidFill>
                  <a:srgbClr val="0B1F33"/>
                </a:solidFill>
                <a:latin typeface="Cambria" pitchFamily="34" charset="0"/>
                <a:ea typeface="Cambria" pitchFamily="34" charset="-122"/>
                <a:cs typeface="Cambria" pitchFamily="34" charset="-120"/>
              </a:rPr>
              <a:t>Smoking Is a Multiplier</a:t>
            </a:r>
            <a:endParaRPr lang="en-US" sz="1400" dirty="0"/>
          </a:p>
        </p:txBody>
      </p:sp>
      <p:sp>
        <p:nvSpPr>
          <p:cNvPr id="15" name="Text 13"/>
          <p:cNvSpPr/>
          <p:nvPr/>
        </p:nvSpPr>
        <p:spPr>
          <a:xfrm>
            <a:off x="777240" y="5074920"/>
            <a:ext cx="4892040" cy="594360"/>
          </a:xfrm>
          <a:prstGeom prst="rect">
            <a:avLst/>
          </a:prstGeom>
          <a:noFill/>
          <a:ln/>
        </p:spPr>
        <p:txBody>
          <a:bodyPr wrap="square" lIns="0" tIns="0" rIns="0" bIns="0" rtlCol="0" anchor="ctr"/>
          <a:lstStyle/>
          <a:p>
            <a:pPr marL="0" indent="0">
              <a:buNone/>
            </a:pPr>
            <a:r>
              <a:rPr lang="en-US" sz="1050" i="1" dirty="0">
                <a:solidFill>
                  <a:srgbClr val="64748B"/>
                </a:solidFill>
                <a:latin typeface="Calibri" pitchFamily="34" charset="0"/>
                <a:ea typeface="Calibri" pitchFamily="34" charset="-122"/>
                <a:cs typeface="Calibri" pitchFamily="34" charset="-120"/>
              </a:rPr>
              <a:t>Only 12.1% of members smoke, but smoking combined with Obesity BMI bands drives the sharpest cost jumps</a:t>
            </a:r>
            <a:endParaRPr lang="en-US" sz="1050" dirty="0"/>
          </a:p>
        </p:txBody>
      </p:sp>
      <p:sp>
        <p:nvSpPr>
          <p:cNvPr id="16" name="Shape 14"/>
          <p:cNvSpPr/>
          <p:nvPr/>
        </p:nvSpPr>
        <p:spPr>
          <a:xfrm>
            <a:off x="6263640" y="3794760"/>
            <a:ext cx="5349240" cy="1920240"/>
          </a:xfrm>
          <a:prstGeom prst="roundRect">
            <a:avLst>
              <a:gd name="adj" fmla="val 3810"/>
            </a:avLst>
          </a:prstGeom>
          <a:solidFill>
            <a:srgbClr val="F1F6F8"/>
          </a:solidFill>
          <a:ln/>
          <a:effectLst>
            <a:outerShdw blurRad="101600" dist="38100" dir="2700000" algn="bl" rotWithShape="0">
              <a:srgbClr val="000000">
                <a:alpha val="12000"/>
              </a:srgbClr>
            </a:outerShdw>
          </a:effectLst>
        </p:spPr>
        <p:txBody>
          <a:bodyPr/>
          <a:lstStyle/>
          <a:p>
            <a:endParaRPr lang="en-US"/>
          </a:p>
        </p:txBody>
      </p:sp>
      <p:sp>
        <p:nvSpPr>
          <p:cNvPr id="17" name="Text 15"/>
          <p:cNvSpPr/>
          <p:nvPr/>
        </p:nvSpPr>
        <p:spPr>
          <a:xfrm>
            <a:off x="6492240" y="3959352"/>
            <a:ext cx="1188720" cy="822960"/>
          </a:xfrm>
          <a:prstGeom prst="rect">
            <a:avLst/>
          </a:prstGeom>
          <a:noFill/>
          <a:ln/>
        </p:spPr>
        <p:txBody>
          <a:bodyPr wrap="square" lIns="0" tIns="0" rIns="0" bIns="0" rtlCol="0" anchor="ctr"/>
          <a:lstStyle/>
          <a:p>
            <a:pPr marL="0" indent="0">
              <a:buNone/>
            </a:pPr>
            <a:r>
              <a:rPr lang="en-US" sz="3400" b="1" dirty="0">
                <a:solidFill>
                  <a:srgbClr val="471DE1"/>
                </a:solidFill>
                <a:latin typeface="Cambria" pitchFamily="34" charset="0"/>
                <a:ea typeface="Cambria" pitchFamily="34" charset="-122"/>
                <a:cs typeface="Cambria" pitchFamily="34" charset="-120"/>
              </a:rPr>
              <a:t>4</a:t>
            </a:r>
            <a:endParaRPr lang="en-US" sz="3400" dirty="0">
              <a:solidFill>
                <a:srgbClr val="471DE1"/>
              </a:solidFill>
            </a:endParaRPr>
          </a:p>
        </p:txBody>
      </p:sp>
      <p:sp>
        <p:nvSpPr>
          <p:cNvPr id="18" name="Text 16"/>
          <p:cNvSpPr/>
          <p:nvPr/>
        </p:nvSpPr>
        <p:spPr>
          <a:xfrm>
            <a:off x="6492240" y="4754880"/>
            <a:ext cx="4846320" cy="320040"/>
          </a:xfrm>
          <a:prstGeom prst="rect">
            <a:avLst/>
          </a:prstGeom>
          <a:noFill/>
          <a:ln/>
        </p:spPr>
        <p:txBody>
          <a:bodyPr wrap="square" lIns="0" tIns="0" rIns="0" bIns="0" rtlCol="0" anchor="ctr"/>
          <a:lstStyle/>
          <a:p>
            <a:pPr marL="0" indent="0">
              <a:buNone/>
            </a:pPr>
            <a:r>
              <a:rPr lang="en-US" sz="1400" b="1" dirty="0">
                <a:solidFill>
                  <a:srgbClr val="0B1F33"/>
                </a:solidFill>
                <a:latin typeface="Cambria" pitchFamily="34" charset="0"/>
                <a:ea typeface="Cambria" pitchFamily="34" charset="-122"/>
                <a:cs typeface="Cambria" pitchFamily="34" charset="-120"/>
              </a:rPr>
              <a:t>Scale of Exposure</a:t>
            </a:r>
            <a:endParaRPr lang="en-US" sz="1400" dirty="0"/>
          </a:p>
        </p:txBody>
      </p:sp>
      <p:sp>
        <p:nvSpPr>
          <p:cNvPr id="19" name="Text 17"/>
          <p:cNvSpPr/>
          <p:nvPr/>
        </p:nvSpPr>
        <p:spPr>
          <a:xfrm>
            <a:off x="6492240" y="5074920"/>
            <a:ext cx="4892040" cy="594360"/>
          </a:xfrm>
          <a:prstGeom prst="rect">
            <a:avLst/>
          </a:prstGeom>
          <a:noFill/>
          <a:ln/>
        </p:spPr>
        <p:txBody>
          <a:bodyPr wrap="square" lIns="0" tIns="0" rIns="0" bIns="0" rtlCol="0" anchor="ctr"/>
          <a:lstStyle/>
          <a:p>
            <a:pPr marL="0" indent="0">
              <a:buNone/>
            </a:pPr>
            <a:r>
              <a:rPr lang="en-US" sz="1050" i="1" dirty="0">
                <a:solidFill>
                  <a:srgbClr val="64748B"/>
                </a:solidFill>
                <a:latin typeface="Calibri" pitchFamily="34" charset="0"/>
                <a:ea typeface="Calibri" pitchFamily="34" charset="-122"/>
                <a:cs typeface="Calibri" pitchFamily="34" charset="-120"/>
              </a:rPr>
              <a:t>100K members generate $300.95M in annual medical cost — ~$3,009 average cost per member</a:t>
            </a:r>
            <a:endParaRPr lang="en-US" sz="1050" dirty="0"/>
          </a:p>
        </p:txBody>
      </p:sp>
      <p:sp>
        <p:nvSpPr>
          <p:cNvPr id="20" name="Text 18"/>
          <p:cNvSpPr/>
          <p:nvPr/>
        </p:nvSpPr>
        <p:spPr>
          <a:xfrm>
            <a:off x="457200" y="6446520"/>
            <a:ext cx="6400800" cy="274320"/>
          </a:xfrm>
          <a:prstGeom prst="rect">
            <a:avLst/>
          </a:prstGeom>
          <a:noFill/>
          <a:ln/>
        </p:spPr>
        <p:txBody>
          <a:bodyPr wrap="square" lIns="0" tIns="0" rIns="0" bIns="0" rtlCol="0" anchor="ctr"/>
          <a:lstStyle/>
          <a:p>
            <a:pPr marL="0" indent="0" algn="l">
              <a:buNone/>
            </a:pPr>
            <a:r>
              <a:rPr lang="en-US" sz="900" dirty="0">
                <a:solidFill>
                  <a:srgbClr val="64748B"/>
                </a:solidFill>
                <a:latin typeface="Calibri" pitchFamily="34" charset="0"/>
                <a:ea typeface="Calibri" pitchFamily="34" charset="-122"/>
                <a:cs typeface="Calibri" pitchFamily="34" charset="-120"/>
              </a:rPr>
              <a:t>DEPI Capstone — Medical Insurance Analytics</a:t>
            </a:r>
            <a:endParaRPr lang="en-US" sz="900" dirty="0"/>
          </a:p>
        </p:txBody>
      </p:sp>
      <p:sp>
        <p:nvSpPr>
          <p:cNvPr id="21" name="Text 19"/>
          <p:cNvSpPr/>
          <p:nvPr/>
        </p:nvSpPr>
        <p:spPr>
          <a:xfrm>
            <a:off x="11274552" y="6446520"/>
            <a:ext cx="457200" cy="27432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84048"/>
            <a:ext cx="7315200" cy="274320"/>
          </a:xfrm>
          <a:prstGeom prst="rect">
            <a:avLst/>
          </a:prstGeom>
          <a:noFill/>
          <a:ln/>
        </p:spPr>
        <p:txBody>
          <a:bodyPr wrap="square" lIns="0" tIns="0" rIns="0" bIns="0" rtlCol="0" anchor="ctr"/>
          <a:lstStyle/>
          <a:p>
            <a:pPr marL="0" indent="0">
              <a:buNone/>
            </a:pPr>
            <a:r>
              <a:rPr lang="en-US" sz="1200" b="1" kern="0" spc="200" dirty="0">
                <a:solidFill>
                  <a:srgbClr val="1C7293"/>
                </a:solidFill>
                <a:latin typeface="Calibri" pitchFamily="34" charset="0"/>
                <a:ea typeface="Calibri" pitchFamily="34" charset="-122"/>
                <a:cs typeface="Calibri" pitchFamily="34" charset="-120"/>
              </a:rPr>
              <a:t>TURNING INSIGHT INTO ACTION</a:t>
            </a:r>
            <a:endParaRPr lang="en-US" sz="1200" dirty="0"/>
          </a:p>
        </p:txBody>
      </p:sp>
      <p:sp>
        <p:nvSpPr>
          <p:cNvPr id="3" name="Text 1"/>
          <p:cNvSpPr/>
          <p:nvPr/>
        </p:nvSpPr>
        <p:spPr>
          <a:xfrm>
            <a:off x="548640" y="621792"/>
            <a:ext cx="10515600" cy="731520"/>
          </a:xfrm>
          <a:prstGeom prst="rect">
            <a:avLst/>
          </a:prstGeom>
          <a:noFill/>
          <a:ln/>
        </p:spPr>
        <p:txBody>
          <a:bodyPr wrap="square" lIns="0" tIns="0" rIns="0" bIns="0" rtlCol="0" anchor="ctr"/>
          <a:lstStyle/>
          <a:p>
            <a:pPr marL="0" indent="0">
              <a:buNone/>
            </a:pPr>
            <a:r>
              <a:rPr lang="en-US" sz="3200" b="1" dirty="0">
                <a:solidFill>
                  <a:srgbClr val="0B1F33"/>
                </a:solidFill>
                <a:latin typeface="Cambria" pitchFamily="34" charset="0"/>
                <a:ea typeface="Cambria" pitchFamily="34" charset="-122"/>
                <a:cs typeface="Cambria" pitchFamily="34" charset="-120"/>
              </a:rPr>
              <a:t>Recommendations</a:t>
            </a:r>
            <a:endParaRPr lang="en-US" sz="3200" dirty="0"/>
          </a:p>
        </p:txBody>
      </p:sp>
      <p:sp>
        <p:nvSpPr>
          <p:cNvPr id="4" name="Shape 2"/>
          <p:cNvSpPr/>
          <p:nvPr/>
        </p:nvSpPr>
        <p:spPr>
          <a:xfrm>
            <a:off x="548640" y="1691640"/>
            <a:ext cx="54864" cy="868680"/>
          </a:xfrm>
          <a:prstGeom prst="rect">
            <a:avLst/>
          </a:prstGeom>
          <a:solidFill>
            <a:srgbClr val="FFFFFF"/>
          </a:solidFill>
          <a:ln/>
        </p:spPr>
        <p:txBody>
          <a:bodyPr/>
          <a:lstStyle/>
          <a:p>
            <a:endParaRPr lang="en-US"/>
          </a:p>
        </p:txBody>
      </p:sp>
      <p:sp>
        <p:nvSpPr>
          <p:cNvPr id="5" name="Shape 3"/>
          <p:cNvSpPr/>
          <p:nvPr/>
        </p:nvSpPr>
        <p:spPr>
          <a:xfrm>
            <a:off x="685800" y="1856232"/>
            <a:ext cx="502920" cy="502920"/>
          </a:xfrm>
          <a:prstGeom prst="ellipse">
            <a:avLst/>
          </a:prstGeom>
          <a:solidFill>
            <a:srgbClr val="065A82"/>
          </a:solidFill>
          <a:ln/>
        </p:spPr>
        <p:txBody>
          <a:bodyPr/>
          <a:lstStyle/>
          <a:p>
            <a:endParaRPr lang="en-US"/>
          </a:p>
        </p:txBody>
      </p:sp>
      <p:sp>
        <p:nvSpPr>
          <p:cNvPr id="6" name="Text 4"/>
          <p:cNvSpPr/>
          <p:nvPr/>
        </p:nvSpPr>
        <p:spPr>
          <a:xfrm>
            <a:off x="685800" y="1856232"/>
            <a:ext cx="502920" cy="50292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a:t>
            </a:r>
            <a:endParaRPr lang="en-US" sz="1600" dirty="0"/>
          </a:p>
        </p:txBody>
      </p:sp>
      <p:sp>
        <p:nvSpPr>
          <p:cNvPr id="7" name="Text 5"/>
          <p:cNvSpPr/>
          <p:nvPr/>
        </p:nvSpPr>
        <p:spPr>
          <a:xfrm>
            <a:off x="1417320" y="1737360"/>
            <a:ext cx="9601200" cy="320040"/>
          </a:xfrm>
          <a:prstGeom prst="rect">
            <a:avLst/>
          </a:prstGeom>
          <a:noFill/>
          <a:ln/>
        </p:spPr>
        <p:txBody>
          <a:bodyPr wrap="square" lIns="0" tIns="0" rIns="0" bIns="0" rtlCol="0" anchor="ctr"/>
          <a:lstStyle/>
          <a:p>
            <a:pPr marL="0" indent="0">
              <a:buNone/>
            </a:pPr>
            <a:r>
              <a:rPr lang="en-US" sz="1500" b="1" dirty="0">
                <a:solidFill>
                  <a:srgbClr val="0B1F33"/>
                </a:solidFill>
                <a:latin typeface="Cambria" pitchFamily="34" charset="0"/>
                <a:ea typeface="Cambria" pitchFamily="34" charset="-122"/>
                <a:cs typeface="Cambria" pitchFamily="34" charset="-120"/>
              </a:rPr>
              <a:t>Reprice the Loss-Making Segments</a:t>
            </a:r>
            <a:endParaRPr lang="en-US" sz="1500" dirty="0"/>
          </a:p>
        </p:txBody>
      </p:sp>
      <p:sp>
        <p:nvSpPr>
          <p:cNvPr id="8" name="Text 6"/>
          <p:cNvSpPr/>
          <p:nvPr/>
        </p:nvSpPr>
        <p:spPr>
          <a:xfrm>
            <a:off x="1417320" y="2075688"/>
            <a:ext cx="9601200" cy="411480"/>
          </a:xfrm>
          <a:prstGeom prst="rect">
            <a:avLst/>
          </a:prstGeom>
          <a:noFill/>
          <a:ln/>
        </p:spPr>
        <p:txBody>
          <a:bodyPr wrap="square" lIns="0" tIns="0" rIns="0" bIns="0" rtlCol="0" anchor="ctr"/>
          <a:lstStyle/>
          <a:p>
            <a:pPr marL="0" indent="0">
              <a:buNone/>
            </a:pPr>
            <a:r>
              <a:rPr lang="en-US" sz="1200" dirty="0">
                <a:solidFill>
                  <a:srgbClr val="64748B"/>
                </a:solidFill>
                <a:latin typeface="Calibri" pitchFamily="34" charset="0"/>
                <a:ea typeface="Calibri" pitchFamily="34" charset="-122"/>
                <a:cs typeface="Calibri" pitchFamily="34" charset="-120"/>
              </a:rPr>
              <a:t>A 236.62% loss ratio means premiums need repricing for high-cost BMI/smoking bands</a:t>
            </a:r>
            <a:endParaRPr lang="en-US" sz="1200" dirty="0"/>
          </a:p>
        </p:txBody>
      </p:sp>
      <p:sp>
        <p:nvSpPr>
          <p:cNvPr id="9" name="Shape 7"/>
          <p:cNvSpPr/>
          <p:nvPr/>
        </p:nvSpPr>
        <p:spPr>
          <a:xfrm>
            <a:off x="548640" y="2743200"/>
            <a:ext cx="54864" cy="868680"/>
          </a:xfrm>
          <a:prstGeom prst="rect">
            <a:avLst/>
          </a:prstGeom>
          <a:solidFill>
            <a:srgbClr val="FFFFFF"/>
          </a:solidFill>
          <a:ln/>
        </p:spPr>
        <p:txBody>
          <a:bodyPr/>
          <a:lstStyle/>
          <a:p>
            <a:endParaRPr lang="en-US"/>
          </a:p>
        </p:txBody>
      </p:sp>
      <p:sp>
        <p:nvSpPr>
          <p:cNvPr id="10" name="Shape 8"/>
          <p:cNvSpPr/>
          <p:nvPr/>
        </p:nvSpPr>
        <p:spPr>
          <a:xfrm>
            <a:off x="685800" y="2907792"/>
            <a:ext cx="502920" cy="502920"/>
          </a:xfrm>
          <a:prstGeom prst="ellipse">
            <a:avLst/>
          </a:prstGeom>
          <a:solidFill>
            <a:srgbClr val="065A82"/>
          </a:solidFill>
          <a:ln/>
        </p:spPr>
        <p:txBody>
          <a:bodyPr/>
          <a:lstStyle/>
          <a:p>
            <a:endParaRPr lang="en-US"/>
          </a:p>
        </p:txBody>
      </p:sp>
      <p:sp>
        <p:nvSpPr>
          <p:cNvPr id="11" name="Text 9"/>
          <p:cNvSpPr/>
          <p:nvPr/>
        </p:nvSpPr>
        <p:spPr>
          <a:xfrm>
            <a:off x="685800" y="2907792"/>
            <a:ext cx="502920" cy="50292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a:t>
            </a:r>
            <a:endParaRPr lang="en-US" sz="1600" dirty="0"/>
          </a:p>
        </p:txBody>
      </p:sp>
      <p:sp>
        <p:nvSpPr>
          <p:cNvPr id="12" name="Text 10"/>
          <p:cNvSpPr/>
          <p:nvPr/>
        </p:nvSpPr>
        <p:spPr>
          <a:xfrm>
            <a:off x="1417320" y="2788920"/>
            <a:ext cx="9601200" cy="320040"/>
          </a:xfrm>
          <a:prstGeom prst="rect">
            <a:avLst/>
          </a:prstGeom>
          <a:noFill/>
          <a:ln/>
        </p:spPr>
        <p:txBody>
          <a:bodyPr wrap="square" lIns="0" tIns="0" rIns="0" bIns="0" rtlCol="0" anchor="ctr"/>
          <a:lstStyle/>
          <a:p>
            <a:pPr marL="0" indent="0">
              <a:buNone/>
            </a:pPr>
            <a:r>
              <a:rPr lang="en-US" sz="1500" b="1" dirty="0">
                <a:solidFill>
                  <a:srgbClr val="0B1F33"/>
                </a:solidFill>
                <a:latin typeface="Cambria" pitchFamily="34" charset="0"/>
                <a:ea typeface="Cambria" pitchFamily="34" charset="-122"/>
                <a:cs typeface="Cambria" pitchFamily="34" charset="-120"/>
              </a:rPr>
              <a:t>Flag High-Risk Early</a:t>
            </a:r>
            <a:endParaRPr lang="en-US" sz="1500" dirty="0"/>
          </a:p>
        </p:txBody>
      </p:sp>
      <p:sp>
        <p:nvSpPr>
          <p:cNvPr id="13" name="Text 11"/>
          <p:cNvSpPr/>
          <p:nvPr/>
        </p:nvSpPr>
        <p:spPr>
          <a:xfrm>
            <a:off x="1417320" y="3127248"/>
            <a:ext cx="9601200" cy="411480"/>
          </a:xfrm>
          <a:prstGeom prst="rect">
            <a:avLst/>
          </a:prstGeom>
          <a:noFill/>
          <a:ln/>
        </p:spPr>
        <p:txBody>
          <a:bodyPr wrap="square" lIns="0" tIns="0" rIns="0" bIns="0" rtlCol="0" anchor="ctr"/>
          <a:lstStyle/>
          <a:p>
            <a:pPr marL="0" indent="0">
              <a:buNone/>
            </a:pPr>
            <a:r>
              <a:rPr lang="en-US" sz="1200" dirty="0">
                <a:solidFill>
                  <a:srgbClr val="64748B"/>
                </a:solidFill>
                <a:latin typeface="Calibri" pitchFamily="34" charset="0"/>
                <a:ea typeface="Calibri" pitchFamily="34" charset="-122"/>
                <a:cs typeface="Calibri" pitchFamily="34" charset="-120"/>
              </a:rPr>
              <a:t>Use the 0.52 avg risk score to trigger proactive case management for the 36.78K high-risk members</a:t>
            </a:r>
            <a:endParaRPr lang="en-US" sz="1200" dirty="0"/>
          </a:p>
        </p:txBody>
      </p:sp>
      <p:sp>
        <p:nvSpPr>
          <p:cNvPr id="14" name="Shape 12"/>
          <p:cNvSpPr/>
          <p:nvPr/>
        </p:nvSpPr>
        <p:spPr>
          <a:xfrm>
            <a:off x="548640" y="3794760"/>
            <a:ext cx="54864" cy="868680"/>
          </a:xfrm>
          <a:prstGeom prst="rect">
            <a:avLst/>
          </a:prstGeom>
          <a:solidFill>
            <a:srgbClr val="FFFFFF"/>
          </a:solidFill>
          <a:ln/>
        </p:spPr>
        <p:txBody>
          <a:bodyPr/>
          <a:lstStyle/>
          <a:p>
            <a:endParaRPr lang="en-US"/>
          </a:p>
        </p:txBody>
      </p:sp>
      <p:sp>
        <p:nvSpPr>
          <p:cNvPr id="15" name="Shape 13"/>
          <p:cNvSpPr/>
          <p:nvPr/>
        </p:nvSpPr>
        <p:spPr>
          <a:xfrm>
            <a:off x="685800" y="3959352"/>
            <a:ext cx="502920" cy="502920"/>
          </a:xfrm>
          <a:prstGeom prst="ellipse">
            <a:avLst/>
          </a:prstGeom>
          <a:solidFill>
            <a:srgbClr val="065A82"/>
          </a:solidFill>
          <a:ln/>
        </p:spPr>
        <p:txBody>
          <a:bodyPr/>
          <a:lstStyle/>
          <a:p>
            <a:endParaRPr lang="en-US"/>
          </a:p>
        </p:txBody>
      </p:sp>
      <p:sp>
        <p:nvSpPr>
          <p:cNvPr id="16" name="Text 14"/>
          <p:cNvSpPr/>
          <p:nvPr/>
        </p:nvSpPr>
        <p:spPr>
          <a:xfrm>
            <a:off x="685800" y="3959352"/>
            <a:ext cx="502920" cy="50292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a:t>
            </a:r>
            <a:endParaRPr lang="en-US" sz="1600" dirty="0"/>
          </a:p>
        </p:txBody>
      </p:sp>
      <p:sp>
        <p:nvSpPr>
          <p:cNvPr id="17" name="Text 15"/>
          <p:cNvSpPr/>
          <p:nvPr/>
        </p:nvSpPr>
        <p:spPr>
          <a:xfrm>
            <a:off x="1417320" y="3840480"/>
            <a:ext cx="9601200" cy="320040"/>
          </a:xfrm>
          <a:prstGeom prst="rect">
            <a:avLst/>
          </a:prstGeom>
          <a:noFill/>
          <a:ln/>
        </p:spPr>
        <p:txBody>
          <a:bodyPr wrap="square" lIns="0" tIns="0" rIns="0" bIns="0" rtlCol="0" anchor="ctr"/>
          <a:lstStyle/>
          <a:p>
            <a:pPr marL="0" indent="0">
              <a:buNone/>
            </a:pPr>
            <a:r>
              <a:rPr lang="en-US" sz="1500" b="1" dirty="0">
                <a:solidFill>
                  <a:srgbClr val="0B1F33"/>
                </a:solidFill>
                <a:latin typeface="Cambria" pitchFamily="34" charset="0"/>
                <a:ea typeface="Cambria" pitchFamily="34" charset="-122"/>
                <a:cs typeface="Cambria" pitchFamily="34" charset="-120"/>
              </a:rPr>
              <a:t>Target Smoking + BMI Jointly</a:t>
            </a:r>
            <a:endParaRPr lang="en-US" sz="1500" dirty="0"/>
          </a:p>
        </p:txBody>
      </p:sp>
      <p:sp>
        <p:nvSpPr>
          <p:cNvPr id="18" name="Text 16"/>
          <p:cNvSpPr/>
          <p:nvPr/>
        </p:nvSpPr>
        <p:spPr>
          <a:xfrm>
            <a:off x="1417320" y="4178808"/>
            <a:ext cx="9601200" cy="411480"/>
          </a:xfrm>
          <a:prstGeom prst="rect">
            <a:avLst/>
          </a:prstGeom>
          <a:noFill/>
          <a:ln/>
        </p:spPr>
        <p:txBody>
          <a:bodyPr wrap="square" lIns="0" tIns="0" rIns="0" bIns="0" rtlCol="0" anchor="ctr"/>
          <a:lstStyle/>
          <a:p>
            <a:pPr marL="0" indent="0">
              <a:buNone/>
            </a:pPr>
            <a:r>
              <a:rPr lang="en-US" sz="1200" dirty="0">
                <a:solidFill>
                  <a:srgbClr val="64748B"/>
                </a:solidFill>
                <a:latin typeface="Calibri" pitchFamily="34" charset="0"/>
                <a:ea typeface="Calibri" pitchFamily="34" charset="-122"/>
                <a:cs typeface="Calibri" pitchFamily="34" charset="-120"/>
              </a:rPr>
              <a:t>Price and intervene on the combination, not each factor alone — that's where cost spikes</a:t>
            </a:r>
            <a:endParaRPr lang="en-US" sz="1200" dirty="0"/>
          </a:p>
        </p:txBody>
      </p:sp>
      <p:sp>
        <p:nvSpPr>
          <p:cNvPr id="19" name="Shape 17"/>
          <p:cNvSpPr/>
          <p:nvPr/>
        </p:nvSpPr>
        <p:spPr>
          <a:xfrm>
            <a:off x="548640" y="4846320"/>
            <a:ext cx="54864" cy="868680"/>
          </a:xfrm>
          <a:prstGeom prst="rect">
            <a:avLst/>
          </a:prstGeom>
          <a:solidFill>
            <a:srgbClr val="FFFFFF"/>
          </a:solidFill>
          <a:ln/>
        </p:spPr>
        <p:txBody>
          <a:bodyPr/>
          <a:lstStyle/>
          <a:p>
            <a:endParaRPr lang="en-US"/>
          </a:p>
        </p:txBody>
      </p:sp>
      <p:sp>
        <p:nvSpPr>
          <p:cNvPr id="20" name="Shape 18"/>
          <p:cNvSpPr/>
          <p:nvPr/>
        </p:nvSpPr>
        <p:spPr>
          <a:xfrm>
            <a:off x="685800" y="5010912"/>
            <a:ext cx="502920" cy="502920"/>
          </a:xfrm>
          <a:prstGeom prst="ellipse">
            <a:avLst/>
          </a:prstGeom>
          <a:solidFill>
            <a:srgbClr val="065A82"/>
          </a:solidFill>
          <a:ln/>
        </p:spPr>
        <p:txBody>
          <a:bodyPr/>
          <a:lstStyle/>
          <a:p>
            <a:endParaRPr lang="en-US"/>
          </a:p>
        </p:txBody>
      </p:sp>
      <p:sp>
        <p:nvSpPr>
          <p:cNvPr id="21" name="Text 19"/>
          <p:cNvSpPr/>
          <p:nvPr/>
        </p:nvSpPr>
        <p:spPr>
          <a:xfrm>
            <a:off x="685800" y="5010912"/>
            <a:ext cx="502920" cy="50292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a:t>
            </a:r>
            <a:endParaRPr lang="en-US" sz="1600" dirty="0"/>
          </a:p>
        </p:txBody>
      </p:sp>
      <p:sp>
        <p:nvSpPr>
          <p:cNvPr id="22" name="Text 20"/>
          <p:cNvSpPr/>
          <p:nvPr/>
        </p:nvSpPr>
        <p:spPr>
          <a:xfrm>
            <a:off x="1417320" y="4892040"/>
            <a:ext cx="9601200" cy="320040"/>
          </a:xfrm>
          <a:prstGeom prst="rect">
            <a:avLst/>
          </a:prstGeom>
          <a:noFill/>
          <a:ln/>
        </p:spPr>
        <p:txBody>
          <a:bodyPr wrap="square" lIns="0" tIns="0" rIns="0" bIns="0" rtlCol="0" anchor="ctr"/>
          <a:lstStyle/>
          <a:p>
            <a:pPr marL="0" indent="0">
              <a:buNone/>
            </a:pPr>
            <a:r>
              <a:rPr lang="en-US" sz="1500" b="1" dirty="0">
                <a:solidFill>
                  <a:srgbClr val="0B1F33"/>
                </a:solidFill>
                <a:latin typeface="Cambria" pitchFamily="34" charset="0"/>
                <a:ea typeface="Cambria" pitchFamily="34" charset="-122"/>
                <a:cs typeface="Cambria" pitchFamily="34" charset="-120"/>
              </a:rPr>
              <a:t>Monitor Monthly</a:t>
            </a:r>
            <a:endParaRPr lang="en-US" sz="1500" dirty="0"/>
          </a:p>
        </p:txBody>
      </p:sp>
      <p:sp>
        <p:nvSpPr>
          <p:cNvPr id="23" name="Text 21"/>
          <p:cNvSpPr/>
          <p:nvPr/>
        </p:nvSpPr>
        <p:spPr>
          <a:xfrm>
            <a:off x="1417320" y="5230368"/>
            <a:ext cx="9601200" cy="411480"/>
          </a:xfrm>
          <a:prstGeom prst="rect">
            <a:avLst/>
          </a:prstGeom>
          <a:noFill/>
          <a:ln/>
        </p:spPr>
        <p:txBody>
          <a:bodyPr wrap="square" lIns="0" tIns="0" rIns="0" bIns="0" rtlCol="0" anchor="ctr"/>
          <a:lstStyle/>
          <a:p>
            <a:pPr marL="0" indent="0">
              <a:buNone/>
            </a:pPr>
            <a:r>
              <a:rPr lang="en-US" sz="1200" dirty="0">
                <a:solidFill>
                  <a:srgbClr val="64748B"/>
                </a:solidFill>
                <a:latin typeface="Calibri" pitchFamily="34" charset="0"/>
                <a:ea typeface="Calibri" pitchFamily="34" charset="-122"/>
                <a:cs typeface="Calibri" pitchFamily="34" charset="-120"/>
              </a:rPr>
              <a:t>Operationalize the Power BI dashboard for monthly loss-ratio and risk-score reviews</a:t>
            </a:r>
            <a:endParaRPr lang="en-US" sz="1200" dirty="0"/>
          </a:p>
        </p:txBody>
      </p:sp>
      <p:sp>
        <p:nvSpPr>
          <p:cNvPr id="24" name="Text 22"/>
          <p:cNvSpPr/>
          <p:nvPr/>
        </p:nvSpPr>
        <p:spPr>
          <a:xfrm>
            <a:off x="457200" y="6446520"/>
            <a:ext cx="6400800" cy="274320"/>
          </a:xfrm>
          <a:prstGeom prst="rect">
            <a:avLst/>
          </a:prstGeom>
          <a:noFill/>
          <a:ln/>
        </p:spPr>
        <p:txBody>
          <a:bodyPr wrap="square" lIns="0" tIns="0" rIns="0" bIns="0" rtlCol="0" anchor="ctr"/>
          <a:lstStyle/>
          <a:p>
            <a:pPr marL="0" indent="0" algn="l">
              <a:buNone/>
            </a:pPr>
            <a:r>
              <a:rPr lang="en-US" sz="900" dirty="0">
                <a:solidFill>
                  <a:srgbClr val="64748B"/>
                </a:solidFill>
                <a:latin typeface="Calibri" pitchFamily="34" charset="0"/>
                <a:ea typeface="Calibri" pitchFamily="34" charset="-122"/>
                <a:cs typeface="Calibri" pitchFamily="34" charset="-120"/>
              </a:rPr>
              <a:t>DEPI Capstone — Medical Insurance Analytics</a:t>
            </a:r>
            <a:endParaRPr lang="en-US" sz="900" dirty="0"/>
          </a:p>
        </p:txBody>
      </p:sp>
      <p:sp>
        <p:nvSpPr>
          <p:cNvPr id="25" name="Text 23"/>
          <p:cNvSpPr/>
          <p:nvPr/>
        </p:nvSpPr>
        <p:spPr>
          <a:xfrm>
            <a:off x="11274552" y="6446520"/>
            <a:ext cx="457200" cy="27432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14">
    <p:bg>
      <p:bgPr>
        <a:solidFill>
          <a:srgbClr val="0B1F33"/>
        </a:solidFill>
        <a:effectLst/>
      </p:bgPr>
    </p:bg>
    <p:spTree>
      <p:nvGrpSpPr>
        <p:cNvPr id="1" name=""/>
        <p:cNvGrpSpPr/>
        <p:nvPr/>
      </p:nvGrpSpPr>
      <p:grpSpPr>
        <a:xfrm>
          <a:off x="0" y="0"/>
          <a:ext cx="0" cy="0"/>
          <a:chOff x="0" y="0"/>
          <a:chExt cx="0" cy="0"/>
        </a:xfrm>
      </p:grpSpPr>
      <p:sp>
        <p:nvSpPr>
          <p:cNvPr id="2" name="Shape 0"/>
          <p:cNvSpPr/>
          <p:nvPr/>
        </p:nvSpPr>
        <p:spPr>
          <a:xfrm>
            <a:off x="30480" y="2011680"/>
            <a:ext cx="4572000" cy="4572000"/>
          </a:xfrm>
          <a:prstGeom prst="ellipse">
            <a:avLst/>
          </a:prstGeom>
          <a:solidFill>
            <a:srgbClr val="065A82">
              <a:alpha val="30000"/>
            </a:srgbClr>
          </a:solidFill>
          <a:ln/>
        </p:spPr>
        <p:txBody>
          <a:bodyPr/>
          <a:lstStyle/>
          <a:p>
            <a:endParaRPr lang="en-US"/>
          </a:p>
        </p:txBody>
      </p:sp>
      <p:sp>
        <p:nvSpPr>
          <p:cNvPr id="3" name="Text 1"/>
          <p:cNvSpPr/>
          <p:nvPr/>
        </p:nvSpPr>
        <p:spPr>
          <a:xfrm>
            <a:off x="731520" y="1463040"/>
            <a:ext cx="5486400" cy="320040"/>
          </a:xfrm>
          <a:prstGeom prst="rect">
            <a:avLst/>
          </a:prstGeom>
          <a:noFill/>
          <a:ln/>
        </p:spPr>
        <p:txBody>
          <a:bodyPr wrap="square" lIns="0" tIns="0" rIns="0" bIns="0" rtlCol="0" anchor="ctr"/>
          <a:lstStyle/>
          <a:p>
            <a:pPr marL="0" indent="0">
              <a:buNone/>
            </a:pPr>
            <a:r>
              <a:rPr lang="en-US" sz="1300" b="1" kern="0" spc="300" dirty="0">
                <a:solidFill>
                  <a:srgbClr val="F2B705"/>
                </a:solidFill>
                <a:latin typeface="Calibri" pitchFamily="34" charset="0"/>
                <a:ea typeface="Calibri" pitchFamily="34" charset="-122"/>
                <a:cs typeface="Calibri" pitchFamily="34" charset="-120"/>
              </a:rPr>
              <a:t>CONCLUSION</a:t>
            </a:r>
            <a:endParaRPr lang="en-US" sz="1300" dirty="0"/>
          </a:p>
        </p:txBody>
      </p:sp>
      <p:sp>
        <p:nvSpPr>
          <p:cNvPr id="4" name="Text 2"/>
          <p:cNvSpPr/>
          <p:nvPr/>
        </p:nvSpPr>
        <p:spPr>
          <a:xfrm>
            <a:off x="731520" y="1828800"/>
            <a:ext cx="9144000" cy="1463040"/>
          </a:xfrm>
          <a:prstGeom prst="rect">
            <a:avLst/>
          </a:prstGeom>
          <a:noFill/>
          <a:ln/>
        </p:spPr>
        <p:txBody>
          <a:bodyPr wrap="square" lIns="0" tIns="0" rIns="0" bIns="0" rtlCol="0" anchor="ctr"/>
          <a:lstStyle/>
          <a:p>
            <a:pPr marL="0" indent="0">
              <a:buNone/>
            </a:pPr>
            <a:r>
              <a:rPr lang="en-US" sz="3400" b="1" dirty="0">
                <a:solidFill>
                  <a:srgbClr val="FFFFFF"/>
                </a:solidFill>
                <a:latin typeface="Cambria" pitchFamily="34" charset="0"/>
                <a:ea typeface="Cambria" pitchFamily="34" charset="-122"/>
                <a:cs typeface="Cambria" pitchFamily="34" charset="-120"/>
              </a:rPr>
              <a:t>One dataset, five tools,</a:t>
            </a:r>
            <a:endParaRPr lang="en-US" sz="3400" dirty="0"/>
          </a:p>
          <a:p>
            <a:pPr marL="0" indent="0">
              <a:buNone/>
            </a:pPr>
            <a:r>
              <a:rPr lang="en-US" sz="3400" b="1" dirty="0">
                <a:solidFill>
                  <a:srgbClr val="FFFFFF"/>
                </a:solidFill>
                <a:latin typeface="Cambria" pitchFamily="34" charset="0"/>
                <a:ea typeface="Cambria" pitchFamily="34" charset="-122"/>
                <a:cs typeface="Cambria" pitchFamily="34" charset="-120"/>
              </a:rPr>
              <a:t>one coherent story</a:t>
            </a:r>
            <a:endParaRPr lang="en-US" sz="3400" dirty="0"/>
          </a:p>
        </p:txBody>
      </p:sp>
      <p:sp>
        <p:nvSpPr>
          <p:cNvPr id="5" name="Text 3"/>
          <p:cNvSpPr/>
          <p:nvPr/>
        </p:nvSpPr>
        <p:spPr>
          <a:xfrm>
            <a:off x="731520" y="3383280"/>
            <a:ext cx="8046720" cy="914400"/>
          </a:xfrm>
          <a:prstGeom prst="rect">
            <a:avLst/>
          </a:prstGeom>
          <a:noFill/>
          <a:ln/>
        </p:spPr>
        <p:txBody>
          <a:bodyPr wrap="square" lIns="0" tIns="0" rIns="0" bIns="0" rtlCol="0" anchor="ctr"/>
          <a:lstStyle/>
          <a:p>
            <a:pPr marL="0" indent="0">
              <a:buNone/>
            </a:pPr>
            <a:r>
              <a:rPr lang="en-US" sz="1400" dirty="0">
                <a:solidFill>
                  <a:srgbClr val="C7D9E5"/>
                </a:solidFill>
                <a:latin typeface="Calibri" pitchFamily="34" charset="0"/>
                <a:ea typeface="Calibri" pitchFamily="34" charset="-122"/>
                <a:cs typeface="Calibri" pitchFamily="34" charset="-120"/>
              </a:rPr>
              <a:t>Excel validated the raw data, Python and SQL turned it into a trustworthy model, and Power BI / Tableau made the findings usable by the business — end to end, from spreadsheet to decision.</a:t>
            </a:r>
            <a:endParaRPr lang="en-US" sz="1400" dirty="0"/>
          </a:p>
        </p:txBody>
      </p:sp>
      <p:sp>
        <p:nvSpPr>
          <p:cNvPr id="6" name="Text 4"/>
          <p:cNvSpPr/>
          <p:nvPr/>
        </p:nvSpPr>
        <p:spPr>
          <a:xfrm>
            <a:off x="731520" y="4937760"/>
            <a:ext cx="5486400" cy="457200"/>
          </a:xfrm>
          <a:prstGeom prst="rect">
            <a:avLst/>
          </a:prstGeom>
          <a:noFill/>
          <a:ln/>
        </p:spPr>
        <p:txBody>
          <a:bodyPr wrap="square" lIns="0" tIns="0" rIns="0" bIns="0" rtlCol="0" anchor="ctr"/>
          <a:lstStyle/>
          <a:p>
            <a:pPr marL="0" indent="0">
              <a:buNone/>
            </a:pPr>
            <a:r>
              <a:rPr lang="en-US" sz="2000" b="1" dirty="0">
                <a:solidFill>
                  <a:srgbClr val="FFFFFF"/>
                </a:solidFill>
                <a:latin typeface="Cambria" pitchFamily="34" charset="0"/>
                <a:ea typeface="Cambria" pitchFamily="34" charset="-122"/>
                <a:cs typeface="Cambria" pitchFamily="34" charset="-120"/>
              </a:rPr>
              <a:t>Thank you</a:t>
            </a:r>
            <a:endParaRPr lang="en-US" sz="2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463</TotalTime>
  <Words>2158</Words>
  <Application>Microsoft Office PowerPoint</Application>
  <PresentationFormat>Widescreen</PresentationFormat>
  <Paragraphs>465</Paragraphs>
  <Slides>32</Slides>
  <Notes>29</Notes>
  <HiddenSlides>0</HiddenSlides>
  <MMClips>0</MMClips>
  <ScaleCrop>false</ScaleCrop>
  <HeadingPairs>
    <vt:vector size="6" baseType="variant">
      <vt:variant>
        <vt:lpstr>Fonts Used</vt:lpstr>
      </vt:variant>
      <vt:variant>
        <vt:i4>5</vt:i4>
      </vt:variant>
      <vt:variant>
        <vt:lpstr>Theme</vt:lpstr>
      </vt:variant>
      <vt:variant>
        <vt:i4>2</vt:i4>
      </vt:variant>
      <vt:variant>
        <vt:lpstr>Slide Titles</vt:lpstr>
      </vt:variant>
      <vt:variant>
        <vt:i4>32</vt:i4>
      </vt:variant>
    </vt:vector>
  </HeadingPairs>
  <TitlesOfParts>
    <vt:vector size="39" baseType="lpstr">
      <vt:lpstr>Arial</vt:lpstr>
      <vt:lpstr>Calibri</vt:lpstr>
      <vt:lpstr>Cambria</vt:lpstr>
      <vt:lpstr>Canva Sans</vt:lpstr>
      <vt:lpstr>Canva Sans Bold</vt:lpstr>
      <vt:lpstr>Office Theme</vt:lpstr>
      <vt:lpstr>1_Office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Medical Insurance Analytics Capstone</dc:title>
  <dc:subject>PptxGenJS Presentation</dc:subject>
  <dc:creator>Taha</dc:creator>
  <cp:lastModifiedBy>taha Mohammed Hussein</cp:lastModifiedBy>
  <cp:revision>10</cp:revision>
  <dcterms:created xsi:type="dcterms:W3CDTF">2026-07-03T08:14:19Z</dcterms:created>
  <dcterms:modified xsi:type="dcterms:W3CDTF">2026-07-10T13:07:02Z</dcterms:modified>
</cp:coreProperties>
</file>